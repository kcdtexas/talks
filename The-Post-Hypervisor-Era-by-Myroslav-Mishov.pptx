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19.png" ContentType="image/png"/>
  <Override PartName="/ppt/media/image87.png" ContentType="image/png"/>
  <Override PartName="/ppt/media/image19.png" ContentType="image/png"/>
  <Override PartName="/ppt/media/image118.png" ContentType="image/png"/>
  <Override PartName="/ppt/media/image86.png" ContentType="image/png"/>
  <Override PartName="/ppt/media/image18.png" ContentType="image/png"/>
  <Override PartName="/ppt/media/image109.png" ContentType="image/png"/>
  <Override PartName="/ppt/media/image77.png" ContentType="image/png"/>
  <Override PartName="/ppt/media/image108.png" ContentType="image/png"/>
  <Override PartName="/ppt/media/image76.png" ContentType="image/png"/>
  <Override PartName="/ppt/media/image99.png" ContentType="image/png"/>
  <Override PartName="/ppt/media/image98.png" ContentType="image/png"/>
  <Override PartName="/ppt/media/image97.png" ContentType="image/png"/>
  <Override PartName="/ppt/media/image29.png" ContentType="image/png"/>
  <Override PartName="/ppt/media/image129.png" ContentType="image/png"/>
  <Override PartName="/ppt/media/image61.png" ContentType="image/png"/>
  <Override PartName="/ppt/media/image59.png" ContentType="image/png"/>
  <Override PartName="/ppt/media/image58.png" ContentType="image/png"/>
  <Override PartName="/ppt/media/image51.png" ContentType="image/png"/>
  <Override PartName="/ppt/media/image5.png" ContentType="image/png"/>
  <Override PartName="/ppt/media/image57.png" ContentType="image/png"/>
  <Override PartName="/ppt/media/image6.jpeg" ContentType="image/jpeg"/>
  <Override PartName="/ppt/media/image60.png" ContentType="image/png"/>
  <Override PartName="/ppt/media/image71.png" ContentType="image/png"/>
  <Override PartName="/ppt/media/image103.png" ContentType="image/png"/>
  <Override PartName="/ppt/media/image4.png" ContentType="image/png"/>
  <Override PartName="/ppt/media/image50.png" ContentType="image/png"/>
  <Override PartName="/ppt/media/image101.png" ContentType="image/png"/>
  <Override PartName="/ppt/media/image53.png" ContentType="image/png"/>
  <Override PartName="/ppt/media/image7.png" ContentType="image/png"/>
  <Override PartName="/ppt/media/image134.png" ContentType="image/png"/>
  <Override PartName="/ppt/media/image34.png" ContentType="image/png"/>
  <Override PartName="/ppt/media/image2.png" ContentType="image/png"/>
  <Override PartName="/ppt/media/image48.png" ContentType="image/png"/>
  <Override PartName="/ppt/media/image36.png" ContentType="image/png"/>
  <Override PartName="/ppt/media/image136.png" ContentType="image/png"/>
  <Override PartName="/ppt/media/image88.png" ContentType="image/png"/>
  <Override PartName="/ppt/media/image45.png" ContentType="image/png"/>
  <Override PartName="/ppt/media/image46.png" ContentType="image/png"/>
  <Override PartName="/ppt/media/image37.png" ContentType="image/png"/>
  <Override PartName="/ppt/media/image137.png" ContentType="image/png"/>
  <Override PartName="/ppt/media/image89.png" ContentType="image/png"/>
  <Override PartName="/ppt/media/image142.png" ContentType="image/png"/>
  <Override PartName="/ppt/media/image42.png" ContentType="image/png"/>
  <Override PartName="/ppt/media/image100.png" ContentType="image/png"/>
  <Override PartName="/ppt/media/image52.png" ContentType="image/png"/>
  <Override PartName="/ppt/media/image1.png" ContentType="image/png"/>
  <Override PartName="/ppt/media/image55.png" ContentType="image/png"/>
  <Override PartName="/ppt/media/image9.png" ContentType="image/png"/>
  <Override PartName="/ppt/media/image41.png" ContentType="image/png"/>
  <Override PartName="/ppt/media/image141.png" ContentType="image/png"/>
  <Override PartName="/ppt/media/image39.png" ContentType="image/png"/>
  <Override PartName="/ppt/media/image139.png" ContentType="image/png"/>
  <Override PartName="/ppt/media/image44.png" ContentType="image/png"/>
  <Override PartName="/ppt/media/image56.png" ContentType="image/png"/>
  <Override PartName="/ppt/media/image54.png" ContentType="image/png"/>
  <Override PartName="/ppt/media/image8.png" ContentType="image/png"/>
  <Override PartName="/ppt/media/image40.png" ContentType="image/png"/>
  <Override PartName="/ppt/media/image140.png" ContentType="image/png"/>
  <Override PartName="/ppt/media/image143.png" ContentType="image/png"/>
  <Override PartName="/ppt/media/image43.png" ContentType="image/png"/>
  <Override PartName="/ppt/media/image38.png" ContentType="image/png"/>
  <Override PartName="/ppt/media/image138.png" ContentType="image/png"/>
  <Override PartName="/ppt/media/image130.png" ContentType="image/png"/>
  <Override PartName="/ppt/media/image30.png" ContentType="image/png"/>
  <Override PartName="/ppt/media/image132.png" ContentType="image/png"/>
  <Override PartName="/ppt/media/image32.png" ContentType="image/png"/>
  <Override PartName="/ppt/media/image131.png" ContentType="image/png"/>
  <Override PartName="/ppt/media/image31.png" ContentType="image/png"/>
  <Override PartName="/ppt/media/image33.png" ContentType="image/png"/>
  <Override PartName="/ppt/media/image133.png" ContentType="image/png"/>
  <Override PartName="/ppt/media/image47.png" ContentType="image/png"/>
  <Override PartName="/ppt/media/image135.png" ContentType="image/png"/>
  <Override PartName="/ppt/media/image35.png" ContentType="image/png"/>
  <Override PartName="/ppt/media/image3.png" ContentType="image/png"/>
  <Override PartName="/ppt/media/image49.png" ContentType="image/png"/>
  <Override PartName="/ppt/media/image62.png" ContentType="image/png"/>
  <Override PartName="/ppt/media/image10.png" ContentType="image/png"/>
  <Override PartName="/ppt/media/image110.png" ContentType="image/png"/>
  <Override PartName="/ppt/media/image63.png" ContentType="image/png"/>
  <Override PartName="/ppt/media/image11.png" ContentType="image/png"/>
  <Override PartName="/ppt/media/image111.png" ContentType="image/png"/>
  <Override PartName="/ppt/media/image64.png" ContentType="image/png"/>
  <Override PartName="/ppt/media/image12.png" ContentType="image/png"/>
  <Override PartName="/ppt/media/image112.png" ContentType="image/png"/>
  <Override PartName="/ppt/media/image80.png" ContentType="image/png"/>
  <Override PartName="/ppt/media/image65.png" ContentType="image/png"/>
  <Override PartName="/ppt/media/image13.png" ContentType="image/png"/>
  <Override PartName="/ppt/media/image81.png" ContentType="image/png"/>
  <Override PartName="/ppt/media/image113.png" ContentType="image/png"/>
  <Override PartName="/ppt/media/image66.png" ContentType="image/png"/>
  <Override PartName="/ppt/media/image14.png" ContentType="image/png"/>
  <Override PartName="/ppt/media/image82.png" ContentType="image/png"/>
  <Override PartName="/ppt/media/image114.png" ContentType="image/png"/>
  <Override PartName="/ppt/media/image67.png" ContentType="image/png"/>
  <Override PartName="/ppt/media/image83.png" ContentType="image/png"/>
  <Override PartName="/ppt/media/image15.png" ContentType="image/png"/>
  <Override PartName="/ppt/media/image115.png" ContentType="image/png"/>
  <Override PartName="/ppt/media/image68.png" ContentType="image/png"/>
  <Override PartName="/ppt/media/image16.png" ContentType="image/png"/>
  <Override PartName="/ppt/media/image84.png" ContentType="image/png"/>
  <Override PartName="/ppt/media/image116.png" ContentType="image/png"/>
  <Override PartName="/ppt/media/image69.png" ContentType="image/png"/>
  <Override PartName="/ppt/media/image17.png" ContentType="image/png"/>
  <Override PartName="/ppt/media/image85.png" ContentType="image/png"/>
  <Override PartName="/ppt/media/image117.png" ContentType="image/png"/>
  <Override PartName="/ppt/media/image102.png" ContentType="image/png"/>
  <Override PartName="/ppt/media/image70.png" ContentType="image/png"/>
  <Override PartName="/ppt/media/image104.png" ContentType="image/png"/>
  <Override PartName="/ppt/media/image72.png" ContentType="image/png"/>
  <Override PartName="/ppt/media/image120.png" ContentType="image/png"/>
  <Override PartName="/ppt/media/image20.png" ContentType="image/png"/>
  <Override PartName="/ppt/media/image105.png" ContentType="image/png"/>
  <Override PartName="/ppt/media/image73.png" ContentType="image/png"/>
  <Override PartName="/ppt/media/image121.png" ContentType="image/png"/>
  <Override PartName="/ppt/media/image21.png" ContentType="image/png"/>
  <Override PartName="/ppt/media/image106.png" ContentType="image/png"/>
  <Override PartName="/ppt/media/image74.png" ContentType="image/png"/>
  <Override PartName="/ppt/media/image122.png" ContentType="image/png"/>
  <Override PartName="/ppt/media/image22.png" ContentType="image/png"/>
  <Override PartName="/ppt/media/image90.png" ContentType="image/png"/>
  <Override PartName="/ppt/media/image107.png" ContentType="image/png"/>
  <Override PartName="/ppt/media/image75.png" ContentType="image/png"/>
  <Override PartName="/ppt/media/image123.png" ContentType="image/png"/>
  <Override PartName="/ppt/media/image23.png" ContentType="image/png"/>
  <Override PartName="/ppt/media/image91.png" ContentType="image/png"/>
  <Override PartName="/ppt/media/image92.png" ContentType="image/png"/>
  <Override PartName="/ppt/media/image24.png" ContentType="image/png"/>
  <Override PartName="/ppt/media/image124.png" ContentType="image/png"/>
  <Override PartName="/ppt/media/image93.png" ContentType="image/png"/>
  <Override PartName="/ppt/media/image25.png" ContentType="image/png"/>
  <Override PartName="/ppt/media/image125.png" ContentType="image/png"/>
  <Override PartName="/ppt/media/image78.png" ContentType="image/png"/>
  <Override PartName="/ppt/media/image94.png" ContentType="image/png"/>
  <Override PartName="/ppt/media/image26.png" ContentType="image/png"/>
  <Override PartName="/ppt/media/image126.png" ContentType="image/png"/>
  <Override PartName="/ppt/media/image79.png" ContentType="image/png"/>
  <Override PartName="/ppt/media/image95.png" ContentType="image/png"/>
  <Override PartName="/ppt/media/image27.png" ContentType="image/png"/>
  <Override PartName="/ppt/media/image127.png" ContentType="image/png"/>
  <Override PartName="/ppt/media/image96.png" ContentType="image/png"/>
  <Override PartName="/ppt/media/image28.png" ContentType="image/png"/>
  <Override PartName="/ppt/media/image12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15440" y="1536120"/>
            <a:ext cx="1135908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DE04F8F-6BFE-46BE-8E3C-4C076E55EB0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826D1E-5C83-4B17-BAA8-37D261DCD57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6A990E-1FE5-436F-9F9B-1A035945D01E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96BE221-C20B-476D-BF8D-477DC2057443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15440" y="1536120"/>
            <a:ext cx="1135908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66E1FF3-F73D-4BDC-9713-A157D978262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15440" y="1536120"/>
            <a:ext cx="554292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5920" y="1536120"/>
            <a:ext cx="554292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FDC47F-6CAF-4E9E-9180-F62F6590A855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C3CC90B5-F085-4044-A690-009A1D85EFA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0275245-4DE1-46D0-B0CD-11A35B13C39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617E8A66-5E38-455D-BF28-C108F273C9A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A0A48701-1040-4666-9047-E4D304FCEA80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D1C9C9C9-9E34-4F52-BEBD-5157C8973FFD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D903B66-1165-46AB-8102-7CAEBEF1091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9581DE8-DF4C-4340-9C50-34E6D305654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Num" idx="3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3E2154-EFF6-4E46-A3E1-D12627D4326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4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81BB4ED-22C7-4B4F-BE63-1E2F9BC7D0F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15440" y="1536120"/>
            <a:ext cx="1135908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CF214F-664E-4504-836B-B42C2F73407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15440" y="1536120"/>
            <a:ext cx="554292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6280" y="1536120"/>
            <a:ext cx="5542920" cy="45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6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92AC949-1B87-4FB6-8654-A17867DE0F9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5440" y="592920"/>
            <a:ext cx="11359080" cy="76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7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11DE5E-8934-48E4-9529-DE453F5BA5D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sldNum" idx="8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D8073B1-3953-4B03-935A-C4115E19727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9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9DD662-CBF9-4195-8168-5BDDA5558E4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6095520" y="0"/>
            <a:ext cx="6094800" cy="6856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sldNum" idx="10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70BFE2C-F116-4445-BFEE-C8F722A6FAD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ldNum" idx="11"/>
          </p:nvPr>
        </p:nvSpPr>
        <p:spPr>
          <a:xfrm>
            <a:off x="11296440" y="6217200"/>
            <a:ext cx="730440" cy="523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417CEA-4267-4B89-A5A0-05928342182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eg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png"/><Relationship Id="rId13" Type="http://schemas.openxmlformats.org/officeDocument/2006/relationships/image" Target="../media/image19.png"/><Relationship Id="rId14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8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9.png"/><Relationship Id="rId6" Type="http://schemas.openxmlformats.org/officeDocument/2006/relationships/image" Target="../media/image29.png"/><Relationship Id="rId7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8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39.png"/><Relationship Id="rId15" Type="http://schemas.openxmlformats.org/officeDocument/2006/relationships/image" Target="../media/image40.png"/><Relationship Id="rId16" Type="http://schemas.openxmlformats.org/officeDocument/2006/relationships/image" Target="../media/image41.png"/><Relationship Id="rId17" Type="http://schemas.openxmlformats.org/officeDocument/2006/relationships/image" Target="../media/image42.png"/><Relationship Id="rId18" Type="http://schemas.openxmlformats.org/officeDocument/2006/relationships/image" Target="../media/image43.png"/><Relationship Id="rId19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8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0.png"/><Relationship Id="rId10" Type="http://schemas.openxmlformats.org/officeDocument/2006/relationships/image" Target="../media/image51.png"/><Relationship Id="rId11" Type="http://schemas.openxmlformats.org/officeDocument/2006/relationships/image" Target="../media/image52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5.png"/><Relationship Id="rId17" Type="http://schemas.openxmlformats.org/officeDocument/2006/relationships/image" Target="../media/image56.png"/><Relationship Id="rId18" Type="http://schemas.openxmlformats.org/officeDocument/2006/relationships/image" Target="../media/image57.png"/><Relationship Id="rId19" Type="http://schemas.openxmlformats.org/officeDocument/2006/relationships/image" Target="../media/image58.png"/><Relationship Id="rId20" Type="http://schemas.openxmlformats.org/officeDocument/2006/relationships/image" Target="../media/image59.png"/><Relationship Id="rId21" Type="http://schemas.openxmlformats.org/officeDocument/2006/relationships/image" Target="../media/image60.png"/><Relationship Id="rId22" Type="http://schemas.openxmlformats.org/officeDocument/2006/relationships/image" Target="../media/image61.png"/><Relationship Id="rId23" Type="http://schemas.openxmlformats.org/officeDocument/2006/relationships/image" Target="../media/image62.png"/><Relationship Id="rId24" Type="http://schemas.openxmlformats.org/officeDocument/2006/relationships/image" Target="../media/image63.png"/><Relationship Id="rId25" Type="http://schemas.openxmlformats.org/officeDocument/2006/relationships/image" Target="../media/image64.png"/><Relationship Id="rId26" Type="http://schemas.openxmlformats.org/officeDocument/2006/relationships/image" Target="../media/image65.png"/><Relationship Id="rId27" Type="http://schemas.openxmlformats.org/officeDocument/2006/relationships/image" Target="../media/image66.png"/><Relationship Id="rId28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7.png"/><Relationship Id="rId2" Type="http://schemas.openxmlformats.org/officeDocument/2006/relationships/image" Target="../media/image68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Relationship Id="rId7" Type="http://schemas.openxmlformats.org/officeDocument/2006/relationships/image" Target="../media/image73.png"/><Relationship Id="rId8" Type="http://schemas.openxmlformats.org/officeDocument/2006/relationships/image" Target="../media/image74.png"/><Relationship Id="rId9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75.png"/><Relationship Id="rId2" Type="http://schemas.openxmlformats.org/officeDocument/2006/relationships/image" Target="../media/image8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8.png"/><Relationship Id="rId7" Type="http://schemas.openxmlformats.org/officeDocument/2006/relationships/image" Target="../media/image79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0.png"/><Relationship Id="rId12" Type="http://schemas.openxmlformats.org/officeDocument/2006/relationships/image" Target="../media/image80.png"/><Relationship Id="rId13" Type="http://schemas.openxmlformats.org/officeDocument/2006/relationships/image" Target="../media/image80.png"/><Relationship Id="rId14" Type="http://schemas.openxmlformats.org/officeDocument/2006/relationships/image" Target="../media/image22.png"/><Relationship Id="rId15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image" Target="../media/image8.png"/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5" Type="http://schemas.openxmlformats.org/officeDocument/2006/relationships/image" Target="../media/image84.png"/><Relationship Id="rId6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image" Target="../media/image8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91.png"/><Relationship Id="rId9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93.png"/><Relationship Id="rId6" Type="http://schemas.openxmlformats.org/officeDocument/2006/relationships/image" Target="../media/image94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Relationship Id="rId9" Type="http://schemas.openxmlformats.org/officeDocument/2006/relationships/image" Target="../media/image97.png"/><Relationship Id="rId10" Type="http://schemas.openxmlformats.org/officeDocument/2006/relationships/image" Target="../media/image98.png"/><Relationship Id="rId11" Type="http://schemas.openxmlformats.org/officeDocument/2006/relationships/image" Target="../media/image99.png"/><Relationship Id="rId12" Type="http://schemas.openxmlformats.org/officeDocument/2006/relationships/image" Target="../media/image100.png"/><Relationship Id="rId13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5.png"/><Relationship Id="rId2" Type="http://schemas.openxmlformats.org/officeDocument/2006/relationships/image" Target="../media/image8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6.png"/><Relationship Id="rId9" Type="http://schemas.openxmlformats.org/officeDocument/2006/relationships/image" Target="../media/image107.png"/><Relationship Id="rId10" Type="http://schemas.openxmlformats.org/officeDocument/2006/relationships/image" Target="../media/image108.png"/><Relationship Id="rId11" Type="http://schemas.openxmlformats.org/officeDocument/2006/relationships/image" Target="../media/image109.png"/><Relationship Id="rId12" Type="http://schemas.openxmlformats.org/officeDocument/2006/relationships/image" Target="../media/image110.png"/><Relationship Id="rId13" Type="http://schemas.openxmlformats.org/officeDocument/2006/relationships/image" Target="../media/image111.png"/><Relationship Id="rId14" Type="http://schemas.openxmlformats.org/officeDocument/2006/relationships/image" Target="../media/image110.png"/><Relationship Id="rId15" Type="http://schemas.openxmlformats.org/officeDocument/2006/relationships/image" Target="../media/image112.png"/><Relationship Id="rId16" Type="http://schemas.openxmlformats.org/officeDocument/2006/relationships/image" Target="../media/image112.png"/><Relationship Id="rId17" Type="http://schemas.openxmlformats.org/officeDocument/2006/relationships/image" Target="../media/image112.png"/><Relationship Id="rId18" Type="http://schemas.openxmlformats.org/officeDocument/2006/relationships/image" Target="../media/image113.png"/><Relationship Id="rId19" Type="http://schemas.openxmlformats.org/officeDocument/2006/relationships/image" Target="../media/image113.png"/><Relationship Id="rId20" Type="http://schemas.openxmlformats.org/officeDocument/2006/relationships/image" Target="../media/image113.png"/><Relationship Id="rId21" Type="http://schemas.openxmlformats.org/officeDocument/2006/relationships/image" Target="../media/image114.png"/><Relationship Id="rId22" Type="http://schemas.openxmlformats.org/officeDocument/2006/relationships/image" Target="../media/image114.png"/><Relationship Id="rId23" Type="http://schemas.openxmlformats.org/officeDocument/2006/relationships/image" Target="../media/image114.png"/><Relationship Id="rId24" Type="http://schemas.openxmlformats.org/officeDocument/2006/relationships/image" Target="../media/image94.png"/><Relationship Id="rId25" Type="http://schemas.openxmlformats.org/officeDocument/2006/relationships/image" Target="../media/image99.png"/><Relationship Id="rId26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8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Relationship Id="rId5" Type="http://schemas.openxmlformats.org/officeDocument/2006/relationships/image" Target="../media/image118.png"/><Relationship Id="rId6" Type="http://schemas.openxmlformats.org/officeDocument/2006/relationships/image" Target="../media/image119.png"/><Relationship Id="rId7" Type="http://schemas.openxmlformats.org/officeDocument/2006/relationships/image" Target="../media/image120.png"/><Relationship Id="rId8" Type="http://schemas.openxmlformats.org/officeDocument/2006/relationships/image" Target="../media/image121.png"/><Relationship Id="rId9" Type="http://schemas.openxmlformats.org/officeDocument/2006/relationships/image" Target="../media/image122.png"/><Relationship Id="rId10" Type="http://schemas.openxmlformats.org/officeDocument/2006/relationships/image" Target="../media/image123.png"/><Relationship Id="rId11" Type="http://schemas.openxmlformats.org/officeDocument/2006/relationships/image" Target="../media/image124.png"/><Relationship Id="rId12" Type="http://schemas.openxmlformats.org/officeDocument/2006/relationships/image" Target="../media/image125.png"/><Relationship Id="rId13" Type="http://schemas.openxmlformats.org/officeDocument/2006/relationships/image" Target="../media/image126.png"/><Relationship Id="rId14" Type="http://schemas.openxmlformats.org/officeDocument/2006/relationships/image" Target="../media/image127.png"/><Relationship Id="rId15" Type="http://schemas.openxmlformats.org/officeDocument/2006/relationships/image" Target="../media/image128.png"/><Relationship Id="rId16" Type="http://schemas.openxmlformats.org/officeDocument/2006/relationships/image" Target="../media/image129.png"/><Relationship Id="rId17" Type="http://schemas.openxmlformats.org/officeDocument/2006/relationships/image" Target="../media/image130.png"/><Relationship Id="rId18" Type="http://schemas.openxmlformats.org/officeDocument/2006/relationships/image" Target="../media/image131.png"/><Relationship Id="rId19" Type="http://schemas.openxmlformats.org/officeDocument/2006/relationships/image" Target="../media/image132.png"/><Relationship Id="rId20" Type="http://schemas.openxmlformats.org/officeDocument/2006/relationships/hyperlink" Target="https://medium.com/@aminefennane10/migrating-from-vmware-to-kubevirt-a-practical-guide-to-kubernetes-native-virtualization-e6c70e94788a" TargetMode="External"/><Relationship Id="rId21" Type="http://schemas.openxmlformats.org/officeDocument/2006/relationships/image" Target="../media/image22.png"/><Relationship Id="rId2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3.png"/><Relationship Id="rId2" Type="http://schemas.openxmlformats.org/officeDocument/2006/relationships/image" Target="../media/image8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56;p13" descr=""/>
          <p:cNvPicPr/>
          <p:nvPr/>
        </p:nvPicPr>
        <p:blipFill>
          <a:blip r:embed="rId2"/>
          <a:stretch/>
        </p:blipFill>
        <p:spPr>
          <a:xfrm>
            <a:off x="9345240" y="5660640"/>
            <a:ext cx="2331000" cy="884520"/>
          </a:xfrm>
          <a:prstGeom prst="rect">
            <a:avLst/>
          </a:prstGeom>
          <a:ln w="0">
            <a:noFill/>
          </a:ln>
        </p:spPr>
      </p:pic>
      <p:pic>
        <p:nvPicPr>
          <p:cNvPr id="29" name="Google Shape;85;p13" descr="image.png"/>
          <p:cNvPicPr/>
          <p:nvPr/>
        </p:nvPicPr>
        <p:blipFill>
          <a:blip r:embed="rId3"/>
          <a:stretch/>
        </p:blipFill>
        <p:spPr>
          <a:xfrm>
            <a:off x="3835080" y="3174480"/>
            <a:ext cx="4579560" cy="2057040"/>
          </a:xfrm>
          <a:prstGeom prst="rect">
            <a:avLst/>
          </a:prstGeom>
          <a:ln w="0">
            <a:noFill/>
          </a:ln>
        </p:spPr>
      </p:pic>
      <p:sp>
        <p:nvSpPr>
          <p:cNvPr id="30" name="Google Shape;86;p13"/>
          <p:cNvSpPr/>
          <p:nvPr/>
        </p:nvSpPr>
        <p:spPr>
          <a:xfrm>
            <a:off x="914400" y="1415160"/>
            <a:ext cx="104212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The </a:t>
            </a:r>
            <a:r>
              <a:rPr b="1" lang="en-US" sz="54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Post-Hypervisor</a:t>
            </a:r>
            <a:r>
              <a:rPr b="1" lang="en-US" sz="54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Era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Google Shape;87;p13"/>
          <p:cNvSpPr/>
          <p:nvPr/>
        </p:nvSpPr>
        <p:spPr>
          <a:xfrm>
            <a:off x="1162440" y="2359800"/>
            <a:ext cx="9925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94a3b8"/>
                </a:solidFill>
                <a:latin typeface="Inter"/>
                <a:ea typeface="Inter"/>
              </a:rPr>
              <a:t>Unifying Brownfield VMs, AI, and Containers on a Single Control Plane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Google Shape;88;p13"/>
          <p:cNvSpPr/>
          <p:nvPr/>
        </p:nvSpPr>
        <p:spPr>
          <a:xfrm>
            <a:off x="5802120" y="6400800"/>
            <a:ext cx="516996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59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d3d3d3"/>
                </a:solidFill>
                <a:latin typeface="Inter"/>
                <a:ea typeface="Inter"/>
              </a:rPr>
              <a:t>All third-party trademarks, logos, and trade names are the property of their respective owners. Their use in this presentation is for illustrative purposes and does not imply any affiliation.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89;p13"/>
          <p:cNvSpPr/>
          <p:nvPr/>
        </p:nvSpPr>
        <p:spPr>
          <a:xfrm>
            <a:off x="4111200" y="3451680"/>
            <a:ext cx="42688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2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Myroslav Mishov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Google Shape;90;p13"/>
          <p:cNvSpPr/>
          <p:nvPr/>
        </p:nvSpPr>
        <p:spPr>
          <a:xfrm>
            <a:off x="4118040" y="3956400"/>
            <a:ext cx="4065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47680" rIns="0" tIns="0" bIns="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-US" sz="1350" spc="-1" strike="noStrike">
                <a:solidFill>
                  <a:srgbClr val="94a3b8"/>
                </a:solidFill>
                <a:latin typeface="Inter"/>
                <a:ea typeface="Inter"/>
              </a:rPr>
              <a:t>Private Cloud Infrastructure Architect | Principal SRE | Kubestronaut</a:t>
            </a:r>
            <a:br>
              <a:rPr sz="1350"/>
            </a:br>
            <a:r>
              <a:rPr b="0" lang="en-US" sz="600" spc="-1" strike="noStrike">
                <a:solidFill>
                  <a:srgbClr val="94a3b8"/>
                </a:solidFill>
                <a:latin typeface="Inter"/>
                <a:ea typeface="Inter"/>
              </a:rPr>
              <a:t> </a:t>
            </a:r>
            <a:br>
              <a:rPr sz="1350"/>
            </a:br>
            <a:r>
              <a:rPr b="0" lang="en-US" sz="1350" spc="-1" strike="noStrike">
                <a:solidFill>
                  <a:srgbClr val="94a3b8"/>
                </a:solidFill>
                <a:latin typeface="Inter"/>
                <a:ea typeface="Inter"/>
              </a:rPr>
              <a:t>Founder, TECH EVOLVERS INC</a:t>
            </a:r>
            <a:br>
              <a:rPr sz="1350"/>
            </a:b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Google Shape;91;p13"/>
          <p:cNvSpPr/>
          <p:nvPr/>
        </p:nvSpPr>
        <p:spPr>
          <a:xfrm>
            <a:off x="4097160" y="4779000"/>
            <a:ext cx="4065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linkedin.com/in/myroslavmishov/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" name="Google Shape;92;p13" descr="image.png"/>
          <p:cNvPicPr/>
          <p:nvPr/>
        </p:nvPicPr>
        <p:blipFill>
          <a:blip r:embed="rId4"/>
          <a:stretch/>
        </p:blipFill>
        <p:spPr>
          <a:xfrm>
            <a:off x="4118040" y="400428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37" name="Google Shape;93;p13" descr="image.png"/>
          <p:cNvPicPr/>
          <p:nvPr/>
        </p:nvPicPr>
        <p:blipFill>
          <a:blip r:embed="rId5"/>
          <a:stretch/>
        </p:blipFill>
        <p:spPr>
          <a:xfrm>
            <a:off x="4097160" y="4817160"/>
            <a:ext cx="131400" cy="150480"/>
          </a:xfrm>
          <a:prstGeom prst="rect">
            <a:avLst/>
          </a:prstGeom>
          <a:ln w="0">
            <a:noFill/>
          </a:ln>
        </p:spPr>
      </p:pic>
      <p:pic>
        <p:nvPicPr>
          <p:cNvPr id="38" name="Google Shape;94;p13" descr=""/>
          <p:cNvPicPr/>
          <p:nvPr/>
        </p:nvPicPr>
        <p:blipFill>
          <a:blip r:embed="rId6"/>
          <a:srcRect l="21124" t="4815" r="15693" b="19556"/>
          <a:stretch/>
        </p:blipFill>
        <p:spPr>
          <a:xfrm>
            <a:off x="1788480" y="3167280"/>
            <a:ext cx="1745640" cy="2090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63;p14" descr=""/>
          <p:cNvPicPr/>
          <p:nvPr/>
        </p:nvPicPr>
        <p:blipFill>
          <a:blip r:embed="rId2"/>
          <a:stretch/>
        </p:blipFill>
        <p:spPr>
          <a:xfrm>
            <a:off x="10310040" y="60912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40" name="Google Shape;101;p14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" name="Google Shape;103;p14" descr="image.png"/>
          <p:cNvPicPr/>
          <p:nvPr/>
        </p:nvPicPr>
        <p:blipFill>
          <a:blip r:embed="rId3"/>
          <a:stretch/>
        </p:blipFill>
        <p:spPr>
          <a:xfrm>
            <a:off x="762120" y="3985920"/>
            <a:ext cx="10666080" cy="2413440"/>
          </a:xfrm>
          <a:prstGeom prst="rect">
            <a:avLst/>
          </a:prstGeom>
          <a:ln w="0">
            <a:noFill/>
          </a:ln>
        </p:spPr>
      </p:pic>
      <p:pic>
        <p:nvPicPr>
          <p:cNvPr id="42" name="Google Shape;107;p14" descr="image.png"/>
          <p:cNvPicPr/>
          <p:nvPr/>
        </p:nvPicPr>
        <p:blipFill>
          <a:blip r:embed="rId4"/>
          <a:stretch/>
        </p:blipFill>
        <p:spPr>
          <a:xfrm>
            <a:off x="1247760" y="4601160"/>
            <a:ext cx="4655880" cy="1569600"/>
          </a:xfrm>
          <a:prstGeom prst="rect">
            <a:avLst/>
          </a:prstGeom>
          <a:ln w="0">
            <a:noFill/>
          </a:ln>
        </p:spPr>
      </p:pic>
      <p:pic>
        <p:nvPicPr>
          <p:cNvPr id="43" name="Google Shape;108;p14" descr="image.png"/>
          <p:cNvPicPr/>
          <p:nvPr/>
        </p:nvPicPr>
        <p:blipFill>
          <a:blip r:embed="rId5"/>
          <a:stretch/>
        </p:blipFill>
        <p:spPr>
          <a:xfrm>
            <a:off x="6286680" y="4601160"/>
            <a:ext cx="4655880" cy="1569600"/>
          </a:xfrm>
          <a:prstGeom prst="rect">
            <a:avLst/>
          </a:prstGeom>
          <a:ln w="0">
            <a:noFill/>
          </a:ln>
        </p:spPr>
      </p:pic>
      <p:pic>
        <p:nvPicPr>
          <p:cNvPr id="44" name="Google Shape;109;p14" descr="image.png"/>
          <p:cNvPicPr/>
          <p:nvPr/>
        </p:nvPicPr>
        <p:blipFill>
          <a:blip r:embed="rId6"/>
          <a:stretch/>
        </p:blipFill>
        <p:spPr>
          <a:xfrm>
            <a:off x="2509920" y="4496400"/>
            <a:ext cx="2131920" cy="261000"/>
          </a:xfrm>
          <a:prstGeom prst="rect">
            <a:avLst/>
          </a:prstGeom>
          <a:ln w="0">
            <a:noFill/>
          </a:ln>
        </p:spPr>
      </p:pic>
      <p:pic>
        <p:nvPicPr>
          <p:cNvPr id="45" name="Google Shape;110;p14" descr="image.png"/>
          <p:cNvPicPr/>
          <p:nvPr/>
        </p:nvPicPr>
        <p:blipFill>
          <a:blip r:embed="rId7"/>
          <a:stretch/>
        </p:blipFill>
        <p:spPr>
          <a:xfrm>
            <a:off x="7648560" y="4496400"/>
            <a:ext cx="1931760" cy="261000"/>
          </a:xfrm>
          <a:prstGeom prst="rect">
            <a:avLst/>
          </a:prstGeom>
          <a:ln w="0">
            <a:noFill/>
          </a:ln>
        </p:spPr>
      </p:pic>
      <p:sp>
        <p:nvSpPr>
          <p:cNvPr id="46" name="Google Shape;111;p14"/>
          <p:cNvSpPr/>
          <p:nvPr/>
        </p:nvSpPr>
        <p:spPr>
          <a:xfrm>
            <a:off x="2786040" y="4105800"/>
            <a:ext cx="66178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0000cd"/>
                </a:solidFill>
                <a:latin typeface="Urbanist ExtraBold"/>
                <a:ea typeface="Urbanist ExtraBold"/>
              </a:rPr>
              <a:t>ARCHITECTURAL ROOT CAUSE: IMPERATIVE VS. DECLARATIVE STATE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124;p14"/>
          <p:cNvSpPr/>
          <p:nvPr/>
        </p:nvSpPr>
        <p:spPr>
          <a:xfrm>
            <a:off x="1495440" y="4848840"/>
            <a:ext cx="4160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475569"/>
                </a:solidFill>
                <a:latin typeface="JetBrains Mono"/>
                <a:ea typeface="JetBrains Mono"/>
              </a:rPr>
              <a:t># Babysitting the VM state…</a:t>
            </a:r>
            <a:br>
              <a:rPr sz="1130"/>
            </a:br>
            <a:r>
              <a:rPr b="0" lang="en-US" sz="1130" spc="-1" strike="noStrike">
                <a:solidFill>
                  <a:srgbClr val="60a5fa"/>
                </a:solidFill>
                <a:latin typeface="JetBrains Mono"/>
                <a:ea typeface="JetBrains Mono"/>
              </a:rPr>
              <a:t>req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 = </a:t>
            </a:r>
            <a:r>
              <a:rPr b="0" lang="en-US" sz="1130" spc="-1" strike="noStrike">
                <a:solidFill>
                  <a:srgbClr val="facc15"/>
                </a:solidFill>
                <a:latin typeface="JetBrains Mono"/>
                <a:ea typeface="JetBrains Mono"/>
              </a:rPr>
              <a:t>vcenter.reconfigure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(</a:t>
            </a:r>
            <a:r>
              <a:rPr b="0" lang="en-US" sz="1130" spc="-1" strike="noStrike">
                <a:solidFill>
                  <a:srgbClr val="60a5fa"/>
                </a:solidFill>
                <a:latin typeface="JetBrains Mono"/>
                <a:ea typeface="JetBrains Mono"/>
              </a:rPr>
              <a:t>vm_id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, </a:t>
            </a:r>
            <a:r>
              <a:rPr b="0" lang="en-US" sz="1130" spc="-1" strike="noStrike">
                <a:solidFill>
                  <a:srgbClr val="60a5fa"/>
                </a:solidFill>
                <a:latin typeface="JetBrains Mono"/>
                <a:ea typeface="JetBrains Mono"/>
              </a:rPr>
              <a:t>cpu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=</a:t>
            </a:r>
            <a:r>
              <a:rPr b="0" lang="en-US" sz="1130" spc="-1" strike="noStrike">
                <a:solidFill>
                  <a:srgbClr val="10b981"/>
                </a:solidFill>
                <a:latin typeface="JetBrains Mono"/>
                <a:ea typeface="JetBrains Mono"/>
              </a:rPr>
              <a:t>16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)</a:t>
            </a:r>
            <a:br>
              <a:rPr sz="1130"/>
            </a:b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if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 </a:t>
            </a:r>
            <a:r>
              <a:rPr b="0" lang="en-US" sz="1130" spc="-1" strike="noStrike">
                <a:solidFill>
                  <a:srgbClr val="60a5fa"/>
                </a:solidFill>
                <a:latin typeface="JetBrains Mono"/>
                <a:ea typeface="JetBrains Mono"/>
              </a:rPr>
              <a:t>req.status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 == </a:t>
            </a:r>
            <a:r>
              <a:rPr b="0" lang="en-US" sz="1130" spc="-1" strike="noStrike">
                <a:solidFill>
                  <a:srgbClr val="10b981"/>
                </a:solidFill>
                <a:latin typeface="JetBrains Mono"/>
                <a:ea typeface="JetBrains Mono"/>
              </a:rPr>
              <a:t>"SUCCESS"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</a:t>
            </a:r>
            <a:br>
              <a:rPr sz="1130"/>
            </a:b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    </a:t>
            </a:r>
            <a:r>
              <a:rPr b="0" lang="en-US" sz="1130" spc="-1" strike="noStrike">
                <a:solidFill>
                  <a:srgbClr val="60a5fa"/>
                </a:solidFill>
                <a:latin typeface="JetBrains Mono"/>
                <a:ea typeface="JetBrains Mono"/>
              </a:rPr>
              <a:t>vm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.</a:t>
            </a:r>
            <a:r>
              <a:rPr b="0" lang="en-US" sz="1130" spc="-1" strike="noStrike">
                <a:solidFill>
                  <a:srgbClr val="facc15"/>
                </a:solidFill>
                <a:latin typeface="JetBrains Mono"/>
                <a:ea typeface="JetBrains Mono"/>
              </a:rPr>
              <a:t>power_on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()</a:t>
            </a:r>
            <a:br>
              <a:rPr sz="1130"/>
            </a:br>
            <a:br>
              <a:rPr sz="1130"/>
            </a:br>
            <a:r>
              <a:rPr b="0" lang="en-US" sz="1130" spc="-1" strike="noStrike">
                <a:solidFill>
                  <a:srgbClr val="475569"/>
                </a:solidFill>
                <a:latin typeface="JetBrains Mono"/>
                <a:ea typeface="JetBrains Mono"/>
              </a:rPr>
              <a:t># Manual retry if ABC fails…</a:t>
            </a:r>
            <a:br>
              <a:rPr sz="1130"/>
            </a:br>
            <a:r>
              <a:rPr b="0" lang="en-US" sz="1130" spc="-1" strike="noStrike">
                <a:solidFill>
                  <a:srgbClr val="475569"/>
                </a:solidFill>
                <a:latin typeface="JetBrains Mono"/>
                <a:ea typeface="JetBrains Mono"/>
              </a:rPr>
              <a:t># Results in State Drift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130;p14"/>
          <p:cNvSpPr/>
          <p:nvPr/>
        </p:nvSpPr>
        <p:spPr>
          <a:xfrm>
            <a:off x="6534000" y="4848840"/>
            <a:ext cx="4160880" cy="12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kind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 </a:t>
            </a:r>
            <a:r>
              <a:rPr b="0" lang="en-US" sz="1130" spc="-1" strike="noStrike">
                <a:solidFill>
                  <a:srgbClr val="10b981"/>
                </a:solidFill>
                <a:latin typeface="JetBrains Mono"/>
                <a:ea typeface="JetBrains Mono"/>
              </a:rPr>
              <a:t>VirtualMachine</a:t>
            </a:r>
            <a:br>
              <a:rPr sz="1130"/>
            </a:b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spec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</a:t>
            </a:r>
            <a:br>
              <a:rPr sz="1130"/>
            </a:b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    </a:t>
            </a: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running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 </a:t>
            </a:r>
            <a:r>
              <a:rPr b="0" lang="en-US" sz="1130" spc="-1" strike="noStrike">
                <a:solidFill>
                  <a:srgbClr val="10b981"/>
                </a:solidFill>
                <a:latin typeface="JetBrains Mono"/>
                <a:ea typeface="JetBrains Mono"/>
              </a:rPr>
              <a:t>true</a:t>
            </a:r>
            <a:br>
              <a:rPr sz="1130"/>
            </a:br>
            <a:r>
              <a:rPr b="0" lang="en-US" sz="1130" spc="-1" strike="noStrike">
                <a:solidFill>
                  <a:srgbClr val="10b981"/>
                </a:solidFill>
                <a:latin typeface="JetBrains Mono"/>
                <a:ea typeface="JetBrains Mono"/>
              </a:rPr>
              <a:t>    </a:t>
            </a: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domain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 { </a:t>
            </a: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cpu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 { </a:t>
            </a:r>
            <a:r>
              <a:rPr b="0" lang="en-US" sz="1130" spc="-1" strike="noStrike">
                <a:solidFill>
                  <a:srgbClr val="f472b6"/>
                </a:solidFill>
                <a:latin typeface="JetBrains Mono"/>
                <a:ea typeface="JetBrains Mono"/>
              </a:rPr>
              <a:t>cores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: </a:t>
            </a:r>
            <a:r>
              <a:rPr b="0" lang="en-US" sz="1130" spc="-1" strike="noStrike">
                <a:solidFill>
                  <a:srgbClr val="10b981"/>
                </a:solidFill>
                <a:latin typeface="JetBrains Mono"/>
                <a:ea typeface="JetBrains Mono"/>
              </a:rPr>
              <a:t>16</a:t>
            </a:r>
            <a:r>
              <a:rPr b="0" lang="en-US" sz="1130" spc="-1" strike="noStrike">
                <a:solidFill>
                  <a:srgbClr val="ffffff"/>
                </a:solidFill>
                <a:latin typeface="JetBrains Mono"/>
                <a:ea typeface="JetBrains Mono"/>
              </a:rPr>
              <a:t> } }</a:t>
            </a:r>
            <a:br>
              <a:rPr sz="1130"/>
            </a:br>
            <a:br>
              <a:rPr sz="1130"/>
            </a:br>
            <a:r>
              <a:rPr b="0" lang="en-US" sz="1130" spc="-1" strike="noStrike">
                <a:solidFill>
                  <a:srgbClr val="475569"/>
                </a:solidFill>
                <a:latin typeface="JetBrains Mono"/>
                <a:ea typeface="JetBrains Mono"/>
              </a:rPr>
              <a:t># Reconciliation Loop:</a:t>
            </a:r>
            <a:br>
              <a:rPr sz="1130"/>
            </a:br>
            <a:r>
              <a:rPr b="0" lang="en-US" sz="1130" spc="-1" strike="noStrike">
                <a:solidFill>
                  <a:srgbClr val="475569"/>
                </a:solidFill>
                <a:latin typeface="JetBrains Mono"/>
                <a:ea typeface="JetBrains Mono"/>
              </a:rPr>
              <a:t># Watch -&gt; Diff -&gt; Reconcile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136;p14"/>
          <p:cNvSpPr/>
          <p:nvPr/>
        </p:nvSpPr>
        <p:spPr>
          <a:xfrm>
            <a:off x="2509920" y="4477680"/>
            <a:ext cx="227268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highlight>
                  <a:srgbClr val="ef4444"/>
                </a:highlight>
                <a:latin typeface="Urbanist"/>
                <a:ea typeface="Urbanist"/>
              </a:rPr>
              <a:t>              </a:t>
            </a:r>
            <a:r>
              <a:rPr b="1" lang="en-US" sz="850" spc="-1" strike="noStrike">
                <a:solidFill>
                  <a:srgbClr val="ffffff"/>
                </a:solidFill>
                <a:highlight>
                  <a:srgbClr val="ef4444"/>
                </a:highlight>
                <a:latin typeface="Urbanist"/>
                <a:ea typeface="Urbanist"/>
              </a:rPr>
              <a:t>IMPERATIVE  CLICKOPS           </a:t>
            </a:r>
            <a:r>
              <a:rPr b="1" lang="en-US" sz="850" spc="-1" strike="noStrike">
                <a:solidFill>
                  <a:srgbClr val="ef4444"/>
                </a:solidFill>
                <a:highlight>
                  <a:srgbClr val="ef4444"/>
                </a:highlight>
                <a:latin typeface="Urbanist"/>
                <a:ea typeface="Urbanist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37;p14"/>
          <p:cNvSpPr/>
          <p:nvPr/>
        </p:nvSpPr>
        <p:spPr>
          <a:xfrm>
            <a:off x="7648560" y="4472280"/>
            <a:ext cx="1951200" cy="25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5160" bIns="6516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850" spc="-1" strike="noStrike">
                <a:solidFill>
                  <a:srgbClr val="ffffff"/>
                </a:solidFill>
                <a:highlight>
                  <a:srgbClr val="10b981"/>
                </a:highlight>
                <a:latin typeface="Urbanist"/>
                <a:ea typeface="Urbanist"/>
              </a:rPr>
              <a:t>           </a:t>
            </a:r>
            <a:r>
              <a:rPr b="1" lang="en-US" sz="850" spc="-1" strike="noStrike">
                <a:solidFill>
                  <a:srgbClr val="ffffff"/>
                </a:solidFill>
                <a:highlight>
                  <a:srgbClr val="10b981"/>
                </a:highlight>
                <a:latin typeface="Urbanist"/>
                <a:ea typeface="Urbanist"/>
              </a:rPr>
              <a:t>DECLARATIVE GITOPS          </a:t>
            </a:r>
            <a:r>
              <a:rPr b="1" lang="en-US" sz="850" spc="-1" strike="noStrike">
                <a:solidFill>
                  <a:srgbClr val="10b981"/>
                </a:solidFill>
                <a:highlight>
                  <a:srgbClr val="10b981"/>
                </a:highlight>
                <a:latin typeface="Urbanist"/>
                <a:ea typeface="Urbanist"/>
              </a:rPr>
              <a:t>.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00;p14"/>
          <p:cNvSpPr/>
          <p:nvPr/>
        </p:nvSpPr>
        <p:spPr>
          <a:xfrm>
            <a:off x="581040" y="59040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0"/>
                </a:solidFill>
                <a:latin typeface="Outfit ExtraBold"/>
                <a:ea typeface="Outfit ExtraBold"/>
              </a:rPr>
              <a:t>The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Catalyst</a:t>
            </a:r>
            <a:r>
              <a:rPr b="1" lang="en-US" sz="3600" spc="-1" strike="noStrike">
                <a:solidFill>
                  <a:schemeClr val="lt1"/>
                </a:solidFill>
                <a:latin typeface="Urbanist ExtraBold"/>
                <a:ea typeface="Urbanist ExtraBold"/>
              </a:rPr>
              <a:t> </a:t>
            </a:r>
            <a:r>
              <a:rPr b="1" lang="en-US" sz="3600" spc="-1" strike="noStrike">
                <a:solidFill>
                  <a:srgbClr val="00008b"/>
                </a:solidFill>
                <a:latin typeface="Urbanist ExtraBold"/>
                <a:ea typeface="Urbanist ExtraBold"/>
              </a:rPr>
              <a:t>for Change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Google Shape;212;p18"/>
          <p:cNvSpPr/>
          <p:nvPr/>
        </p:nvSpPr>
        <p:spPr>
          <a:xfrm>
            <a:off x="571680" y="1349280"/>
            <a:ext cx="11047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708090"/>
                </a:solidFill>
                <a:latin typeface="Urbanist"/>
                <a:ea typeface="Urbanist"/>
              </a:rPr>
              <a:t>BREAK FREE FROM THE</a:t>
            </a:r>
            <a:r>
              <a:rPr b="1" lang="en-US" sz="1650" spc="-1" strike="noStrike">
                <a:solidFill>
                  <a:srgbClr val="2f4f4f"/>
                </a:solidFill>
                <a:latin typeface="Urbanist"/>
                <a:ea typeface="Urbanist"/>
              </a:rPr>
              <a:t> </a:t>
            </a:r>
            <a:r>
              <a:rPr b="1" lang="en-US" sz="1650" spc="-1" strike="noStrike">
                <a:solidFill>
                  <a:srgbClr val="94a3b8"/>
                </a:solidFill>
                <a:latin typeface="Urbanist"/>
                <a:ea typeface="Urbanist"/>
              </a:rPr>
              <a:t>"LEGACY TRAP"</a:t>
            </a:r>
            <a:r>
              <a:rPr b="1" lang="en-US" sz="1650" spc="-1" strike="noStrike">
                <a:solidFill>
                  <a:srgbClr val="708090"/>
                </a:solidFill>
                <a:latin typeface="Urbanist"/>
                <a:ea typeface="Urbanist"/>
              </a:rPr>
              <a:t> OF TRADITIONAL HYPERVISORS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3" name="Google Shape;94;p14" descr="image.png"/>
          <p:cNvPicPr/>
          <p:nvPr/>
        </p:nvPicPr>
        <p:blipFill>
          <a:blip r:embed="rId8"/>
          <a:stretch/>
        </p:blipFill>
        <p:spPr>
          <a:xfrm>
            <a:off x="609840" y="1824120"/>
            <a:ext cx="3491640" cy="2053800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95;p14" descr="image.png"/>
          <p:cNvPicPr/>
          <p:nvPr/>
        </p:nvPicPr>
        <p:blipFill>
          <a:blip r:embed="rId9"/>
          <a:stretch/>
        </p:blipFill>
        <p:spPr>
          <a:xfrm>
            <a:off x="4388040" y="1824120"/>
            <a:ext cx="3491640" cy="2053800"/>
          </a:xfrm>
          <a:prstGeom prst="rect">
            <a:avLst/>
          </a:prstGeom>
          <a:ln w="0">
            <a:noFill/>
          </a:ln>
        </p:spPr>
      </p:pic>
      <p:pic>
        <p:nvPicPr>
          <p:cNvPr id="55" name="Google Shape;96;p14" descr="image.png"/>
          <p:cNvPicPr/>
          <p:nvPr/>
        </p:nvPicPr>
        <p:blipFill>
          <a:blip r:embed="rId10"/>
          <a:stretch/>
        </p:blipFill>
        <p:spPr>
          <a:xfrm>
            <a:off x="8166240" y="1824120"/>
            <a:ext cx="3491640" cy="2053800"/>
          </a:xfrm>
          <a:prstGeom prst="rect">
            <a:avLst/>
          </a:prstGeom>
          <a:ln w="0">
            <a:noFill/>
          </a:ln>
        </p:spPr>
      </p:pic>
      <p:sp>
        <p:nvSpPr>
          <p:cNvPr id="56" name="Google Shape;98;p14"/>
          <p:cNvSpPr/>
          <p:nvPr/>
        </p:nvSpPr>
        <p:spPr>
          <a:xfrm>
            <a:off x="1350720" y="2025360"/>
            <a:ext cx="236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Poppins SemiBold"/>
              </a:rPr>
              <a:t>Skyrocketing Costs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99;p14"/>
          <p:cNvSpPr/>
          <p:nvPr/>
        </p:nvSpPr>
        <p:spPr>
          <a:xfrm>
            <a:off x="893880" y="2468880"/>
            <a:ext cx="2900880" cy="9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34155"/>
                </a:solidFill>
                <a:latin typeface="Arial"/>
                <a:ea typeface="Inter"/>
              </a:rPr>
              <a:t>Proprietary licensing is no longer a budget line item—it is an extortion tax draining your innovation fund.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100;p 1"/>
          <p:cNvSpPr/>
          <p:nvPr/>
        </p:nvSpPr>
        <p:spPr>
          <a:xfrm>
            <a:off x="5061600" y="1997280"/>
            <a:ext cx="2423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Poppins SemiBold"/>
              </a:rPr>
              <a:t>Killed Velocity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101;p 1"/>
          <p:cNvSpPr/>
          <p:nvPr/>
        </p:nvSpPr>
        <p:spPr>
          <a:xfrm>
            <a:off x="4672440" y="2468880"/>
            <a:ext cx="2900880" cy="98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34155"/>
                </a:solidFill>
                <a:latin typeface="Arial"/>
                <a:ea typeface="Inter"/>
              </a:rPr>
              <a:t>Manual "ClickOps" and imperative workflows trap engineers in a loop of babysitting fragile VMs.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2;p14"/>
          <p:cNvSpPr/>
          <p:nvPr/>
        </p:nvSpPr>
        <p:spPr>
          <a:xfrm>
            <a:off x="9006120" y="1997280"/>
            <a:ext cx="23670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f172a"/>
                </a:solidFill>
                <a:latin typeface="Arial"/>
                <a:ea typeface="Poppins SemiBold"/>
              </a:rPr>
              <a:t>IT Silos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03;p 1"/>
          <p:cNvSpPr/>
          <p:nvPr/>
        </p:nvSpPr>
        <p:spPr>
          <a:xfrm>
            <a:off x="8450640" y="2468880"/>
            <a:ext cx="2978640" cy="13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334155"/>
                </a:solidFill>
                <a:latin typeface="Arial"/>
                <a:ea typeface="Inter"/>
              </a:rPr>
              <a:t>Forced to fund two separate departments: one for declarative Kubernetes, and one for legacy virtualization infra.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104;p14" descr="image.png"/>
          <p:cNvPicPr/>
          <p:nvPr/>
        </p:nvPicPr>
        <p:blipFill>
          <a:blip r:embed="rId11"/>
          <a:stretch/>
        </p:blipFill>
        <p:spPr>
          <a:xfrm>
            <a:off x="893880" y="1992600"/>
            <a:ext cx="389520" cy="34200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105;p14" descr="image.png"/>
          <p:cNvPicPr/>
          <p:nvPr/>
        </p:nvPicPr>
        <p:blipFill>
          <a:blip r:embed="rId12"/>
          <a:stretch/>
        </p:blipFill>
        <p:spPr>
          <a:xfrm>
            <a:off x="4672440" y="1992600"/>
            <a:ext cx="342000" cy="342000"/>
          </a:xfrm>
          <a:prstGeom prst="rect">
            <a:avLst/>
          </a:prstGeom>
          <a:ln w="0">
            <a:noFill/>
          </a:ln>
        </p:spPr>
      </p:pic>
      <p:pic>
        <p:nvPicPr>
          <p:cNvPr id="64" name="Google Shape;106;p14" descr="image.png"/>
          <p:cNvPicPr/>
          <p:nvPr/>
        </p:nvPicPr>
        <p:blipFill>
          <a:blip r:embed="rId13"/>
          <a:stretch/>
        </p:blipFill>
        <p:spPr>
          <a:xfrm>
            <a:off x="8450640" y="1992600"/>
            <a:ext cx="427680" cy="342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45;p15"/>
          <p:cNvSpPr/>
          <p:nvPr/>
        </p:nvSpPr>
        <p:spPr>
          <a:xfrm>
            <a:off x="58104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 Hyperscaler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Gap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46;p15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PlaceHolder 1"/>
          <p:cNvSpPr/>
          <p:nvPr/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9D00A9FB-B44E-4859-ABE6-0814BA7FDE9D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8" name="Google Shape;129;p16" descr="image.png"/>
          <p:cNvPicPr/>
          <p:nvPr/>
        </p:nvPicPr>
        <p:blipFill>
          <a:blip r:embed="rId2"/>
          <a:stretch/>
        </p:blipFill>
        <p:spPr>
          <a:xfrm>
            <a:off x="572040" y="1264680"/>
            <a:ext cx="11048040" cy="4575960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9" name="Google Shape;131;p16"/>
          <p:cNvGraphicFramePr/>
          <p:nvPr/>
        </p:nvGraphicFramePr>
        <p:xfrm>
          <a:off x="581400" y="1274040"/>
          <a:ext cx="11028960" cy="4557600"/>
        </p:xfrm>
        <a:graphic>
          <a:graphicData uri="http://schemas.openxmlformats.org/drawingml/2006/table">
            <a:tbl>
              <a:tblPr/>
              <a:tblGrid>
                <a:gridCol w="2205720"/>
                <a:gridCol w="4411800"/>
                <a:gridCol w="4411800"/>
              </a:tblGrid>
              <a:tr h="759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f172a"/>
                          </a:solidFill>
                          <a:latin typeface="Arial"/>
                          <a:ea typeface="Poppins SemiBold"/>
                        </a:rPr>
                        <a:t>Platform Feature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0f172a"/>
                          </a:solidFill>
                          <a:latin typeface="Arial"/>
                          <a:ea typeface="Poppins SemiBold"/>
                        </a:rPr>
                        <a:t>Legacy Virtualization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2563eb"/>
                          </a:solidFill>
                          <a:latin typeface="Arial"/>
                          <a:ea typeface="Poppins SemiBold"/>
                        </a:rPr>
                        <a:t>Modern Sovereign Expectation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59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334155"/>
                          </a:solidFill>
                          <a:latin typeface="Arial"/>
                          <a:ea typeface="Inter"/>
                        </a:rPr>
                        <a:t>Control Interface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dc2626"/>
                          </a:solidFill>
                          <a:latin typeface="Arial"/>
                          <a:ea typeface="Inter SemiBold"/>
                        </a:rPr>
                        <a:t>Imperative. Traditional UI. Manual ClickOps and brittle scripts.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8000"/>
                          </a:solidFill>
                          <a:latin typeface="Arial"/>
                          <a:ea typeface="Inter SemiBold"/>
                        </a:rPr>
                        <a:t>Declarative. K8s-native CRDs and GitOps reconciliation loops.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9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334155"/>
                          </a:solidFill>
                          <a:latin typeface="Arial"/>
                          <a:ea typeface="Inter"/>
                        </a:rPr>
                        <a:t>Network Model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dc2626"/>
                          </a:solidFill>
                          <a:latin typeface="Arial"/>
                          <a:ea typeface="Inter SemiBold"/>
                        </a:rPr>
                        <a:t>Static. VLANs, VXLAN and Layer-3 firewall hair-pinning.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8000"/>
                          </a:solidFill>
                          <a:latin typeface="Arial"/>
                          <a:ea typeface="Inter SemiBold"/>
                        </a:rPr>
                        <a:t>Dynamic VPC. Identity-based eBPF policy enforcement.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59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334155"/>
                          </a:solidFill>
                          <a:latin typeface="Arial"/>
                          <a:ea typeface="Inter"/>
                        </a:rPr>
                        <a:t>Storage IO Path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dc2626"/>
                          </a:solidFill>
                          <a:latin typeface="Arial"/>
                          <a:ea typeface="Inter SemiBold"/>
                        </a:rPr>
                        <a:t>Contention. High hypervisor tax via heavy vSAN/HCI stacks.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8000"/>
                          </a:solidFill>
                          <a:latin typeface="Arial"/>
                          <a:ea typeface="Inter SemiBold"/>
                        </a:rPr>
                        <a:t>Direct Path. Bypass hypervisor storage overhead.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  <a:tr h="759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334155"/>
                          </a:solidFill>
                          <a:latin typeface="Arial"/>
                          <a:ea typeface="Inter"/>
                        </a:rPr>
                        <a:t>Operational Logic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dc2626"/>
                          </a:solidFill>
                          <a:latin typeface="Arial"/>
                          <a:ea typeface="Inter SemiBold"/>
                        </a:rPr>
                        <a:t>Ticket-Driven. Human-in-the-loop for scaling and remediation.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8000"/>
                          </a:solidFill>
                          <a:latin typeface="Arial"/>
                          <a:ea typeface="Inter SemiBold"/>
                        </a:rPr>
                        <a:t>Autonomic. Controller-driven self-healing and auto-scaling.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759600"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400" spc="-1" strike="noStrike">
                          <a:solidFill>
                            <a:srgbClr val="334155"/>
                          </a:solidFill>
                          <a:latin typeface="Arial"/>
                          <a:ea typeface="Inter"/>
                        </a:rPr>
                        <a:t>API Consistency</a:t>
                      </a:r>
                      <a:endParaRPr b="0" lang="en-US" sz="14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dc2626"/>
                          </a:solidFill>
                          <a:latin typeface="Arial"/>
                          <a:ea typeface="Inter SemiBold"/>
                        </a:rPr>
                        <a:t>Disparate. Disconnected silos for Storage, Network, VMs, K8s...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 lIns="63360" rIns="63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200" spc="-1" strike="noStrike">
                          <a:solidFill>
                            <a:srgbClr val="008000"/>
                          </a:solidFill>
                          <a:latin typeface="Arial"/>
                          <a:ea typeface="Inter SemiBold"/>
                        </a:rPr>
                        <a:t>Unified. One K8s API for Pods, VMs, Storage, and AI.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63360" marR="6336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132;p16"/>
          <p:cNvSpPr/>
          <p:nvPr/>
        </p:nvSpPr>
        <p:spPr>
          <a:xfrm>
            <a:off x="581400" y="1818000"/>
            <a:ext cx="220500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33;p16"/>
          <p:cNvSpPr/>
          <p:nvPr/>
        </p:nvSpPr>
        <p:spPr>
          <a:xfrm>
            <a:off x="2787480" y="1818000"/>
            <a:ext cx="441072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34;p16"/>
          <p:cNvSpPr/>
          <p:nvPr/>
        </p:nvSpPr>
        <p:spPr>
          <a:xfrm>
            <a:off x="7199280" y="1818000"/>
            <a:ext cx="441108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35;p16"/>
          <p:cNvSpPr/>
          <p:nvPr/>
        </p:nvSpPr>
        <p:spPr>
          <a:xfrm>
            <a:off x="581400" y="2619720"/>
            <a:ext cx="220500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36;p16"/>
          <p:cNvSpPr/>
          <p:nvPr/>
        </p:nvSpPr>
        <p:spPr>
          <a:xfrm>
            <a:off x="2787480" y="2619720"/>
            <a:ext cx="441072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137;p16"/>
          <p:cNvSpPr/>
          <p:nvPr/>
        </p:nvSpPr>
        <p:spPr>
          <a:xfrm>
            <a:off x="7199280" y="2619720"/>
            <a:ext cx="441108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38;p16"/>
          <p:cNvSpPr/>
          <p:nvPr/>
        </p:nvSpPr>
        <p:spPr>
          <a:xfrm>
            <a:off x="581400" y="3421800"/>
            <a:ext cx="220500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139;p16"/>
          <p:cNvSpPr/>
          <p:nvPr/>
        </p:nvSpPr>
        <p:spPr>
          <a:xfrm>
            <a:off x="2787480" y="3421800"/>
            <a:ext cx="441072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40;p16"/>
          <p:cNvSpPr/>
          <p:nvPr/>
        </p:nvSpPr>
        <p:spPr>
          <a:xfrm>
            <a:off x="7199280" y="3421800"/>
            <a:ext cx="441108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41;p16"/>
          <p:cNvSpPr/>
          <p:nvPr/>
        </p:nvSpPr>
        <p:spPr>
          <a:xfrm>
            <a:off x="581400" y="4223520"/>
            <a:ext cx="220500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42;p16"/>
          <p:cNvSpPr/>
          <p:nvPr/>
        </p:nvSpPr>
        <p:spPr>
          <a:xfrm>
            <a:off x="2787480" y="4223520"/>
            <a:ext cx="441072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43;p16"/>
          <p:cNvSpPr/>
          <p:nvPr/>
        </p:nvSpPr>
        <p:spPr>
          <a:xfrm>
            <a:off x="7199280" y="4223520"/>
            <a:ext cx="441108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44;p16"/>
          <p:cNvSpPr/>
          <p:nvPr/>
        </p:nvSpPr>
        <p:spPr>
          <a:xfrm>
            <a:off x="581400" y="5025600"/>
            <a:ext cx="220500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45;p16"/>
          <p:cNvSpPr/>
          <p:nvPr/>
        </p:nvSpPr>
        <p:spPr>
          <a:xfrm>
            <a:off x="2787480" y="5025600"/>
            <a:ext cx="441072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146;p16"/>
          <p:cNvSpPr/>
          <p:nvPr/>
        </p:nvSpPr>
        <p:spPr>
          <a:xfrm>
            <a:off x="7199280" y="5025600"/>
            <a:ext cx="4411080" cy="828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320" bIns="432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09480" y="5889240"/>
            <a:ext cx="11048400" cy="68508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66;p 1"/>
          <p:cNvSpPr/>
          <p:nvPr/>
        </p:nvSpPr>
        <p:spPr>
          <a:xfrm>
            <a:off x="2286000" y="5989320"/>
            <a:ext cx="84574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0fff0"/>
                </a:solidFill>
                <a:latin typeface="Arial"/>
                <a:ea typeface="Inter"/>
              </a:rPr>
              <a:t>We aren't just moving workloads.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0fff0"/>
                </a:solidFill>
                <a:latin typeface="Arial"/>
                <a:ea typeface="Inter"/>
              </a:rPr>
              <a:t>We are </a:t>
            </a:r>
            <a:r>
              <a:rPr b="0" lang="en-US" sz="1400" spc="-1" strike="noStrike">
                <a:solidFill>
                  <a:srgbClr val="38bdf8"/>
                </a:solidFill>
                <a:latin typeface="Arial"/>
                <a:ea typeface="Inter"/>
              </a:rPr>
              <a:t>restoring engineering velocity</a:t>
            </a:r>
            <a:r>
              <a:rPr b="0" lang="en-US" sz="1400" spc="-1" strike="noStrike">
                <a:solidFill>
                  <a:srgbClr val="f0fff0"/>
                </a:solidFill>
                <a:latin typeface="Arial"/>
                <a:ea typeface="Inter"/>
              </a:rPr>
              <a:t> and reclaiming the </a:t>
            </a:r>
            <a:r>
              <a:rPr b="0" lang="en-US" sz="1400" spc="-1" strike="noStrike">
                <a:solidFill>
                  <a:srgbClr val="38bdf8"/>
                </a:solidFill>
                <a:latin typeface="Arial"/>
                <a:ea typeface="Inter"/>
              </a:rPr>
              <a:t>raw performance</a:t>
            </a:r>
            <a:r>
              <a:rPr b="0" lang="en-US" sz="1400" spc="-1" strike="noStrike">
                <a:solidFill>
                  <a:srgbClr val="f0fff0"/>
                </a:solidFill>
                <a:latin typeface="Arial"/>
                <a:ea typeface="Inter"/>
              </a:rPr>
              <a:t> of your hardware.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7" name="Google Shape;167;p15" descr="image.png"/>
          <p:cNvPicPr/>
          <p:nvPr/>
        </p:nvPicPr>
        <p:blipFill>
          <a:blip r:embed="rId3"/>
          <a:stretch/>
        </p:blipFill>
        <p:spPr>
          <a:xfrm>
            <a:off x="915480" y="6108120"/>
            <a:ext cx="226800" cy="226800"/>
          </a:xfrm>
          <a:prstGeom prst="rect">
            <a:avLst/>
          </a:prstGeom>
          <a:ln w="0">
            <a:noFill/>
          </a:ln>
        </p:spPr>
      </p:pic>
      <p:sp>
        <p:nvSpPr>
          <p:cNvPr id="88" name="Google Shape;166;p 2"/>
          <p:cNvSpPr/>
          <p:nvPr/>
        </p:nvSpPr>
        <p:spPr>
          <a:xfrm>
            <a:off x="1371600" y="6108120"/>
            <a:ext cx="685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Inter"/>
              </a:rPr>
              <a:t>Verdict: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76;p16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90" name="Google Shape;174;p16"/>
          <p:cNvSpPr/>
          <p:nvPr/>
        </p:nvSpPr>
        <p:spPr>
          <a:xfrm>
            <a:off x="581040" y="581040"/>
            <a:ext cx="115797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        penStack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Near-Miss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Google Shape;175;p16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2" name="Google Shape;176;p16" descr=""/>
          <p:cNvPicPr/>
          <p:nvPr/>
        </p:nvPicPr>
        <p:blipFill>
          <a:blip r:embed="rId3"/>
          <a:stretch/>
        </p:blipFill>
        <p:spPr>
          <a:xfrm>
            <a:off x="4037760" y="1787040"/>
            <a:ext cx="7869240" cy="3753000"/>
          </a:xfrm>
          <a:prstGeom prst="rect">
            <a:avLst/>
          </a:prstGeom>
          <a:ln w="0">
            <a:noFill/>
          </a:ln>
        </p:spPr>
      </p:pic>
      <p:sp>
        <p:nvSpPr>
          <p:cNvPr id="93" name="Google Shape;177;p16"/>
          <p:cNvSpPr/>
          <p:nvPr/>
        </p:nvSpPr>
        <p:spPr>
          <a:xfrm>
            <a:off x="571680" y="1349280"/>
            <a:ext cx="1104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Urbanist"/>
                <a:ea typeface="Urbanist"/>
              </a:rPr>
              <a:t>WHEN ARCHITECTURAL COMPLEXITY BECOMES AN OPERATIONAL LIABILITY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78;p16"/>
          <p:cNvSpPr/>
          <p:nvPr/>
        </p:nvSpPr>
        <p:spPr>
          <a:xfrm>
            <a:off x="547200" y="2032200"/>
            <a:ext cx="5061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Inter"/>
                <a:ea typeface="Inter"/>
              </a:rPr>
              <a:t>ARCHITECTURAL POST-MORTEM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79;p16"/>
          <p:cNvSpPr/>
          <p:nvPr/>
        </p:nvSpPr>
        <p:spPr>
          <a:xfrm>
            <a:off x="461160" y="2478960"/>
            <a:ext cx="523332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Outfit"/>
              </a:rPr>
              <a:t>◈ </a:t>
            </a: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Outfit"/>
              </a:rPr>
              <a:t>Control Plane Entropy.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Outfit"/>
              </a:rPr>
              <a:t> </a:t>
            </a:r>
            <a:r>
              <a:rPr b="0" lang="en-US" sz="1400" spc="-1" strike="noStrike">
                <a:solidFill>
                  <a:srgbClr val="94a3b8"/>
                </a:solidFill>
                <a:highlight>
                  <a:srgbClr val="020617"/>
                </a:highlight>
                <a:latin typeface="Arial"/>
                <a:ea typeface="Inter"/>
              </a:rPr>
              <a:t>Managing 14+ disparate projects (Nova, Neutron, Cinder...) created too many failure domains outside of the CNCF lifecycle.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80;p16"/>
          <p:cNvSpPr/>
          <p:nvPr/>
        </p:nvSpPr>
        <p:spPr>
          <a:xfrm>
            <a:off x="461160" y="3516840"/>
            <a:ext cx="502236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Outfit"/>
              </a:rPr>
              <a:t>◈ </a:t>
            </a: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Outfit"/>
              </a:rPr>
              <a:t>Prohibitive Upskilling Debt.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Outfit"/>
              </a:rPr>
              <a:t> </a:t>
            </a:r>
            <a:r>
              <a:rPr b="0" lang="en-US" sz="1400" spc="-1" strike="noStrike">
                <a:solidFill>
                  <a:srgbClr val="94a3b8"/>
                </a:solidFill>
                <a:highlight>
                  <a:srgbClr val="020617"/>
                </a:highlight>
                <a:latin typeface="Arial"/>
                <a:ea typeface="Inter"/>
              </a:rPr>
              <a:t>Required a massive 12-month training cycle or hiring a completely new "Virtualization Silo" just to babysit the Control Plane.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81;p16"/>
          <p:cNvSpPr/>
          <p:nvPr/>
        </p:nvSpPr>
        <p:spPr>
          <a:xfrm>
            <a:off x="461160" y="4644720"/>
            <a:ext cx="5233320" cy="98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1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Outfit"/>
              </a:rPr>
              <a:t>◈ </a:t>
            </a: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Outfit"/>
              </a:rPr>
              <a:t>The "Second API" Problem.</a:t>
            </a:r>
            <a:r>
              <a:rPr b="1" lang="en-US" sz="1800" spc="-1" strike="noStrike">
                <a:solidFill>
                  <a:srgbClr val="ffffff"/>
                </a:solidFill>
                <a:latin typeface="Arial"/>
                <a:ea typeface="Outfit"/>
              </a:rPr>
              <a:t> </a:t>
            </a:r>
            <a:r>
              <a:rPr b="0" lang="en-US" sz="1400" spc="-1" strike="noStrike">
                <a:solidFill>
                  <a:srgbClr val="94a3b8"/>
                </a:solidFill>
                <a:highlight>
                  <a:srgbClr val="020617"/>
                </a:highlight>
                <a:latin typeface="Arial"/>
                <a:ea typeface="Inter"/>
              </a:rPr>
              <a:t>OpenStack adds a second, disparate imperative API. It does not converge with the existing K8s GitOps lifecycle.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Google Shape;184;p16" descr=""/>
          <p:cNvPicPr/>
          <p:nvPr/>
        </p:nvPicPr>
        <p:blipFill>
          <a:blip r:embed="rId4"/>
          <a:stretch/>
        </p:blipFill>
        <p:spPr>
          <a:xfrm>
            <a:off x="1642320" y="606960"/>
            <a:ext cx="642240" cy="686880"/>
          </a:xfrm>
          <a:prstGeom prst="rect">
            <a:avLst/>
          </a:prstGeom>
          <a:ln w="0">
            <a:noFill/>
          </a:ln>
        </p:spPr>
      </p:pic>
      <p:sp>
        <p:nvSpPr>
          <p:cNvPr id="99" name="Google Shape;186;p16"/>
          <p:cNvSpPr/>
          <p:nvPr/>
        </p:nvSpPr>
        <p:spPr>
          <a:xfrm rot="20193000">
            <a:off x="5795280" y="3217680"/>
            <a:ext cx="4838040" cy="743400"/>
          </a:xfrm>
          <a:prstGeom prst="rect">
            <a:avLst/>
          </a:prstGeom>
          <a:noFill/>
          <a:ln w="0">
            <a:noFill/>
          </a:ln>
          <a:effectLst>
            <a:outerShdw algn="bl" blurRad="57240" dir="5400000" dist="19080" rotWithShape="0">
              <a:srgbClr val="00000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15000"/>
              </a:lnSpc>
              <a:spcAft>
                <a:spcPts val="400"/>
              </a:spcAft>
              <a:tabLst>
                <a:tab algn="l" pos="0"/>
              </a:tabLst>
            </a:pPr>
            <a:r>
              <a:rPr b="1" lang="en-US" sz="3200" spc="-1" strike="noStrike">
                <a:solidFill>
                  <a:srgbClr val="ef4444"/>
                </a:solidFill>
                <a:latin typeface="Outfit ExtraBold"/>
                <a:ea typeface="Outfit ExtraBold"/>
              </a:rPr>
              <a:t>POC  ABORTED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/>
          <p:nvPr/>
        </p:nvSpPr>
        <p:spPr>
          <a:xfrm>
            <a:off x="7086600" y="550440"/>
            <a:ext cx="2131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tabLst>
                <a:tab algn="l" pos="0"/>
              </a:tabLst>
            </a:pPr>
            <a:fld id="{AB1523EA-D0A7-4F41-9E20-B36AEEC558A8}" type="slidenum">
              <a:rPr b="0" lang="en-US" sz="1200" spc="-1" strike="noStrike">
                <a:solidFill>
                  <a:srgbClr val="888888"/>
                </a:solidFill>
                <a:latin typeface="Calibri"/>
                <a:ea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4114800" y="5733360"/>
            <a:ext cx="5485680" cy="45648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66;p 3"/>
          <p:cNvSpPr/>
          <p:nvPr/>
        </p:nvSpPr>
        <p:spPr>
          <a:xfrm>
            <a:off x="5791320" y="5842080"/>
            <a:ext cx="358056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f8fafc"/>
                </a:solidFill>
                <a:latin typeface="Arial"/>
                <a:ea typeface="Inter"/>
              </a:rPr>
              <a:t>We needed a radically simpler alternative.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Google Shape;166;p 4"/>
          <p:cNvSpPr/>
          <p:nvPr/>
        </p:nvSpPr>
        <p:spPr>
          <a:xfrm>
            <a:off x="4876920" y="5842080"/>
            <a:ext cx="685080" cy="21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38bdf8"/>
                </a:solidFill>
                <a:latin typeface="Arial"/>
                <a:ea typeface="Inter"/>
              </a:rPr>
              <a:t>Verdict: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4" name="Google Shape;185;p16" descr=""/>
          <p:cNvPicPr/>
          <p:nvPr/>
        </p:nvPicPr>
        <p:blipFill>
          <a:blip r:embed="rId5"/>
          <a:srcRect l="18671" t="18154" r="29825" b="18476"/>
          <a:stretch/>
        </p:blipFill>
        <p:spPr>
          <a:xfrm>
            <a:off x="4474080" y="5806080"/>
            <a:ext cx="325800" cy="300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93;p17" descr="image.png"/>
          <p:cNvPicPr/>
          <p:nvPr/>
        </p:nvPicPr>
        <p:blipFill>
          <a:blip r:embed="rId2"/>
          <a:stretch/>
        </p:blipFill>
        <p:spPr>
          <a:xfrm>
            <a:off x="6382080" y="2081160"/>
            <a:ext cx="5227560" cy="3808080"/>
          </a:xfrm>
          <a:prstGeom prst="rect">
            <a:avLst/>
          </a:prstGeom>
          <a:ln w="0">
            <a:noFill/>
          </a:ln>
        </p:spPr>
      </p:pic>
      <p:sp>
        <p:nvSpPr>
          <p:cNvPr id="106" name="Google Shape;194;p17"/>
          <p:cNvSpPr/>
          <p:nvPr/>
        </p:nvSpPr>
        <p:spPr>
          <a:xfrm>
            <a:off x="58140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Kubernetes</a:t>
            </a: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 Hypothesis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195;p17"/>
          <p:cNvSpPr/>
          <p:nvPr/>
        </p:nvSpPr>
        <p:spPr>
          <a:xfrm>
            <a:off x="58140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97;p17"/>
          <p:cNvSpPr/>
          <p:nvPr/>
        </p:nvSpPr>
        <p:spPr>
          <a:xfrm>
            <a:off x="914760" y="1828800"/>
            <a:ext cx="4894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10b981"/>
                </a:solidFill>
                <a:latin typeface="Arial"/>
                <a:ea typeface="Inter"/>
              </a:rPr>
              <a:t>KubeVirt Engine:</a:t>
            </a:r>
            <a:r>
              <a:rPr b="0" lang="en-US" sz="1800" spc="-1" strike="noStrike">
                <a:solidFill>
                  <a:srgbClr val="cbd5e1"/>
                </a:solidFill>
                <a:latin typeface="Arial"/>
                <a:ea typeface="Inter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Inter"/>
              </a:rPr>
              <a:t>The ability to run a Virtual Machine natively inside a Pod was the exact paradigm shift needed.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Google Shape;198;p17"/>
          <p:cNvSpPr/>
          <p:nvPr/>
        </p:nvSpPr>
        <p:spPr>
          <a:xfrm>
            <a:off x="914760" y="3520440"/>
            <a:ext cx="4894200" cy="8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ef4444"/>
                </a:solidFill>
                <a:latin typeface="Arial"/>
                <a:ea typeface="Inter"/>
              </a:rPr>
              <a:t>The Catch:</a:t>
            </a:r>
            <a:r>
              <a:rPr b="0" lang="en-US" sz="1800" spc="-1" strike="noStrike">
                <a:solidFill>
                  <a:srgbClr val="cbd5e1"/>
                </a:solidFill>
                <a:latin typeface="Arial"/>
                <a:ea typeface="Inter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Inter"/>
              </a:rPr>
              <a:t>KubeVirt is an incredible engine, but it is not a complete platform.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Google Shape;199;p17"/>
          <p:cNvSpPr/>
          <p:nvPr/>
        </p:nvSpPr>
        <p:spPr>
          <a:xfrm>
            <a:off x="914760" y="4809600"/>
            <a:ext cx="48942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0000e3"/>
                </a:solidFill>
                <a:latin typeface="Arial"/>
                <a:ea typeface="Inter"/>
              </a:rPr>
              <a:t>Enterprise Requirements:</a:t>
            </a:r>
            <a:r>
              <a:rPr b="1" lang="en-US" sz="1800" spc="-1" strike="noStrike">
                <a:solidFill>
                  <a:srgbClr val="f8fafc"/>
                </a:solidFill>
                <a:latin typeface="Arial"/>
                <a:ea typeface="Inter"/>
              </a:rPr>
              <a:t>:</a:t>
            </a:r>
            <a:r>
              <a:rPr b="0" lang="en-US" sz="1800" spc="-1" strike="noStrike">
                <a:solidFill>
                  <a:srgbClr val="cbd5e1"/>
                </a:solidFill>
                <a:latin typeface="Arial"/>
                <a:ea typeface="Inter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Inter"/>
              </a:rPr>
              <a:t>Building a Cloud means solving multi-tenancy, strict isolation, and providing intuitive self-service.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1" name="Google Shape;200;p17" descr=""/>
          <p:cNvPicPr/>
          <p:nvPr/>
        </p:nvPicPr>
        <p:blipFill>
          <a:blip r:embed="rId3"/>
          <a:srcRect l="0" t="425" r="0" b="425"/>
          <a:stretch/>
        </p:blipFill>
        <p:spPr>
          <a:xfrm>
            <a:off x="6391800" y="2090880"/>
            <a:ext cx="5208480" cy="378900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201;p17" descr="image.png"/>
          <p:cNvPicPr/>
          <p:nvPr/>
        </p:nvPicPr>
        <p:blipFill>
          <a:blip r:embed="rId4"/>
          <a:stretch/>
        </p:blipFill>
        <p:spPr>
          <a:xfrm>
            <a:off x="585360" y="2057400"/>
            <a:ext cx="112680" cy="122040"/>
          </a:xfrm>
          <a:prstGeom prst="rect">
            <a:avLst/>
          </a:prstGeom>
          <a:ln w="0">
            <a:noFill/>
          </a:ln>
        </p:spPr>
      </p:pic>
      <p:pic>
        <p:nvPicPr>
          <p:cNvPr id="113" name="Google Shape;202;p17" descr="image.png"/>
          <p:cNvPicPr/>
          <p:nvPr/>
        </p:nvPicPr>
        <p:blipFill>
          <a:blip r:embed="rId5"/>
          <a:stretch/>
        </p:blipFill>
        <p:spPr>
          <a:xfrm>
            <a:off x="581400" y="3749040"/>
            <a:ext cx="112680" cy="122040"/>
          </a:xfrm>
          <a:prstGeom prst="rect">
            <a:avLst/>
          </a:prstGeom>
          <a:ln w="0">
            <a:noFill/>
          </a:ln>
        </p:spPr>
      </p:pic>
      <p:pic>
        <p:nvPicPr>
          <p:cNvPr id="114" name="Google Shape;203;p17" descr="image.png"/>
          <p:cNvPicPr/>
          <p:nvPr/>
        </p:nvPicPr>
        <p:blipFill>
          <a:blip r:embed="rId6"/>
          <a:stretch/>
        </p:blipFill>
        <p:spPr>
          <a:xfrm>
            <a:off x="581400" y="5047560"/>
            <a:ext cx="112680" cy="122040"/>
          </a:xfrm>
          <a:prstGeom prst="rect">
            <a:avLst/>
          </a:prstGeom>
          <a:ln w="0">
            <a:noFill/>
          </a:ln>
        </p:spPr>
      </p:pic>
      <p:sp>
        <p:nvSpPr>
          <p:cNvPr id="115" name="Google Shape;177;p 1"/>
          <p:cNvSpPr/>
          <p:nvPr/>
        </p:nvSpPr>
        <p:spPr>
          <a:xfrm>
            <a:off x="571680" y="1349280"/>
            <a:ext cx="1104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Urbanist"/>
                <a:ea typeface="Urbanist"/>
              </a:rPr>
              <a:t>SHIFT TO WHAT WE LOVE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89;p18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117" name="Google Shape;210;p18"/>
          <p:cNvSpPr/>
          <p:nvPr/>
        </p:nvSpPr>
        <p:spPr>
          <a:xfrm>
            <a:off x="58104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 Market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Evaluation</a:t>
            </a:r>
            <a:r>
              <a:rPr b="1" lang="en-US" sz="3200" spc="-1" strike="noStrike">
                <a:solidFill>
                  <a:srgbClr val="00008b"/>
                </a:solidFill>
                <a:latin typeface="Outfit"/>
                <a:ea typeface="Outfit"/>
              </a:rPr>
              <a:t> </a:t>
            </a:r>
            <a:r>
              <a:rPr b="1" lang="en-US" sz="3600" spc="-1" strike="noStrike">
                <a:solidFill>
                  <a:srgbClr val="00008b"/>
                </a:solidFill>
                <a:latin typeface="Outfit"/>
                <a:ea typeface="Outfit"/>
              </a:rPr>
              <a:t>(opinionated)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211;p18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212;p 1"/>
          <p:cNvSpPr/>
          <p:nvPr/>
        </p:nvSpPr>
        <p:spPr>
          <a:xfrm>
            <a:off x="571680" y="1349280"/>
            <a:ext cx="11047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708090"/>
                </a:solidFill>
                <a:latin typeface="Urbanist"/>
                <a:ea typeface="Urbanist"/>
              </a:rPr>
              <a:t>ARCHITECTURAL LANDSCAPE ANALYSIS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Google Shape;213;p18" descr="image.png"/>
          <p:cNvPicPr/>
          <p:nvPr/>
        </p:nvPicPr>
        <p:blipFill>
          <a:blip r:embed="rId3"/>
          <a:stretch/>
        </p:blipFill>
        <p:spPr>
          <a:xfrm>
            <a:off x="883800" y="1686960"/>
            <a:ext cx="4927320" cy="522360"/>
          </a:xfrm>
          <a:prstGeom prst="rect">
            <a:avLst/>
          </a:prstGeom>
          <a:ln w="0">
            <a:noFill/>
          </a:ln>
        </p:spPr>
      </p:pic>
      <p:pic>
        <p:nvPicPr>
          <p:cNvPr id="121" name="Google Shape;214;p18" descr="image.png"/>
          <p:cNvPicPr/>
          <p:nvPr/>
        </p:nvPicPr>
        <p:blipFill>
          <a:blip r:embed="rId4"/>
          <a:stretch/>
        </p:blipFill>
        <p:spPr>
          <a:xfrm>
            <a:off x="883800" y="2352960"/>
            <a:ext cx="4927320" cy="1864080"/>
          </a:xfrm>
          <a:prstGeom prst="rect">
            <a:avLst/>
          </a:prstGeom>
          <a:ln w="0">
            <a:noFill/>
          </a:ln>
        </p:spPr>
      </p:pic>
      <p:pic>
        <p:nvPicPr>
          <p:cNvPr id="122" name="Google Shape;215;p18" descr="image.png"/>
          <p:cNvPicPr/>
          <p:nvPr/>
        </p:nvPicPr>
        <p:blipFill>
          <a:blip r:embed="rId5"/>
          <a:stretch/>
        </p:blipFill>
        <p:spPr>
          <a:xfrm>
            <a:off x="883800" y="4409280"/>
            <a:ext cx="4927320" cy="1864080"/>
          </a:xfrm>
          <a:prstGeom prst="rect">
            <a:avLst/>
          </a:prstGeom>
          <a:ln w="0">
            <a:noFill/>
          </a:ln>
        </p:spPr>
      </p:pic>
      <p:pic>
        <p:nvPicPr>
          <p:cNvPr id="123" name="Google Shape;216;p18" descr="image.png"/>
          <p:cNvPicPr/>
          <p:nvPr/>
        </p:nvPicPr>
        <p:blipFill>
          <a:blip r:embed="rId6"/>
          <a:stretch/>
        </p:blipFill>
        <p:spPr>
          <a:xfrm>
            <a:off x="6407280" y="1686960"/>
            <a:ext cx="4927320" cy="522360"/>
          </a:xfrm>
          <a:prstGeom prst="rect">
            <a:avLst/>
          </a:prstGeom>
          <a:ln w="0">
            <a:noFill/>
          </a:ln>
        </p:spPr>
      </p:pic>
      <p:pic>
        <p:nvPicPr>
          <p:cNvPr id="124" name="Google Shape;217;p18" descr="image.png"/>
          <p:cNvPicPr/>
          <p:nvPr/>
        </p:nvPicPr>
        <p:blipFill>
          <a:blip r:embed="rId7"/>
          <a:stretch/>
        </p:blipFill>
        <p:spPr>
          <a:xfrm>
            <a:off x="6407280" y="2352960"/>
            <a:ext cx="4927320" cy="1864080"/>
          </a:xfrm>
          <a:prstGeom prst="rect">
            <a:avLst/>
          </a:prstGeom>
          <a:ln w="0">
            <a:noFill/>
          </a:ln>
        </p:spPr>
      </p:pic>
      <p:pic>
        <p:nvPicPr>
          <p:cNvPr id="125" name="Google Shape;218;p18" descr="image.png"/>
          <p:cNvPicPr/>
          <p:nvPr/>
        </p:nvPicPr>
        <p:blipFill>
          <a:blip r:embed="rId8"/>
          <a:stretch/>
        </p:blipFill>
        <p:spPr>
          <a:xfrm>
            <a:off x="6407280" y="4409280"/>
            <a:ext cx="4927320" cy="1864080"/>
          </a:xfrm>
          <a:prstGeom prst="rect">
            <a:avLst/>
          </a:prstGeom>
          <a:ln w="0">
            <a:noFill/>
          </a:ln>
        </p:spPr>
      </p:pic>
      <p:pic>
        <p:nvPicPr>
          <p:cNvPr id="126" name="Google Shape;219;p18" descr="image.png"/>
          <p:cNvPicPr/>
          <p:nvPr/>
        </p:nvPicPr>
        <p:blipFill>
          <a:blip r:embed="rId9"/>
          <a:stretch/>
        </p:blipFill>
        <p:spPr>
          <a:xfrm>
            <a:off x="1143720" y="3591360"/>
            <a:ext cx="4407840" cy="593640"/>
          </a:xfrm>
          <a:prstGeom prst="rect">
            <a:avLst/>
          </a:prstGeom>
          <a:ln w="0">
            <a:noFill/>
          </a:ln>
        </p:spPr>
      </p:pic>
      <p:pic>
        <p:nvPicPr>
          <p:cNvPr id="127" name="Google Shape;220;p18" descr="image.png"/>
          <p:cNvPicPr/>
          <p:nvPr/>
        </p:nvPicPr>
        <p:blipFill>
          <a:blip r:embed="rId10"/>
          <a:stretch/>
        </p:blipFill>
        <p:spPr>
          <a:xfrm>
            <a:off x="1143720" y="5647680"/>
            <a:ext cx="4407840" cy="593640"/>
          </a:xfrm>
          <a:prstGeom prst="rect">
            <a:avLst/>
          </a:prstGeom>
          <a:ln w="0">
            <a:noFill/>
          </a:ln>
        </p:spPr>
      </p:pic>
      <p:pic>
        <p:nvPicPr>
          <p:cNvPr id="128" name="Google Shape;221;p18" descr="image.png"/>
          <p:cNvPicPr/>
          <p:nvPr/>
        </p:nvPicPr>
        <p:blipFill>
          <a:blip r:embed="rId11"/>
          <a:stretch/>
        </p:blipFill>
        <p:spPr>
          <a:xfrm>
            <a:off x="6667200" y="3591360"/>
            <a:ext cx="4407840" cy="593640"/>
          </a:xfrm>
          <a:prstGeom prst="rect">
            <a:avLst/>
          </a:prstGeom>
          <a:ln w="0">
            <a:noFill/>
          </a:ln>
        </p:spPr>
      </p:pic>
      <p:pic>
        <p:nvPicPr>
          <p:cNvPr id="129" name="Google Shape;222;p18" descr="image.png"/>
          <p:cNvPicPr/>
          <p:nvPr/>
        </p:nvPicPr>
        <p:blipFill>
          <a:blip r:embed="rId12"/>
          <a:stretch/>
        </p:blipFill>
        <p:spPr>
          <a:xfrm>
            <a:off x="6667200" y="5647680"/>
            <a:ext cx="4407840" cy="593640"/>
          </a:xfrm>
          <a:prstGeom prst="rect">
            <a:avLst/>
          </a:prstGeom>
          <a:ln w="0">
            <a:noFill/>
          </a:ln>
        </p:spPr>
      </p:pic>
      <p:pic>
        <p:nvPicPr>
          <p:cNvPr id="130" name="Google Shape;223;p18" descr="image.png"/>
          <p:cNvPicPr/>
          <p:nvPr/>
        </p:nvPicPr>
        <p:blipFill>
          <a:blip r:embed="rId13"/>
          <a:stretch/>
        </p:blipFill>
        <p:spPr>
          <a:xfrm>
            <a:off x="946080" y="1845720"/>
            <a:ext cx="222120" cy="204480"/>
          </a:xfrm>
          <a:prstGeom prst="rect">
            <a:avLst/>
          </a:prstGeom>
          <a:ln w="0">
            <a:noFill/>
          </a:ln>
        </p:spPr>
      </p:pic>
      <p:sp>
        <p:nvSpPr>
          <p:cNvPr id="131" name="Google Shape;224;p18"/>
          <p:cNvSpPr/>
          <p:nvPr/>
        </p:nvSpPr>
        <p:spPr>
          <a:xfrm>
            <a:off x="1143720" y="3020040"/>
            <a:ext cx="440784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40" spc="-1" strike="noStrike">
                <a:solidFill>
                  <a:srgbClr val="94a3b8"/>
                </a:solidFill>
                <a:latin typeface="Lato"/>
                <a:ea typeface="Lato"/>
              </a:rPr>
              <a:t>IBM-backed K8s stack. </a:t>
            </a:r>
            <a:r>
              <a:rPr b="0" lang="en-US" sz="1280" spc="-1" strike="noStrike">
                <a:solidFill>
                  <a:srgbClr val="94a3b8"/>
                </a:solidFill>
                <a:latin typeface="Lato"/>
                <a:ea typeface="Lato"/>
              </a:rPr>
              <a:t>Enterprise-grade but </a:t>
            </a:r>
            <a:r>
              <a:rPr b="0" lang="en-US" sz="1340" spc="-1" strike="noStrike">
                <a:solidFill>
                  <a:srgbClr val="94a3b8"/>
                </a:solidFill>
                <a:latin typeface="Lato"/>
                <a:ea typeface="Lato"/>
              </a:rPr>
              <a:t>high-cost per-core. Control plane is a proprietary "Black Box".</a:t>
            </a:r>
            <a:endParaRPr b="0" lang="en-US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225;p18"/>
          <p:cNvSpPr/>
          <p:nvPr/>
        </p:nvSpPr>
        <p:spPr>
          <a:xfrm>
            <a:off x="1143720" y="5076360"/>
            <a:ext cx="440784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40" spc="-1" strike="noStrike">
                <a:solidFill>
                  <a:srgbClr val="94a3b8"/>
                </a:solidFill>
                <a:latin typeface="Lato"/>
                <a:ea typeface="Lato"/>
              </a:rPr>
              <a:t>Hyper-converged leader. </a:t>
            </a:r>
            <a:r>
              <a:rPr b="0" lang="en-US" sz="1280" spc="-1" strike="noStrike">
                <a:solidFill>
                  <a:srgbClr val="94a3b8"/>
                </a:solidFill>
                <a:latin typeface="Lato"/>
                <a:ea typeface="Lato"/>
              </a:rPr>
              <a:t>Strong HCI ecosystem, </a:t>
            </a:r>
            <a:r>
              <a:rPr b="0" lang="en-US" sz="1340" spc="-1" strike="noStrike">
                <a:solidFill>
                  <a:srgbClr val="94a3b8"/>
                </a:solidFill>
                <a:latin typeface="Lato"/>
                <a:ea typeface="Lato"/>
              </a:rPr>
              <a:t>locked into AOS storage and specific proprietary hardware lifecycles.</a:t>
            </a:r>
            <a:endParaRPr b="0" lang="en-US" sz="134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3" name="Google Shape;226;p18" descr="image.png"/>
          <p:cNvPicPr/>
          <p:nvPr/>
        </p:nvPicPr>
        <p:blipFill>
          <a:blip r:embed="rId14"/>
          <a:stretch/>
        </p:blipFill>
        <p:spPr>
          <a:xfrm>
            <a:off x="6500880" y="1845720"/>
            <a:ext cx="222120" cy="204480"/>
          </a:xfrm>
          <a:prstGeom prst="rect">
            <a:avLst/>
          </a:prstGeom>
          <a:ln w="0">
            <a:noFill/>
          </a:ln>
        </p:spPr>
      </p:pic>
      <p:sp>
        <p:nvSpPr>
          <p:cNvPr id="134" name="Google Shape;227;p18"/>
          <p:cNvSpPr/>
          <p:nvPr/>
        </p:nvSpPr>
        <p:spPr>
          <a:xfrm>
            <a:off x="6667200" y="3020040"/>
            <a:ext cx="440784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40" spc="-1" strike="noStrike">
                <a:solidFill>
                  <a:srgbClr val="94a3b8"/>
                </a:solidFill>
                <a:latin typeface="Lato"/>
                <a:ea typeface="Lato"/>
              </a:rPr>
              <a:t>Stable KVM hypervisor. Lacks native K8s reconciliation loop and declarative GitOps state.</a:t>
            </a:r>
            <a:endParaRPr b="0" lang="en-US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Google Shape;228;p18"/>
          <p:cNvSpPr/>
          <p:nvPr/>
        </p:nvSpPr>
        <p:spPr>
          <a:xfrm>
            <a:off x="6667200" y="5076360"/>
            <a:ext cx="4407840" cy="4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40" spc="-1" strike="noStrike">
                <a:solidFill>
                  <a:srgbClr val="94a3b8"/>
                </a:solidFill>
                <a:latin typeface="Lato"/>
                <a:ea typeface="Lato"/>
              </a:rPr>
              <a:t>Converged K8s+VM. Storage layers (Longhorn) struggle with Tier-1 DB latency and high-IOPS targets.</a:t>
            </a:r>
            <a:endParaRPr b="0" lang="en-US" sz="134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Google Shape;229;p18"/>
          <p:cNvSpPr/>
          <p:nvPr/>
        </p:nvSpPr>
        <p:spPr>
          <a:xfrm>
            <a:off x="1143720" y="2583360"/>
            <a:ext cx="3198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OpenShift Virt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7" name="Google Shape;230;p18" descr="image.png"/>
          <p:cNvPicPr/>
          <p:nvPr/>
        </p:nvPicPr>
        <p:blipFill>
          <a:blip r:embed="rId15"/>
          <a:stretch/>
        </p:blipFill>
        <p:spPr>
          <a:xfrm>
            <a:off x="5320080" y="2642760"/>
            <a:ext cx="231120" cy="204480"/>
          </a:xfrm>
          <a:prstGeom prst="rect">
            <a:avLst/>
          </a:prstGeom>
          <a:ln w="0">
            <a:noFill/>
          </a:ln>
        </p:spPr>
      </p:pic>
      <p:sp>
        <p:nvSpPr>
          <p:cNvPr id="138" name="Google Shape;231;p18"/>
          <p:cNvSpPr/>
          <p:nvPr/>
        </p:nvSpPr>
        <p:spPr>
          <a:xfrm>
            <a:off x="1143720" y="4639680"/>
            <a:ext cx="2969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Nutanix AHV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Google Shape;232;p18" descr="image.png"/>
          <p:cNvPicPr/>
          <p:nvPr/>
        </p:nvPicPr>
        <p:blipFill>
          <a:blip r:embed="rId16"/>
          <a:stretch/>
        </p:blipFill>
        <p:spPr>
          <a:xfrm>
            <a:off x="5347080" y="4699080"/>
            <a:ext cx="204480" cy="20448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233;p18"/>
          <p:cNvSpPr/>
          <p:nvPr/>
        </p:nvSpPr>
        <p:spPr>
          <a:xfrm>
            <a:off x="6667200" y="2583360"/>
            <a:ext cx="24753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Proxmox VE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1" name="Google Shape;234;p18" descr="image.png"/>
          <p:cNvPicPr/>
          <p:nvPr/>
        </p:nvPicPr>
        <p:blipFill>
          <a:blip r:embed="rId17"/>
          <a:stretch/>
        </p:blipFill>
        <p:spPr>
          <a:xfrm>
            <a:off x="10816560" y="2642760"/>
            <a:ext cx="258120" cy="204480"/>
          </a:xfrm>
          <a:prstGeom prst="rect">
            <a:avLst/>
          </a:prstGeom>
          <a:ln w="0">
            <a:noFill/>
          </a:ln>
        </p:spPr>
      </p:pic>
      <p:sp>
        <p:nvSpPr>
          <p:cNvPr id="142" name="Google Shape;235;p18"/>
          <p:cNvSpPr/>
          <p:nvPr/>
        </p:nvSpPr>
        <p:spPr>
          <a:xfrm>
            <a:off x="6667200" y="4639680"/>
            <a:ext cx="2018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Urbanist"/>
                <a:ea typeface="Urbanist"/>
              </a:rPr>
              <a:t>Harvester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3" name="Google Shape;236;p18" descr="image.png"/>
          <p:cNvPicPr/>
          <p:nvPr/>
        </p:nvPicPr>
        <p:blipFill>
          <a:blip r:embed="rId18"/>
          <a:stretch/>
        </p:blipFill>
        <p:spPr>
          <a:xfrm>
            <a:off x="10843560" y="4699080"/>
            <a:ext cx="231120" cy="20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96;p19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145" name="Google Shape;257;p20"/>
          <p:cNvSpPr/>
          <p:nvPr/>
        </p:nvSpPr>
        <p:spPr>
          <a:xfrm>
            <a:off x="58104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Unified Architecture: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CozyStack Deep Dive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6" name="Google Shape;259;p20" descr="image.png"/>
          <p:cNvPicPr/>
          <p:nvPr/>
        </p:nvPicPr>
        <p:blipFill>
          <a:blip r:embed="rId3">
            <a:lum bright="70000" contrast="-70000"/>
          </a:blip>
          <a:stretch/>
        </p:blipFill>
        <p:spPr>
          <a:xfrm>
            <a:off x="571680" y="1295280"/>
            <a:ext cx="11047320" cy="1368360"/>
          </a:xfrm>
          <a:prstGeom prst="rect">
            <a:avLst/>
          </a:prstGeom>
          <a:ln w="0">
            <a:noFill/>
          </a:ln>
        </p:spPr>
      </p:pic>
      <p:pic>
        <p:nvPicPr>
          <p:cNvPr id="147" name="Google Shape;260;p20" descr="image.png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571680" y="2727000"/>
            <a:ext cx="11047320" cy="1368360"/>
          </a:xfrm>
          <a:prstGeom prst="rect">
            <a:avLst/>
          </a:prstGeom>
          <a:ln w="0">
            <a:noFill/>
          </a:ln>
        </p:spPr>
      </p:pic>
      <p:pic>
        <p:nvPicPr>
          <p:cNvPr id="148" name="Google Shape;261;p20" descr="image.png"/>
          <p:cNvPicPr/>
          <p:nvPr/>
        </p:nvPicPr>
        <p:blipFill>
          <a:blip r:embed="rId5">
            <a:lum bright="70000" contrast="-70000"/>
          </a:blip>
          <a:stretch/>
        </p:blipFill>
        <p:spPr>
          <a:xfrm>
            <a:off x="571680" y="4219920"/>
            <a:ext cx="11047320" cy="1368360"/>
          </a:xfrm>
          <a:prstGeom prst="rect">
            <a:avLst/>
          </a:prstGeom>
          <a:ln w="0">
            <a:noFill/>
          </a:ln>
        </p:spPr>
      </p:pic>
      <p:pic>
        <p:nvPicPr>
          <p:cNvPr id="149" name="Google Shape;262;p20" descr="image.png"/>
          <p:cNvPicPr/>
          <p:nvPr/>
        </p:nvPicPr>
        <p:blipFill>
          <a:blip r:embed="rId6"/>
          <a:stretch/>
        </p:blipFill>
        <p:spPr>
          <a:xfrm>
            <a:off x="571680" y="5712840"/>
            <a:ext cx="11047320" cy="590400"/>
          </a:xfrm>
          <a:prstGeom prst="rect">
            <a:avLst/>
          </a:prstGeom>
          <a:ln w="0">
            <a:noFill/>
          </a:ln>
        </p:spPr>
      </p:pic>
      <p:pic>
        <p:nvPicPr>
          <p:cNvPr id="150" name="Google Shape;263;p20" descr="image.png"/>
          <p:cNvPicPr/>
          <p:nvPr/>
        </p:nvPicPr>
        <p:blipFill>
          <a:blip r:embed="rId7"/>
          <a:stretch/>
        </p:blipFill>
        <p:spPr>
          <a:xfrm>
            <a:off x="781200" y="1587600"/>
            <a:ext cx="3414600" cy="883800"/>
          </a:xfrm>
          <a:prstGeom prst="rect">
            <a:avLst/>
          </a:prstGeom>
          <a:ln w="0">
            <a:noFill/>
          </a:ln>
        </p:spPr>
      </p:pic>
      <p:pic>
        <p:nvPicPr>
          <p:cNvPr id="151" name="Google Shape;264;p20" descr="image.png"/>
          <p:cNvPicPr/>
          <p:nvPr/>
        </p:nvPicPr>
        <p:blipFill>
          <a:blip r:embed="rId8"/>
          <a:stretch/>
        </p:blipFill>
        <p:spPr>
          <a:xfrm>
            <a:off x="4388040" y="1587600"/>
            <a:ext cx="3414600" cy="883800"/>
          </a:xfrm>
          <a:prstGeom prst="rect">
            <a:avLst/>
          </a:prstGeom>
          <a:ln w="0">
            <a:noFill/>
          </a:ln>
        </p:spPr>
      </p:pic>
      <p:pic>
        <p:nvPicPr>
          <p:cNvPr id="152" name="Google Shape;265;p20" descr="image.png"/>
          <p:cNvPicPr/>
          <p:nvPr/>
        </p:nvPicPr>
        <p:blipFill>
          <a:blip r:embed="rId9"/>
          <a:stretch/>
        </p:blipFill>
        <p:spPr>
          <a:xfrm>
            <a:off x="7994880" y="1587600"/>
            <a:ext cx="3414600" cy="883800"/>
          </a:xfrm>
          <a:prstGeom prst="rect">
            <a:avLst/>
          </a:prstGeom>
          <a:ln w="0">
            <a:noFill/>
          </a:ln>
        </p:spPr>
      </p:pic>
      <p:pic>
        <p:nvPicPr>
          <p:cNvPr id="153" name="Google Shape;266;p20" descr="image.png"/>
          <p:cNvPicPr/>
          <p:nvPr/>
        </p:nvPicPr>
        <p:blipFill>
          <a:blip r:embed="rId10"/>
          <a:stretch/>
        </p:blipFill>
        <p:spPr>
          <a:xfrm>
            <a:off x="781200" y="3080520"/>
            <a:ext cx="2512800" cy="883800"/>
          </a:xfrm>
          <a:prstGeom prst="rect">
            <a:avLst/>
          </a:prstGeom>
          <a:ln w="0">
            <a:noFill/>
          </a:ln>
        </p:spPr>
      </p:pic>
      <p:pic>
        <p:nvPicPr>
          <p:cNvPr id="154" name="Google Shape;267;p20" descr="image.png"/>
          <p:cNvPicPr/>
          <p:nvPr/>
        </p:nvPicPr>
        <p:blipFill>
          <a:blip r:embed="rId11"/>
          <a:stretch/>
        </p:blipFill>
        <p:spPr>
          <a:xfrm>
            <a:off x="3486240" y="3080520"/>
            <a:ext cx="2512800" cy="883800"/>
          </a:xfrm>
          <a:prstGeom prst="rect">
            <a:avLst/>
          </a:prstGeom>
          <a:ln w="0">
            <a:noFill/>
          </a:ln>
        </p:spPr>
      </p:pic>
      <p:pic>
        <p:nvPicPr>
          <p:cNvPr id="155" name="Google Shape;268;p20" descr="image.png"/>
          <p:cNvPicPr/>
          <p:nvPr/>
        </p:nvPicPr>
        <p:blipFill>
          <a:blip r:embed="rId12"/>
          <a:stretch/>
        </p:blipFill>
        <p:spPr>
          <a:xfrm>
            <a:off x="6191280" y="3080520"/>
            <a:ext cx="2512800" cy="883800"/>
          </a:xfrm>
          <a:prstGeom prst="rect">
            <a:avLst/>
          </a:prstGeom>
          <a:ln w="0">
            <a:noFill/>
          </a:ln>
        </p:spPr>
      </p:pic>
      <p:pic>
        <p:nvPicPr>
          <p:cNvPr id="156" name="Google Shape;269;p20" descr="image.png"/>
          <p:cNvPicPr/>
          <p:nvPr/>
        </p:nvPicPr>
        <p:blipFill>
          <a:blip r:embed="rId13"/>
          <a:stretch/>
        </p:blipFill>
        <p:spPr>
          <a:xfrm>
            <a:off x="8896320" y="3080520"/>
            <a:ext cx="2512800" cy="883800"/>
          </a:xfrm>
          <a:prstGeom prst="rect">
            <a:avLst/>
          </a:prstGeom>
          <a:ln w="0">
            <a:noFill/>
          </a:ln>
        </p:spPr>
      </p:pic>
      <p:pic>
        <p:nvPicPr>
          <p:cNvPr id="157" name="Google Shape;270;p20" descr="image.png"/>
          <p:cNvPicPr/>
          <p:nvPr/>
        </p:nvPicPr>
        <p:blipFill>
          <a:blip r:embed="rId14"/>
          <a:stretch/>
        </p:blipFill>
        <p:spPr>
          <a:xfrm>
            <a:off x="781200" y="4573440"/>
            <a:ext cx="3414600" cy="883800"/>
          </a:xfrm>
          <a:prstGeom prst="rect">
            <a:avLst/>
          </a:prstGeom>
          <a:ln w="0">
            <a:noFill/>
          </a:ln>
        </p:spPr>
      </p:pic>
      <p:pic>
        <p:nvPicPr>
          <p:cNvPr id="158" name="Google Shape;271;p20" descr="image.png"/>
          <p:cNvPicPr/>
          <p:nvPr/>
        </p:nvPicPr>
        <p:blipFill>
          <a:blip r:embed="rId15"/>
          <a:stretch/>
        </p:blipFill>
        <p:spPr>
          <a:xfrm>
            <a:off x="4388040" y="4573440"/>
            <a:ext cx="3414600" cy="883800"/>
          </a:xfrm>
          <a:prstGeom prst="rect">
            <a:avLst/>
          </a:prstGeom>
          <a:ln w="0">
            <a:noFill/>
          </a:ln>
        </p:spPr>
      </p:pic>
      <p:pic>
        <p:nvPicPr>
          <p:cNvPr id="159" name="Google Shape;272;p20" descr="image.png"/>
          <p:cNvPicPr/>
          <p:nvPr/>
        </p:nvPicPr>
        <p:blipFill>
          <a:blip r:embed="rId16"/>
          <a:stretch/>
        </p:blipFill>
        <p:spPr>
          <a:xfrm>
            <a:off x="7994880" y="4573440"/>
            <a:ext cx="3414600" cy="883800"/>
          </a:xfrm>
          <a:prstGeom prst="rect">
            <a:avLst/>
          </a:prstGeom>
          <a:ln w="0">
            <a:noFill/>
          </a:ln>
        </p:spPr>
      </p:pic>
      <p:sp>
        <p:nvSpPr>
          <p:cNvPr id="160" name="Google Shape;274;p20"/>
          <p:cNvSpPr/>
          <p:nvPr/>
        </p:nvSpPr>
        <p:spPr>
          <a:xfrm>
            <a:off x="781200" y="1364400"/>
            <a:ext cx="1062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8000"/>
                </a:solidFill>
                <a:latin typeface="Arial"/>
                <a:ea typeface="Lato"/>
              </a:rPr>
              <a:t>LAYER 4: USER-SIDE SERVICES (TENANT ISOLATION)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75;p20"/>
          <p:cNvSpPr/>
          <p:nvPr/>
        </p:nvSpPr>
        <p:spPr>
          <a:xfrm>
            <a:off x="781200" y="2857680"/>
            <a:ext cx="1062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c71585"/>
                </a:solidFill>
                <a:latin typeface="Arial"/>
                <a:ea typeface="Lato"/>
              </a:rPr>
              <a:t>LAYER 3: PLATFORM SERVICES (MANAGEMENT &amp; ROUTING)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276;p20"/>
          <p:cNvSpPr/>
          <p:nvPr/>
        </p:nvSpPr>
        <p:spPr>
          <a:xfrm>
            <a:off x="781200" y="4350600"/>
            <a:ext cx="106282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00ff"/>
                </a:solidFill>
                <a:latin typeface="Arial"/>
                <a:ea typeface="Lato"/>
              </a:rPr>
              <a:t>LAYER 2: INFRASTRUCTURE SERVICES (COMPUTE, STORAGE, NETWORK)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Google Shape;278;p20" descr="image.png"/>
          <p:cNvPicPr/>
          <p:nvPr/>
        </p:nvPicPr>
        <p:blipFill>
          <a:blip r:embed="rId17"/>
          <a:stretch/>
        </p:blipFill>
        <p:spPr>
          <a:xfrm>
            <a:off x="2046240" y="5933160"/>
            <a:ext cx="217440" cy="198000"/>
          </a:xfrm>
          <a:prstGeom prst="rect">
            <a:avLst/>
          </a:prstGeom>
          <a:ln w="0">
            <a:noFill/>
          </a:ln>
        </p:spPr>
      </p:pic>
      <p:pic>
        <p:nvPicPr>
          <p:cNvPr id="164" name="Google Shape;279;p20" descr="image.png"/>
          <p:cNvPicPr/>
          <p:nvPr/>
        </p:nvPicPr>
        <p:blipFill>
          <a:blip r:embed="rId18"/>
          <a:stretch/>
        </p:blipFill>
        <p:spPr>
          <a:xfrm>
            <a:off x="2351160" y="1718280"/>
            <a:ext cx="274320" cy="198000"/>
          </a:xfrm>
          <a:prstGeom prst="rect">
            <a:avLst/>
          </a:prstGeom>
          <a:ln w="0">
            <a:noFill/>
          </a:ln>
        </p:spPr>
      </p:pic>
      <p:sp>
        <p:nvSpPr>
          <p:cNvPr id="165" name="Google Shape;280;p20"/>
          <p:cNvSpPr/>
          <p:nvPr/>
        </p:nvSpPr>
        <p:spPr>
          <a:xfrm>
            <a:off x="1499040" y="1979640"/>
            <a:ext cx="19983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Managed K8s Clusters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81;p20"/>
          <p:cNvSpPr/>
          <p:nvPr/>
        </p:nvSpPr>
        <p:spPr>
          <a:xfrm>
            <a:off x="1488960" y="2191680"/>
            <a:ext cx="19983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Managed via ClusterAPI &amp; Kamaji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Google Shape;282;p20" descr="image.png"/>
          <p:cNvPicPr/>
          <p:nvPr/>
        </p:nvPicPr>
        <p:blipFill>
          <a:blip r:embed="rId19"/>
          <a:stretch/>
        </p:blipFill>
        <p:spPr>
          <a:xfrm>
            <a:off x="5986440" y="1718280"/>
            <a:ext cx="217440" cy="198000"/>
          </a:xfrm>
          <a:prstGeom prst="rect">
            <a:avLst/>
          </a:prstGeom>
          <a:ln w="0">
            <a:noFill/>
          </a:ln>
        </p:spPr>
      </p:pic>
      <p:sp>
        <p:nvSpPr>
          <p:cNvPr id="168" name="Google Shape;283;p20"/>
          <p:cNvSpPr/>
          <p:nvPr/>
        </p:nvSpPr>
        <p:spPr>
          <a:xfrm>
            <a:off x="5460840" y="1979640"/>
            <a:ext cx="1268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Virtualization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84;p20"/>
          <p:cNvSpPr/>
          <p:nvPr/>
        </p:nvSpPr>
        <p:spPr>
          <a:xfrm>
            <a:off x="5029200" y="2191680"/>
            <a:ext cx="21319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Legacy Linux/Windows via KubeVirt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Google Shape;285;p20" descr="image.png"/>
          <p:cNvPicPr/>
          <p:nvPr/>
        </p:nvPicPr>
        <p:blipFill>
          <a:blip r:embed="rId20"/>
          <a:stretch/>
        </p:blipFill>
        <p:spPr>
          <a:xfrm>
            <a:off x="9593280" y="1718280"/>
            <a:ext cx="217440" cy="198000"/>
          </a:xfrm>
          <a:prstGeom prst="rect">
            <a:avLst/>
          </a:prstGeom>
          <a:ln w="0">
            <a:noFill/>
          </a:ln>
        </p:spPr>
      </p:pic>
      <p:sp>
        <p:nvSpPr>
          <p:cNvPr id="171" name="Google Shape;286;p20"/>
          <p:cNvSpPr/>
          <p:nvPr/>
        </p:nvSpPr>
        <p:spPr>
          <a:xfrm>
            <a:off x="9137880" y="1979640"/>
            <a:ext cx="11282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Stateful DBs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87;p20"/>
          <p:cNvSpPr/>
          <p:nvPr/>
        </p:nvSpPr>
        <p:spPr>
          <a:xfrm>
            <a:off x="8502840" y="2191680"/>
            <a:ext cx="23986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PostgreSQL, MySQL, Redis via Operators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3" name="Google Shape;288;p20" descr="image.png"/>
          <p:cNvPicPr/>
          <p:nvPr/>
        </p:nvPicPr>
        <p:blipFill>
          <a:blip r:embed="rId21"/>
          <a:stretch/>
        </p:blipFill>
        <p:spPr>
          <a:xfrm>
            <a:off x="1914480" y="3211200"/>
            <a:ext cx="245880" cy="198000"/>
          </a:xfrm>
          <a:prstGeom prst="rect">
            <a:avLst/>
          </a:prstGeom>
          <a:ln w="0">
            <a:noFill/>
          </a:ln>
        </p:spPr>
      </p:pic>
      <p:sp>
        <p:nvSpPr>
          <p:cNvPr id="174" name="Google Shape;289;p20"/>
          <p:cNvSpPr/>
          <p:nvPr/>
        </p:nvSpPr>
        <p:spPr>
          <a:xfrm>
            <a:off x="1703160" y="3472560"/>
            <a:ext cx="66852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Kamaji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90;p20"/>
          <p:cNvSpPr/>
          <p:nvPr/>
        </p:nvSpPr>
        <p:spPr>
          <a:xfrm>
            <a:off x="1380960" y="3684960"/>
            <a:ext cx="13129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Tenant Control Planes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6" name="Google Shape;291;p20" descr="image.png"/>
          <p:cNvPicPr/>
          <p:nvPr/>
        </p:nvPicPr>
        <p:blipFill>
          <a:blip r:embed="rId22"/>
          <a:stretch/>
        </p:blipFill>
        <p:spPr>
          <a:xfrm>
            <a:off x="4619520" y="3211200"/>
            <a:ext cx="245880" cy="198000"/>
          </a:xfrm>
          <a:prstGeom prst="rect">
            <a:avLst/>
          </a:prstGeom>
          <a:ln w="0">
            <a:noFill/>
          </a:ln>
        </p:spPr>
      </p:pic>
      <p:sp>
        <p:nvSpPr>
          <p:cNvPr id="177" name="Google Shape;292;p20"/>
          <p:cNvSpPr/>
          <p:nvPr/>
        </p:nvSpPr>
        <p:spPr>
          <a:xfrm>
            <a:off x="3888360" y="3472560"/>
            <a:ext cx="17085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MetalLB &amp; HAProxy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93;p20"/>
          <p:cNvSpPr/>
          <p:nvPr/>
        </p:nvSpPr>
        <p:spPr>
          <a:xfrm>
            <a:off x="4162320" y="3684960"/>
            <a:ext cx="11602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Ingress &amp; Routing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9" name="Google Shape;294;p20" descr="image.png"/>
          <p:cNvPicPr/>
          <p:nvPr/>
        </p:nvPicPr>
        <p:blipFill>
          <a:blip r:embed="rId23"/>
          <a:stretch/>
        </p:blipFill>
        <p:spPr>
          <a:xfrm>
            <a:off x="7291440" y="3211200"/>
            <a:ext cx="312480" cy="198000"/>
          </a:xfrm>
          <a:prstGeom prst="rect">
            <a:avLst/>
          </a:prstGeom>
          <a:ln w="0">
            <a:noFill/>
          </a:ln>
        </p:spPr>
      </p:pic>
      <p:sp>
        <p:nvSpPr>
          <p:cNvPr id="180" name="Google Shape;295;p20"/>
          <p:cNvSpPr/>
          <p:nvPr/>
        </p:nvSpPr>
        <p:spPr>
          <a:xfrm>
            <a:off x="6488280" y="3472560"/>
            <a:ext cx="19184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SeaweedFS &amp; FluxCD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Google Shape;296;p20"/>
          <p:cNvSpPr/>
          <p:nvPr/>
        </p:nvSpPr>
        <p:spPr>
          <a:xfrm>
            <a:off x="6556680" y="3684960"/>
            <a:ext cx="17715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Object Store &amp; GitOps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2" name="Google Shape;297;p20" descr="image.png"/>
          <p:cNvPicPr/>
          <p:nvPr/>
        </p:nvPicPr>
        <p:blipFill>
          <a:blip r:embed="rId24"/>
          <a:stretch/>
        </p:blipFill>
        <p:spPr>
          <a:xfrm>
            <a:off x="10029960" y="3211200"/>
            <a:ext cx="245880" cy="198000"/>
          </a:xfrm>
          <a:prstGeom prst="rect">
            <a:avLst/>
          </a:prstGeom>
          <a:ln w="0">
            <a:noFill/>
          </a:ln>
        </p:spPr>
      </p:pic>
      <p:sp>
        <p:nvSpPr>
          <p:cNvPr id="183" name="Google Shape;298;p20"/>
          <p:cNvSpPr/>
          <p:nvPr/>
        </p:nvSpPr>
        <p:spPr>
          <a:xfrm>
            <a:off x="8964720" y="3472560"/>
            <a:ext cx="23554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VictoriaMetrics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99;p20"/>
          <p:cNvSpPr/>
          <p:nvPr/>
        </p:nvSpPr>
        <p:spPr>
          <a:xfrm>
            <a:off x="9030960" y="3684960"/>
            <a:ext cx="22892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Observability with Grafana &amp; Alerta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5" name="Google Shape;300;p20" descr="image.png"/>
          <p:cNvPicPr/>
          <p:nvPr/>
        </p:nvPicPr>
        <p:blipFill>
          <a:blip r:embed="rId25"/>
          <a:stretch/>
        </p:blipFill>
        <p:spPr>
          <a:xfrm>
            <a:off x="2365200" y="4704480"/>
            <a:ext cx="245880" cy="198000"/>
          </a:xfrm>
          <a:prstGeom prst="rect">
            <a:avLst/>
          </a:prstGeom>
          <a:ln w="0">
            <a:noFill/>
          </a:ln>
        </p:spPr>
      </p:pic>
      <p:sp>
        <p:nvSpPr>
          <p:cNvPr id="186" name="Google Shape;301;p20"/>
          <p:cNvSpPr/>
          <p:nvPr/>
        </p:nvSpPr>
        <p:spPr>
          <a:xfrm>
            <a:off x="1784520" y="4965840"/>
            <a:ext cx="139824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CRI + KubeVirt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302;p20"/>
          <p:cNvSpPr/>
          <p:nvPr/>
        </p:nvSpPr>
        <p:spPr>
          <a:xfrm>
            <a:off x="1638720" y="5177880"/>
            <a:ext cx="170856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Container + VM Compute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8" name="Google Shape;303;p20" descr="image.png"/>
          <p:cNvPicPr/>
          <p:nvPr/>
        </p:nvPicPr>
        <p:blipFill>
          <a:blip r:embed="rId26"/>
          <a:stretch/>
        </p:blipFill>
        <p:spPr>
          <a:xfrm>
            <a:off x="5972040" y="4704480"/>
            <a:ext cx="245880" cy="198000"/>
          </a:xfrm>
          <a:prstGeom prst="rect">
            <a:avLst/>
          </a:prstGeom>
          <a:ln w="0">
            <a:noFill/>
          </a:ln>
        </p:spPr>
      </p:pic>
      <p:sp>
        <p:nvSpPr>
          <p:cNvPr id="189" name="Google Shape;304;p20"/>
          <p:cNvSpPr/>
          <p:nvPr/>
        </p:nvSpPr>
        <p:spPr>
          <a:xfrm>
            <a:off x="5375880" y="4965840"/>
            <a:ext cx="143856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DRBD &amp; LINSTOR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Google Shape;305;p20"/>
          <p:cNvSpPr/>
          <p:nvPr/>
        </p:nvSpPr>
        <p:spPr>
          <a:xfrm>
            <a:off x="5362560" y="5177880"/>
            <a:ext cx="14652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Replicated Block Storage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1" name="Google Shape;306;p20" descr="image.png"/>
          <p:cNvPicPr/>
          <p:nvPr/>
        </p:nvPicPr>
        <p:blipFill>
          <a:blip r:embed="rId27"/>
          <a:stretch/>
        </p:blipFill>
        <p:spPr>
          <a:xfrm>
            <a:off x="9545760" y="4704480"/>
            <a:ext cx="312480" cy="198000"/>
          </a:xfrm>
          <a:prstGeom prst="rect">
            <a:avLst/>
          </a:prstGeom>
          <a:ln w="0">
            <a:noFill/>
          </a:ln>
        </p:spPr>
      </p:pic>
      <p:sp>
        <p:nvSpPr>
          <p:cNvPr id="192" name="Google Shape;307;p20"/>
          <p:cNvSpPr/>
          <p:nvPr/>
        </p:nvSpPr>
        <p:spPr>
          <a:xfrm>
            <a:off x="8797680" y="4965840"/>
            <a:ext cx="18082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Kube-OVN &amp; Cilium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308;p20"/>
          <p:cNvSpPr/>
          <p:nvPr/>
        </p:nvSpPr>
        <p:spPr>
          <a:xfrm>
            <a:off x="8807400" y="5177880"/>
            <a:ext cx="17888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cbd5e1"/>
                </a:solidFill>
                <a:latin typeface="Lato"/>
                <a:ea typeface="Lato"/>
              </a:rPr>
              <a:t>VPC &amp; eBPF Network Policies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309;p20"/>
          <p:cNvSpPr/>
          <p:nvPr/>
        </p:nvSpPr>
        <p:spPr>
          <a:xfrm>
            <a:off x="2329200" y="5860080"/>
            <a:ext cx="806904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LAYER 1: HARDWARE &amp; OS</a:t>
            </a:r>
            <a:r>
              <a:rPr b="1" lang="en-US" sz="1350" spc="-1" strike="noStrike">
                <a:solidFill>
                  <a:srgbClr val="f8fafc"/>
                </a:solidFill>
                <a:latin typeface="Poppins"/>
                <a:ea typeface="Poppins"/>
              </a:rPr>
              <a:t> </a:t>
            </a:r>
            <a:r>
              <a:rPr b="1" lang="en-US" sz="1350" spc="-1" strike="noStrike">
                <a:solidFill>
                  <a:srgbClr val="f8fafc"/>
                </a:solidFill>
                <a:latin typeface="Times New Roman"/>
                <a:ea typeface="Times New Roman"/>
              </a:rPr>
              <a:t>–</a:t>
            </a:r>
            <a:r>
              <a:rPr b="1" lang="en-US" sz="1350" spc="-1" strike="noStrike">
                <a:solidFill>
                  <a:srgbClr val="f8fafc"/>
                </a:solidFill>
                <a:latin typeface="Poppins"/>
                <a:ea typeface="Poppins"/>
              </a:rPr>
              <a:t> </a:t>
            </a:r>
            <a:r>
              <a:rPr b="0" lang="en-US" sz="1350" spc="-1" strike="noStrike">
                <a:solidFill>
                  <a:srgbClr val="f8fafc"/>
                </a:solidFill>
                <a:latin typeface="Poppins SemiBold"/>
                <a:ea typeface="Poppins SemiBold"/>
              </a:rPr>
              <a:t>Talos Linux/Ubuntu/RHEL/Other + Kubernetes running on Bare Metal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Google Shape;211;p 1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316;p21"/>
          <p:cNvSpPr/>
          <p:nvPr/>
        </p:nvSpPr>
        <p:spPr>
          <a:xfrm>
            <a:off x="581040" y="585720"/>
            <a:ext cx="6962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Bare-Metal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Performance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317;p21"/>
          <p:cNvSpPr/>
          <p:nvPr/>
        </p:nvSpPr>
        <p:spPr>
          <a:xfrm>
            <a:off x="581040" y="129996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323;p21"/>
          <p:cNvSpPr/>
          <p:nvPr/>
        </p:nvSpPr>
        <p:spPr>
          <a:xfrm>
            <a:off x="581040" y="1533960"/>
            <a:ext cx="1102824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  <a:ea typeface="Inter"/>
              </a:rPr>
              <a:t>Can this architecture handle high-load, tier-one databases? By leveraging LINSTOR for block storage natively on Kubernetes, we stripped out the vSAN storage tax completely.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57200" y="2514600"/>
            <a:ext cx="9600480" cy="65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</a:rPr>
              <a:t>Storage Write Latency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 (Lower is Better)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Google Shape;319;p21" descr="image.png"/>
          <p:cNvPicPr/>
          <p:nvPr/>
        </p:nvPicPr>
        <p:blipFill>
          <a:blip r:embed="rId2"/>
          <a:stretch/>
        </p:blipFill>
        <p:spPr>
          <a:xfrm>
            <a:off x="3533760" y="3082320"/>
            <a:ext cx="8075520" cy="579960"/>
          </a:xfrm>
          <a:prstGeom prst="rect">
            <a:avLst/>
          </a:prstGeom>
          <a:ln w="0">
            <a:noFill/>
          </a:ln>
        </p:spPr>
      </p:pic>
      <p:pic>
        <p:nvPicPr>
          <p:cNvPr id="201" name="Google Shape;320;p21" descr="image.png"/>
          <p:cNvPicPr/>
          <p:nvPr/>
        </p:nvPicPr>
        <p:blipFill>
          <a:blip r:embed="rId3"/>
          <a:stretch/>
        </p:blipFill>
        <p:spPr>
          <a:xfrm>
            <a:off x="3533760" y="3977280"/>
            <a:ext cx="8075520" cy="579960"/>
          </a:xfrm>
          <a:prstGeom prst="rect">
            <a:avLst/>
          </a:prstGeom>
          <a:ln w="0">
            <a:noFill/>
          </a:ln>
        </p:spPr>
      </p:pic>
      <p:pic>
        <p:nvPicPr>
          <p:cNvPr id="202" name="Google Shape;321;p21" descr="image.png"/>
          <p:cNvPicPr/>
          <p:nvPr/>
        </p:nvPicPr>
        <p:blipFill>
          <a:blip r:embed="rId4"/>
          <a:stretch/>
        </p:blipFill>
        <p:spPr>
          <a:xfrm>
            <a:off x="3543120" y="3091320"/>
            <a:ext cx="8056440" cy="561960"/>
          </a:xfrm>
          <a:prstGeom prst="rect">
            <a:avLst/>
          </a:prstGeom>
          <a:ln w="0">
            <a:noFill/>
          </a:ln>
        </p:spPr>
      </p:pic>
      <p:pic>
        <p:nvPicPr>
          <p:cNvPr id="203" name="Google Shape;322;p21" descr="image.png"/>
          <p:cNvPicPr/>
          <p:nvPr/>
        </p:nvPicPr>
        <p:blipFill>
          <a:blip r:embed="rId5"/>
          <a:stretch/>
        </p:blipFill>
        <p:spPr>
          <a:xfrm>
            <a:off x="3543120" y="3986280"/>
            <a:ext cx="481680" cy="561960"/>
          </a:xfrm>
          <a:prstGeom prst="rect">
            <a:avLst/>
          </a:prstGeom>
          <a:ln w="0">
            <a:noFill/>
          </a:ln>
        </p:spPr>
      </p:pic>
      <p:sp>
        <p:nvSpPr>
          <p:cNvPr id="204" name="Google Shape;324;p21"/>
          <p:cNvSpPr/>
          <p:nvPr/>
        </p:nvSpPr>
        <p:spPr>
          <a:xfrm>
            <a:off x="581040" y="3221280"/>
            <a:ext cx="2665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Inter"/>
              </a:rPr>
              <a:t>Legacy vSAN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Google Shape;325;p21"/>
          <p:cNvSpPr/>
          <p:nvPr/>
        </p:nvSpPr>
        <p:spPr>
          <a:xfrm>
            <a:off x="581040" y="4116240"/>
            <a:ext cx="2665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00"/>
                </a:solidFill>
                <a:latin typeface="Arial"/>
                <a:ea typeface="Inter"/>
              </a:rPr>
              <a:t>LINSTOR on K8s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Google Shape;326;p21"/>
          <p:cNvSpPr/>
          <p:nvPr/>
        </p:nvSpPr>
        <p:spPr>
          <a:xfrm>
            <a:off x="10010880" y="3225600"/>
            <a:ext cx="13510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0.5 - 2.0 ms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Google Shape;327;p21"/>
          <p:cNvSpPr/>
          <p:nvPr/>
        </p:nvSpPr>
        <p:spPr>
          <a:xfrm>
            <a:off x="4217040" y="4120560"/>
            <a:ext cx="237240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950" spc="-1" strike="noStrike">
                <a:solidFill>
                  <a:srgbClr val="10b981"/>
                </a:solidFill>
                <a:latin typeface="Outfit ExtraBold"/>
                <a:ea typeface="Outfit ExtraBold"/>
              </a:rPr>
              <a:t>0.030 - 0.080 ms</a:t>
            </a:r>
            <a:endParaRPr b="0" lang="en-US" sz="19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8" name="Google Shape;318;p21" descr="image.png"/>
          <p:cNvPicPr/>
          <p:nvPr/>
        </p:nvPicPr>
        <p:blipFill>
          <a:blip r:embed="rId6"/>
          <a:srcRect l="0" t="69128" r="0" b="3645"/>
          <a:stretch/>
        </p:blipFill>
        <p:spPr>
          <a:xfrm>
            <a:off x="581040" y="4800600"/>
            <a:ext cx="11028240" cy="1370520"/>
          </a:xfrm>
          <a:prstGeom prst="rect">
            <a:avLst/>
          </a:prstGeom>
          <a:ln w="0">
            <a:noFill/>
          </a:ln>
        </p:spPr>
      </p:pic>
      <p:pic>
        <p:nvPicPr>
          <p:cNvPr id="209" name="Google Shape;328;p21" descr=""/>
          <p:cNvPicPr/>
          <p:nvPr/>
        </p:nvPicPr>
        <p:blipFill>
          <a:blip r:embed="rId7"/>
          <a:srcRect l="0" t="964" r="0" b="-2967"/>
          <a:stretch/>
        </p:blipFill>
        <p:spPr>
          <a:xfrm>
            <a:off x="1236960" y="5275440"/>
            <a:ext cx="315000" cy="321480"/>
          </a:xfrm>
          <a:prstGeom prst="rect">
            <a:avLst/>
          </a:prstGeom>
          <a:ln w="0">
            <a:noFill/>
          </a:ln>
        </p:spPr>
      </p:pic>
      <p:pic>
        <p:nvPicPr>
          <p:cNvPr id="210" name="Google Shape;330;p21" descr=""/>
          <p:cNvPicPr/>
          <p:nvPr/>
        </p:nvPicPr>
        <p:blipFill>
          <a:blip r:embed="rId8"/>
          <a:srcRect l="0" t="3019" r="0" b="3019"/>
          <a:stretch/>
        </p:blipFill>
        <p:spPr>
          <a:xfrm>
            <a:off x="6591240" y="5231160"/>
            <a:ext cx="436680" cy="410040"/>
          </a:xfrm>
          <a:prstGeom prst="rect">
            <a:avLst/>
          </a:prstGeom>
          <a:ln w="0">
            <a:noFill/>
          </a:ln>
        </p:spPr>
      </p:pic>
      <p:sp>
        <p:nvSpPr>
          <p:cNvPr id="211" name="Google Shape;331;p21"/>
          <p:cNvSpPr/>
          <p:nvPr/>
        </p:nvSpPr>
        <p:spPr>
          <a:xfrm>
            <a:off x="6996240" y="5029200"/>
            <a:ext cx="4308480" cy="70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15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00cd"/>
                </a:solidFill>
                <a:latin typeface="Arial"/>
                <a:ea typeface="Inter"/>
              </a:rPr>
              <a:t>Delivering bare-metal disk IO</a:t>
            </a:r>
            <a:br>
              <a:rPr sz="2000"/>
            </a:br>
            <a:r>
              <a:rPr b="1" lang="en-US" sz="2000" spc="-1" strike="noStrike">
                <a:solidFill>
                  <a:srgbClr val="0000cd"/>
                </a:solidFill>
                <a:latin typeface="Arial"/>
                <a:ea typeface="Inter"/>
              </a:rPr>
              <a:t>latency to Tier-1 DBs, VMs and AI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Google Shape;329;p21"/>
          <p:cNvSpPr/>
          <p:nvPr/>
        </p:nvSpPr>
        <p:spPr>
          <a:xfrm>
            <a:off x="1600200" y="5262480"/>
            <a:ext cx="411408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06400"/>
                </a:solidFill>
                <a:latin typeface="Arial"/>
                <a:ea typeface="Inter"/>
              </a:rPr>
              <a:t>Sustaining 3-7 GB/s Throughput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103;p20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214" name="Google Shape;338;p22"/>
          <p:cNvSpPr/>
          <p:nvPr/>
        </p:nvSpPr>
        <p:spPr>
          <a:xfrm>
            <a:off x="58104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Unlocking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AI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with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Fluid Hardware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Google Shape;339;p22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Google Shape;212;p 2"/>
          <p:cNvSpPr/>
          <p:nvPr/>
        </p:nvSpPr>
        <p:spPr>
          <a:xfrm>
            <a:off x="571680" y="1349280"/>
            <a:ext cx="110473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Urbanist"/>
                <a:ea typeface="Poppins"/>
              </a:rPr>
              <a:t>ELIMINATING STRANDED CAPACITY VIA UNIFIED SCHEDULING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7" name="Google Shape;340;p22" descr="image.png"/>
          <p:cNvPicPr/>
          <p:nvPr/>
        </p:nvPicPr>
        <p:blipFill>
          <a:blip r:embed="rId3"/>
          <a:stretch/>
        </p:blipFill>
        <p:spPr>
          <a:xfrm>
            <a:off x="762480" y="1893240"/>
            <a:ext cx="5141880" cy="3047400"/>
          </a:xfrm>
          <a:prstGeom prst="rect">
            <a:avLst/>
          </a:prstGeom>
          <a:ln w="0">
            <a:noFill/>
          </a:ln>
        </p:spPr>
      </p:pic>
      <p:pic>
        <p:nvPicPr>
          <p:cNvPr id="218" name="Google Shape;341;p22" descr="image.png"/>
          <p:cNvPicPr/>
          <p:nvPr/>
        </p:nvPicPr>
        <p:blipFill>
          <a:blip r:embed="rId4"/>
          <a:stretch/>
        </p:blipFill>
        <p:spPr>
          <a:xfrm>
            <a:off x="6287040" y="1893240"/>
            <a:ext cx="5141880" cy="3062880"/>
          </a:xfrm>
          <a:prstGeom prst="rect">
            <a:avLst/>
          </a:prstGeom>
          <a:ln w="0">
            <a:noFill/>
          </a:ln>
        </p:spPr>
      </p:pic>
      <p:sp>
        <p:nvSpPr>
          <p:cNvPr id="219" name="Google Shape;343;p22"/>
          <p:cNvSpPr/>
          <p:nvPr/>
        </p:nvSpPr>
        <p:spPr>
          <a:xfrm>
            <a:off x="1162440" y="2120400"/>
            <a:ext cx="43416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ff5252"/>
                </a:solidFill>
                <a:latin typeface="Inter ExtraBold"/>
                <a:ea typeface="Inter ExtraBold"/>
              </a:rPr>
              <a:t>THE LEGACY TRAP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Google Shape;344;p22"/>
          <p:cNvSpPr/>
          <p:nvPr/>
        </p:nvSpPr>
        <p:spPr>
          <a:xfrm>
            <a:off x="1162440" y="2382840"/>
            <a:ext cx="43416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50" spc="-1" strike="noStrike">
                <a:solidFill>
                  <a:srgbClr val="ffffff"/>
                </a:solidFill>
                <a:latin typeface="Inter ExtraBold"/>
                <a:ea typeface="Inter ExtraBold"/>
              </a:rPr>
              <a:t>Static GPU Binding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Google Shape;345;p22"/>
          <p:cNvSpPr/>
          <p:nvPr/>
        </p:nvSpPr>
        <p:spPr>
          <a:xfrm>
            <a:off x="6687000" y="2120400"/>
            <a:ext cx="434160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34d399"/>
                </a:solidFill>
                <a:latin typeface="Inter ExtraBold"/>
                <a:ea typeface="Inter ExtraBold"/>
              </a:rPr>
              <a:t>THE MODERN EXPECTATION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346;p22"/>
          <p:cNvSpPr/>
          <p:nvPr/>
        </p:nvSpPr>
        <p:spPr>
          <a:xfrm>
            <a:off x="6687000" y="2382840"/>
            <a:ext cx="4341600" cy="43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2850" spc="-1" strike="noStrike">
                <a:solidFill>
                  <a:srgbClr val="ffffff"/>
                </a:solidFill>
                <a:latin typeface="Inter ExtraBold"/>
                <a:ea typeface="Inter ExtraBold"/>
              </a:rPr>
              <a:t>Dynamic Hardware Path</a:t>
            </a:r>
            <a:endParaRPr b="0" lang="en-US" sz="2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347;p22"/>
          <p:cNvSpPr/>
          <p:nvPr/>
        </p:nvSpPr>
        <p:spPr>
          <a:xfrm>
            <a:off x="1509480" y="3048840"/>
            <a:ext cx="33994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Hard-wired allocation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to specific VM clusters.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348;p22"/>
          <p:cNvSpPr/>
          <p:nvPr/>
        </p:nvSpPr>
        <p:spPr>
          <a:xfrm>
            <a:off x="1509480" y="3428280"/>
            <a:ext cx="334800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Stranded Capacity: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GPU sits idle if VM is idle.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Google Shape;349;p22"/>
          <p:cNvSpPr/>
          <p:nvPr/>
        </p:nvSpPr>
        <p:spPr>
          <a:xfrm>
            <a:off x="1509480" y="3824280"/>
            <a:ext cx="37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Fragmented ROI: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Terrible utilization for H100 assets.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350;p22"/>
          <p:cNvSpPr/>
          <p:nvPr/>
        </p:nvSpPr>
        <p:spPr>
          <a:xfrm>
            <a:off x="1509480" y="4220280"/>
            <a:ext cx="3695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Management Friction: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Manual re-binding required.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Google Shape;351;p22"/>
          <p:cNvSpPr/>
          <p:nvPr/>
        </p:nvSpPr>
        <p:spPr>
          <a:xfrm>
            <a:off x="6960240" y="3049560"/>
            <a:ext cx="42620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PCIe Passthrough: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 NUMA-Aware bare-metal performance.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352;p22"/>
          <p:cNvSpPr/>
          <p:nvPr/>
        </p:nvSpPr>
        <p:spPr>
          <a:xfrm>
            <a:off x="6960240" y="3421080"/>
            <a:ext cx="3560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Unified Scheduler: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K8s manages GPU instances.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353;p22"/>
          <p:cNvSpPr/>
          <p:nvPr/>
        </p:nvSpPr>
        <p:spPr>
          <a:xfrm>
            <a:off x="6960240" y="3809880"/>
            <a:ext cx="36388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Fluid Workloads: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Morning Inference | Night Batch.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354;p22"/>
          <p:cNvSpPr/>
          <p:nvPr/>
        </p:nvSpPr>
        <p:spPr>
          <a:xfrm>
            <a:off x="6960240" y="4196160"/>
            <a:ext cx="38174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MIG Orchestration: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Multi-instance GPU partitioning.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1" name="Google Shape;355;p22" descr="image.png"/>
          <p:cNvPicPr/>
          <p:nvPr/>
        </p:nvPicPr>
        <p:blipFill>
          <a:blip r:embed="rId5"/>
          <a:stretch/>
        </p:blipFill>
        <p:spPr>
          <a:xfrm>
            <a:off x="1162440" y="305532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2" name="Google Shape;356;p22" descr="image.png"/>
          <p:cNvPicPr/>
          <p:nvPr/>
        </p:nvPicPr>
        <p:blipFill>
          <a:blip r:embed="rId6"/>
          <a:stretch/>
        </p:blipFill>
        <p:spPr>
          <a:xfrm>
            <a:off x="1162440" y="344052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3" name="Google Shape;357;p22" descr="image.png"/>
          <p:cNvPicPr/>
          <p:nvPr/>
        </p:nvPicPr>
        <p:blipFill>
          <a:blip r:embed="rId7"/>
          <a:stretch/>
        </p:blipFill>
        <p:spPr>
          <a:xfrm>
            <a:off x="1162440" y="383112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4" name="Google Shape;358;p22" descr="image.png"/>
          <p:cNvPicPr/>
          <p:nvPr/>
        </p:nvPicPr>
        <p:blipFill>
          <a:blip r:embed="rId8"/>
          <a:stretch/>
        </p:blipFill>
        <p:spPr>
          <a:xfrm>
            <a:off x="1162440" y="423072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5" name="Google Shape;359;p22" descr="image.png"/>
          <p:cNvPicPr/>
          <p:nvPr/>
        </p:nvPicPr>
        <p:blipFill>
          <a:blip r:embed="rId9"/>
          <a:stretch/>
        </p:blipFill>
        <p:spPr>
          <a:xfrm>
            <a:off x="6622560" y="304884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6" name="Google Shape;360;p22" descr="image.png"/>
          <p:cNvPicPr/>
          <p:nvPr/>
        </p:nvPicPr>
        <p:blipFill>
          <a:blip r:embed="rId10"/>
          <a:stretch/>
        </p:blipFill>
        <p:spPr>
          <a:xfrm>
            <a:off x="6622560" y="345960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7" name="Google Shape;361;p22" descr="image.png"/>
          <p:cNvPicPr/>
          <p:nvPr/>
        </p:nvPicPr>
        <p:blipFill>
          <a:blip r:embed="rId11"/>
          <a:stretch/>
        </p:blipFill>
        <p:spPr>
          <a:xfrm>
            <a:off x="6621120" y="383220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38" name="Google Shape;362;p22" descr="image.png"/>
          <p:cNvPicPr/>
          <p:nvPr/>
        </p:nvPicPr>
        <p:blipFill>
          <a:blip r:embed="rId12"/>
          <a:stretch/>
        </p:blipFill>
        <p:spPr>
          <a:xfrm>
            <a:off x="6622560" y="4200840"/>
            <a:ext cx="169560" cy="169560"/>
          </a:xfrm>
          <a:prstGeom prst="rect">
            <a:avLst/>
          </a:prstGeom>
          <a:ln w="0">
            <a:noFill/>
          </a:ln>
        </p:spPr>
      </p:pic>
      <p:sp>
        <p:nvSpPr>
          <p:cNvPr id="239" name="Google Shape;366;p22"/>
          <p:cNvSpPr/>
          <p:nvPr/>
        </p:nvSpPr>
        <p:spPr>
          <a:xfrm>
            <a:off x="6959160" y="4573440"/>
            <a:ext cx="423576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Distributed RDMA Fabric:</a:t>
            </a:r>
            <a:r>
              <a:rPr b="0" lang="en-US" sz="1200" spc="-1" strike="noStrike">
                <a:solidFill>
                  <a:srgbClr val="ffffff"/>
                </a:solidFill>
                <a:latin typeface="Inter"/>
                <a:ea typeface="Inter"/>
              </a:rPr>
              <a:t> </a:t>
            </a:r>
            <a:r>
              <a:rPr b="0" lang="en-US" sz="1200" spc="-1" strike="noStrike">
                <a:solidFill>
                  <a:srgbClr val="94a3b8"/>
                </a:solidFill>
                <a:latin typeface="Inter"/>
                <a:ea typeface="Inter"/>
              </a:rPr>
              <a:t>Pooling idle GPUs via RoCE v2.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Google Shape;367;p22" descr="image.png"/>
          <p:cNvPicPr/>
          <p:nvPr/>
        </p:nvPicPr>
        <p:blipFill>
          <a:blip r:embed="rId13"/>
          <a:stretch/>
        </p:blipFill>
        <p:spPr>
          <a:xfrm>
            <a:off x="6621120" y="4578120"/>
            <a:ext cx="169560" cy="169560"/>
          </a:xfrm>
          <a:prstGeom prst="rect">
            <a:avLst/>
          </a:prstGeom>
          <a:ln w="0">
            <a:noFill/>
          </a:ln>
        </p:spPr>
      </p:pic>
      <p:sp>
        <p:nvSpPr>
          <p:cNvPr id="241" name=""/>
          <p:cNvSpPr/>
          <p:nvPr/>
        </p:nvSpPr>
        <p:spPr>
          <a:xfrm>
            <a:off x="609480" y="5257800"/>
            <a:ext cx="11048400" cy="68508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Google Shape;166;p 5"/>
          <p:cNvSpPr/>
          <p:nvPr/>
        </p:nvSpPr>
        <p:spPr>
          <a:xfrm>
            <a:off x="2286000" y="5357880"/>
            <a:ext cx="845748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We are moving from virtualization-centric silos to </a:t>
            </a:r>
            <a:r>
              <a:rPr b="0" lang="en-US" sz="1430" spc="-1" strike="noStrike">
                <a:solidFill>
                  <a:srgbClr val="f8fafc"/>
                </a:solidFill>
                <a:latin typeface="Arial"/>
                <a:ea typeface="Inter"/>
              </a:rPr>
              <a:t>hardware-</a:t>
            </a:r>
            <a:r>
              <a:rPr b="0" lang="en-US" sz="1430" spc="-1" strike="noStrike">
                <a:solidFill>
                  <a:srgbClr val="38bdf8"/>
                </a:solidFill>
                <a:latin typeface="Arial"/>
                <a:ea typeface="Inter"/>
              </a:rPr>
              <a:t>native orchestration</a:t>
            </a: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. In the Sovereign era, </a:t>
            </a:r>
            <a:r>
              <a:rPr b="0" lang="en-US" sz="1430" spc="-1" strike="noStrike">
                <a:solidFill>
                  <a:srgbClr val="38bdf8"/>
                </a:solidFill>
                <a:latin typeface="Arial"/>
                <a:ea typeface="Inter"/>
              </a:rPr>
              <a:t>hardware is a pool of primitives</a:t>
            </a: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 managed by the reconciliation loop, not a static assignment.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Google Shape;167;p 1" descr="image.png"/>
          <p:cNvPicPr/>
          <p:nvPr/>
        </p:nvPicPr>
        <p:blipFill>
          <a:blip r:embed="rId14"/>
          <a:stretch/>
        </p:blipFill>
        <p:spPr>
          <a:xfrm>
            <a:off x="915480" y="5476680"/>
            <a:ext cx="226800" cy="226800"/>
          </a:xfrm>
          <a:prstGeom prst="rect">
            <a:avLst/>
          </a:prstGeom>
          <a:ln w="0">
            <a:noFill/>
          </a:ln>
        </p:spPr>
      </p:pic>
      <p:sp>
        <p:nvSpPr>
          <p:cNvPr id="244" name="Google Shape;166;p 6"/>
          <p:cNvSpPr/>
          <p:nvPr/>
        </p:nvSpPr>
        <p:spPr>
          <a:xfrm>
            <a:off x="1371600" y="5476680"/>
            <a:ext cx="685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Inter"/>
              </a:rPr>
              <a:t>Verdict: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96;p 1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246" name="Google Shape;374;p23"/>
          <p:cNvSpPr/>
          <p:nvPr/>
        </p:nvSpPr>
        <p:spPr>
          <a:xfrm>
            <a:off x="581400" y="581040"/>
            <a:ext cx="54889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Democratizing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Access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Google Shape;375;p23"/>
          <p:cNvSpPr/>
          <p:nvPr/>
        </p:nvSpPr>
        <p:spPr>
          <a:xfrm>
            <a:off x="581400" y="1295280"/>
            <a:ext cx="522756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8" name="Google Shape;376;p23" descr=""/>
          <p:cNvPicPr/>
          <p:nvPr/>
        </p:nvPicPr>
        <p:blipFill>
          <a:blip r:embed="rId3"/>
          <a:srcRect l="985" t="9222" r="13237" b="1060"/>
          <a:stretch/>
        </p:blipFill>
        <p:spPr>
          <a:xfrm>
            <a:off x="6382080" y="956160"/>
            <a:ext cx="5631840" cy="5301720"/>
          </a:xfrm>
          <a:prstGeom prst="rect">
            <a:avLst/>
          </a:prstGeom>
          <a:ln w="0">
            <a:noFill/>
          </a:ln>
        </p:spPr>
      </p:pic>
      <p:sp>
        <p:nvSpPr>
          <p:cNvPr id="249" name="Google Shape;378;p23"/>
          <p:cNvSpPr/>
          <p:nvPr/>
        </p:nvSpPr>
        <p:spPr>
          <a:xfrm>
            <a:off x="581400" y="2057400"/>
            <a:ext cx="522756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Inter"/>
              </a:rPr>
              <a:t>We promised developers a self-service hyperscaler experience. Architecture and performance do not matter much if the platform is not usable.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379;p23"/>
          <p:cNvSpPr/>
          <p:nvPr/>
        </p:nvSpPr>
        <p:spPr>
          <a:xfrm>
            <a:off x="581400" y="3429000"/>
            <a:ext cx="52275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Inter"/>
              </a:rPr>
              <a:t>By hiding the complexity behind a simple, cloud-like portal, we empower developers.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436;p 2"/>
          <p:cNvSpPr/>
          <p:nvPr/>
        </p:nvSpPr>
        <p:spPr>
          <a:xfrm>
            <a:off x="581400" y="1351800"/>
            <a:ext cx="398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Poppins"/>
                <a:ea typeface="Poppins"/>
              </a:rPr>
              <a:t>THE SELF-SERVICE UI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2" name="Google Shape;269;p22" descr="image.png"/>
          <p:cNvPicPr/>
          <p:nvPr/>
        </p:nvPicPr>
        <p:blipFill>
          <a:blip r:embed="rId4"/>
          <a:stretch/>
        </p:blipFill>
        <p:spPr>
          <a:xfrm>
            <a:off x="572040" y="4476960"/>
            <a:ext cx="5285160" cy="1084680"/>
          </a:xfrm>
          <a:prstGeom prst="rect">
            <a:avLst/>
          </a:prstGeom>
          <a:ln w="0">
            <a:noFill/>
          </a:ln>
        </p:spPr>
      </p:pic>
      <p:sp>
        <p:nvSpPr>
          <p:cNvPr id="253" name="Google Shape;275;p22"/>
          <p:cNvSpPr/>
          <p:nvPr/>
        </p:nvSpPr>
        <p:spPr>
          <a:xfrm>
            <a:off x="848160" y="4715280"/>
            <a:ext cx="47710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66760" rIns="0" tIns="0" bIns="0" anchor="t">
            <a:spAutoFit/>
          </a:bodyPr>
          <a:p>
            <a:pPr>
              <a:lnSpc>
                <a:spcPct val="16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1e3a8a"/>
                </a:solidFill>
                <a:latin typeface="Arial"/>
                <a:ea typeface="Inter SemiBold"/>
              </a:rPr>
              <a:t>Easiness of the public cloud, with the security of on-premise.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4" name="Google Shape;276;p22" descr="image.png"/>
          <p:cNvPicPr/>
          <p:nvPr/>
        </p:nvPicPr>
        <p:blipFill>
          <a:blip r:embed="rId5"/>
          <a:stretch/>
        </p:blipFill>
        <p:spPr>
          <a:xfrm>
            <a:off x="848160" y="4772520"/>
            <a:ext cx="170280" cy="18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116;p 1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pic>
        <p:nvPicPr>
          <p:cNvPr id="256" name="Google Shape;388;p24" descr="image.png"/>
          <p:cNvPicPr/>
          <p:nvPr/>
        </p:nvPicPr>
        <p:blipFill>
          <a:blip r:embed="rId3"/>
          <a:stretch/>
        </p:blipFill>
        <p:spPr>
          <a:xfrm>
            <a:off x="6381720" y="2081160"/>
            <a:ext cx="5227560" cy="3808080"/>
          </a:xfrm>
          <a:prstGeom prst="rect">
            <a:avLst/>
          </a:prstGeom>
          <a:ln w="0">
            <a:noFill/>
          </a:ln>
        </p:spPr>
      </p:pic>
      <p:sp>
        <p:nvSpPr>
          <p:cNvPr id="257" name="Google Shape;389;p24"/>
          <p:cNvSpPr/>
          <p:nvPr/>
        </p:nvSpPr>
        <p:spPr>
          <a:xfrm>
            <a:off x="58104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Production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Readiness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390;p24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9" name="Google Shape;391;p24" descr=""/>
          <p:cNvPicPr/>
          <p:nvPr/>
        </p:nvPicPr>
        <p:blipFill>
          <a:blip r:embed="rId4"/>
          <a:srcRect l="13265" t="0" r="11759" b="0"/>
          <a:stretch/>
        </p:blipFill>
        <p:spPr>
          <a:xfrm>
            <a:off x="6391440" y="2090880"/>
            <a:ext cx="5208480" cy="3789000"/>
          </a:xfrm>
          <a:prstGeom prst="rect">
            <a:avLst/>
          </a:prstGeom>
          <a:ln w="0">
            <a:noFill/>
          </a:ln>
        </p:spPr>
      </p:pic>
      <p:sp>
        <p:nvSpPr>
          <p:cNvPr id="260" name="Google Shape;393;p24"/>
          <p:cNvSpPr/>
          <p:nvPr/>
        </p:nvSpPr>
        <p:spPr>
          <a:xfrm>
            <a:off x="971280" y="2030040"/>
            <a:ext cx="436860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2f4f4f"/>
                </a:solidFill>
                <a:latin typeface="Arial"/>
                <a:ea typeface="Inter"/>
              </a:rPr>
              <a:t>Beyond the Lab:</a:t>
            </a:r>
            <a:r>
              <a:rPr b="0" lang="en-US" sz="1600" spc="-1" strike="noStrike">
                <a:solidFill>
                  <a:srgbClr val="cbd5e1"/>
                </a:solidFill>
                <a:latin typeface="Arial"/>
                <a:ea typeface="Inter"/>
              </a:rPr>
              <a:t>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Inter"/>
              </a:rPr>
              <a:t>Currently running active POC and preparing for full production implementation.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Google Shape;394;p24"/>
          <p:cNvSpPr/>
          <p:nvPr/>
        </p:nvSpPr>
        <p:spPr>
          <a:xfrm>
            <a:off x="971280" y="3058560"/>
            <a:ext cx="436860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cd853f"/>
                </a:solidFill>
                <a:latin typeface="Arial"/>
                <a:ea typeface="Inter"/>
              </a:rPr>
              <a:t>Total Replacement:</a:t>
            </a:r>
            <a:r>
              <a:rPr b="0" lang="en-US" sz="1500" spc="-1" strike="noStrike">
                <a:solidFill>
                  <a:srgbClr val="cbd5e1"/>
                </a:solidFill>
                <a:latin typeface="Arial"/>
                <a:ea typeface="Inter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Inter"/>
              </a:rPr>
              <a:t>Stripping out the legacy virtualization stack entirely in favor of CNCF and open-source projects.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395;p24"/>
          <p:cNvSpPr/>
          <p:nvPr/>
        </p:nvSpPr>
        <p:spPr>
          <a:xfrm>
            <a:off x="971280" y="4133880"/>
            <a:ext cx="436860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0b981"/>
                </a:solidFill>
                <a:latin typeface="Arial"/>
                <a:ea typeface="Inter"/>
              </a:rPr>
              <a:t>Regaining Control:</a:t>
            </a:r>
            <a:r>
              <a:rPr b="0" lang="en-US" sz="1500" spc="-1" strike="noStrike">
                <a:solidFill>
                  <a:srgbClr val="cbd5e1"/>
                </a:solidFill>
                <a:latin typeface="Arial"/>
                <a:ea typeface="Inter"/>
              </a:rPr>
              <a:t>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Inter"/>
              </a:rPr>
              <a:t>Total ownership over your data, code, and infrastructure security without vendor extortion.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396;p24"/>
          <p:cNvSpPr/>
          <p:nvPr/>
        </p:nvSpPr>
        <p:spPr>
          <a:xfrm>
            <a:off x="971280" y="5209200"/>
            <a:ext cx="4368600" cy="78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1e90ff"/>
                </a:solidFill>
                <a:latin typeface="Arial"/>
                <a:ea typeface="Inter"/>
              </a:rPr>
              <a:t>Proven at Scale: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Inter"/>
              </a:rPr>
              <a:t> Kubernetes as orchestrator for everything, including mission-critical, legacy brownfield workloads on bare-metal.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4" name="Google Shape;397;p24" descr="image.png"/>
          <p:cNvPicPr/>
          <p:nvPr/>
        </p:nvPicPr>
        <p:blipFill>
          <a:blip r:embed="rId5"/>
          <a:stretch/>
        </p:blipFill>
        <p:spPr>
          <a:xfrm>
            <a:off x="581040" y="2064600"/>
            <a:ext cx="180360" cy="223560"/>
          </a:xfrm>
          <a:prstGeom prst="rect">
            <a:avLst/>
          </a:prstGeom>
          <a:ln w="0">
            <a:noFill/>
          </a:ln>
        </p:spPr>
      </p:pic>
      <p:pic>
        <p:nvPicPr>
          <p:cNvPr id="265" name="Google Shape;398;p24" descr="image.png"/>
          <p:cNvPicPr/>
          <p:nvPr/>
        </p:nvPicPr>
        <p:blipFill>
          <a:blip r:embed="rId6"/>
          <a:stretch/>
        </p:blipFill>
        <p:spPr>
          <a:xfrm>
            <a:off x="581040" y="3093120"/>
            <a:ext cx="206280" cy="223560"/>
          </a:xfrm>
          <a:prstGeom prst="rect">
            <a:avLst/>
          </a:prstGeom>
          <a:ln w="0">
            <a:noFill/>
          </a:ln>
        </p:spPr>
      </p:pic>
      <p:pic>
        <p:nvPicPr>
          <p:cNvPr id="266" name="Google Shape;399;p24" descr="image.png"/>
          <p:cNvPicPr/>
          <p:nvPr/>
        </p:nvPicPr>
        <p:blipFill>
          <a:blip r:embed="rId7"/>
          <a:stretch/>
        </p:blipFill>
        <p:spPr>
          <a:xfrm>
            <a:off x="581040" y="4168440"/>
            <a:ext cx="206280" cy="223560"/>
          </a:xfrm>
          <a:prstGeom prst="rect">
            <a:avLst/>
          </a:prstGeom>
          <a:ln w="0">
            <a:noFill/>
          </a:ln>
        </p:spPr>
      </p:pic>
      <p:pic>
        <p:nvPicPr>
          <p:cNvPr id="267" name="Google Shape;400;p24" descr="image.png"/>
          <p:cNvPicPr/>
          <p:nvPr/>
        </p:nvPicPr>
        <p:blipFill>
          <a:blip r:embed="rId8"/>
          <a:stretch/>
        </p:blipFill>
        <p:spPr>
          <a:xfrm>
            <a:off x="581040" y="5243760"/>
            <a:ext cx="180360" cy="223560"/>
          </a:xfrm>
          <a:prstGeom prst="rect">
            <a:avLst/>
          </a:prstGeom>
          <a:ln w="0">
            <a:noFill/>
          </a:ln>
        </p:spPr>
      </p:pic>
      <p:sp>
        <p:nvSpPr>
          <p:cNvPr id="268" name="Google Shape;436;p 1"/>
          <p:cNvSpPr/>
          <p:nvPr/>
        </p:nvSpPr>
        <p:spPr>
          <a:xfrm>
            <a:off x="581400" y="1351800"/>
            <a:ext cx="3989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Poppins"/>
                <a:ea typeface="Poppins"/>
              </a:rPr>
              <a:t>ESCAPING THE "LEGACY TRAP"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407;p25"/>
          <p:cNvSpPr/>
          <p:nvPr/>
        </p:nvSpPr>
        <p:spPr>
          <a:xfrm>
            <a:off x="58140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Sovereign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Compliance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Google Shape;408;p25"/>
          <p:cNvSpPr/>
          <p:nvPr/>
        </p:nvSpPr>
        <p:spPr>
          <a:xfrm>
            <a:off x="58140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1" name="Google Shape;409;p25" descr="image.png"/>
          <p:cNvPicPr/>
          <p:nvPr/>
        </p:nvPicPr>
        <p:blipFill>
          <a:blip r:embed="rId2"/>
          <a:stretch/>
        </p:blipFill>
        <p:spPr>
          <a:xfrm>
            <a:off x="676800" y="1781280"/>
            <a:ext cx="398160" cy="398160"/>
          </a:xfrm>
          <a:prstGeom prst="rect">
            <a:avLst/>
          </a:prstGeom>
          <a:ln w="0">
            <a:noFill/>
          </a:ln>
        </p:spPr>
      </p:pic>
      <p:sp>
        <p:nvSpPr>
          <p:cNvPr id="272" name="Google Shape;410;p25"/>
          <p:cNvSpPr/>
          <p:nvPr/>
        </p:nvSpPr>
        <p:spPr>
          <a:xfrm>
            <a:off x="1267200" y="1781280"/>
            <a:ext cx="1024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Hardware Root of Trust &amp; Micro-Segmentation: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 Moving beyond logical namespaces. Enforcing TPM 2.0 attestation and default-deny CNI network boundaries down to the Top-of-Rack (ToR) switch.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3" name="Google Shape;411;p25" descr="image.png"/>
          <p:cNvPicPr/>
          <p:nvPr/>
        </p:nvPicPr>
        <p:blipFill>
          <a:blip r:embed="rId3"/>
          <a:stretch/>
        </p:blipFill>
        <p:spPr>
          <a:xfrm>
            <a:off x="676800" y="2574720"/>
            <a:ext cx="398160" cy="398160"/>
          </a:xfrm>
          <a:prstGeom prst="rect">
            <a:avLst/>
          </a:prstGeom>
          <a:ln w="0">
            <a:noFill/>
          </a:ln>
        </p:spPr>
      </p:pic>
      <p:sp>
        <p:nvSpPr>
          <p:cNvPr id="274" name="Google Shape;412;p25"/>
          <p:cNvSpPr/>
          <p:nvPr/>
        </p:nvSpPr>
        <p:spPr>
          <a:xfrm>
            <a:off x="1267200" y="2574720"/>
            <a:ext cx="1024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Immutable Policy-as-Code: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 Eliminating configuration drift via GitOps and dynamic admission control (e.g., Kyverno). SOC 2 Type 2 guardrails are engineered directly into the cluster lifecycle.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Google Shape;413;p25" descr="image.png"/>
          <p:cNvPicPr/>
          <p:nvPr/>
        </p:nvPicPr>
        <p:blipFill>
          <a:blip r:embed="rId4"/>
          <a:stretch/>
        </p:blipFill>
        <p:spPr>
          <a:xfrm>
            <a:off x="676800" y="3386880"/>
            <a:ext cx="398160" cy="398160"/>
          </a:xfrm>
          <a:prstGeom prst="rect">
            <a:avLst/>
          </a:prstGeom>
          <a:ln w="0">
            <a:noFill/>
          </a:ln>
        </p:spPr>
      </p:pic>
      <p:sp>
        <p:nvSpPr>
          <p:cNvPr id="276" name="Google Shape;414;p25"/>
          <p:cNvSpPr/>
          <p:nvPr/>
        </p:nvSpPr>
        <p:spPr>
          <a:xfrm>
            <a:off x="1267200" y="3386880"/>
            <a:ext cx="1024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Provable Evidence Generation: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 Aggregating unified, WORM-backed audit trails across the bare-metal, Kubernetes API, and workload layers to automate continuous compliance reporting.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7" name="Google Shape;415;p25" descr="image.png"/>
          <p:cNvPicPr/>
          <p:nvPr/>
        </p:nvPicPr>
        <p:blipFill>
          <a:blip r:embed="rId5"/>
          <a:stretch/>
        </p:blipFill>
        <p:spPr>
          <a:xfrm>
            <a:off x="700560" y="4235040"/>
            <a:ext cx="398160" cy="398160"/>
          </a:xfrm>
          <a:prstGeom prst="rect">
            <a:avLst/>
          </a:prstGeom>
          <a:ln w="0">
            <a:noFill/>
          </a:ln>
        </p:spPr>
      </p:pic>
      <p:sp>
        <p:nvSpPr>
          <p:cNvPr id="278" name="Google Shape;416;p25"/>
          <p:cNvSpPr/>
          <p:nvPr/>
        </p:nvSpPr>
        <p:spPr>
          <a:xfrm>
            <a:off x="1290960" y="4235040"/>
            <a:ext cx="1024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Cryptographic Readiness: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 Enforcing strict KMS-backed persistent encryption at rest and preparing the service mesh for Post-Quantum Cryptography (PQC) standards in transit.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9" name="Google Shape;417;p25" descr="image.png"/>
          <p:cNvPicPr/>
          <p:nvPr/>
        </p:nvPicPr>
        <p:blipFill>
          <a:blip r:embed="rId6"/>
          <a:stretch/>
        </p:blipFill>
        <p:spPr>
          <a:xfrm>
            <a:off x="676800" y="5132880"/>
            <a:ext cx="398160" cy="398160"/>
          </a:xfrm>
          <a:prstGeom prst="rect">
            <a:avLst/>
          </a:prstGeom>
          <a:ln w="0">
            <a:noFill/>
          </a:ln>
        </p:spPr>
      </p:pic>
      <p:sp>
        <p:nvSpPr>
          <p:cNvPr id="280" name="Google Shape;418;p25"/>
          <p:cNvSpPr/>
          <p:nvPr/>
        </p:nvSpPr>
        <p:spPr>
          <a:xfrm>
            <a:off x="1267200" y="5132880"/>
            <a:ext cx="10247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9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[If required] FedRAMP High / NIST 800-53 Readiness: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Lato"/>
              </a:rPr>
              <a:t> Transitioning to strictly FIPS 140-3 validated cryptographic modules across the OS and network layers, establishing dedicated physical enclaves.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1" name="Google Shape;419;p25" descr="image.png"/>
          <p:cNvPicPr/>
          <p:nvPr/>
        </p:nvPicPr>
        <p:blipFill>
          <a:blip r:embed="rId7"/>
          <a:stretch/>
        </p:blipFill>
        <p:spPr>
          <a:xfrm>
            <a:off x="790920" y="189540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82" name="Google Shape;420;p25" descr="image.png"/>
          <p:cNvPicPr/>
          <p:nvPr/>
        </p:nvPicPr>
        <p:blipFill>
          <a:blip r:embed="rId8"/>
          <a:stretch/>
        </p:blipFill>
        <p:spPr>
          <a:xfrm>
            <a:off x="800640" y="2689200"/>
            <a:ext cx="150480" cy="169560"/>
          </a:xfrm>
          <a:prstGeom prst="rect">
            <a:avLst/>
          </a:prstGeom>
          <a:ln w="0">
            <a:noFill/>
          </a:ln>
        </p:spPr>
      </p:pic>
      <p:pic>
        <p:nvPicPr>
          <p:cNvPr id="283" name="Google Shape;421;p25" descr="image.png"/>
          <p:cNvPicPr/>
          <p:nvPr/>
        </p:nvPicPr>
        <p:blipFill>
          <a:blip r:embed="rId9"/>
          <a:stretch/>
        </p:blipFill>
        <p:spPr>
          <a:xfrm>
            <a:off x="781560" y="3519000"/>
            <a:ext cx="188640" cy="169560"/>
          </a:xfrm>
          <a:prstGeom prst="rect">
            <a:avLst/>
          </a:prstGeom>
          <a:ln w="0">
            <a:noFill/>
          </a:ln>
        </p:spPr>
      </p:pic>
      <p:pic>
        <p:nvPicPr>
          <p:cNvPr id="284" name="Google Shape;422;p25" descr="image.png"/>
          <p:cNvPicPr/>
          <p:nvPr/>
        </p:nvPicPr>
        <p:blipFill>
          <a:blip r:embed="rId10"/>
          <a:stretch/>
        </p:blipFill>
        <p:spPr>
          <a:xfrm>
            <a:off x="814680" y="4349160"/>
            <a:ext cx="169560" cy="169560"/>
          </a:xfrm>
          <a:prstGeom prst="rect">
            <a:avLst/>
          </a:prstGeom>
          <a:ln w="0">
            <a:noFill/>
          </a:ln>
        </p:spPr>
      </p:pic>
      <p:pic>
        <p:nvPicPr>
          <p:cNvPr id="285" name="Google Shape;423;p25" descr="image.png"/>
          <p:cNvPicPr/>
          <p:nvPr/>
        </p:nvPicPr>
        <p:blipFill>
          <a:blip r:embed="rId11"/>
          <a:stretch/>
        </p:blipFill>
        <p:spPr>
          <a:xfrm>
            <a:off x="781560" y="5247000"/>
            <a:ext cx="188640" cy="169560"/>
          </a:xfrm>
          <a:prstGeom prst="rect">
            <a:avLst/>
          </a:prstGeom>
          <a:ln w="0">
            <a:noFill/>
          </a:ln>
        </p:spPr>
      </p:pic>
      <p:pic>
        <p:nvPicPr>
          <p:cNvPr id="286" name="Google Shape;424;p25" descr="image.png"/>
          <p:cNvPicPr/>
          <p:nvPr/>
        </p:nvPicPr>
        <p:blipFill>
          <a:blip r:embed="rId12"/>
          <a:stretch/>
        </p:blipFill>
        <p:spPr>
          <a:xfrm>
            <a:off x="8849160" y="1724040"/>
            <a:ext cx="3331800" cy="3331800"/>
          </a:xfrm>
          <a:prstGeom prst="rect">
            <a:avLst/>
          </a:prstGeom>
          <a:ln w="0">
            <a:noFill/>
          </a:ln>
        </p:spPr>
      </p:pic>
      <p:sp>
        <p:nvSpPr>
          <p:cNvPr id="287" name="Google Shape;425;p25"/>
          <p:cNvSpPr/>
          <p:nvPr/>
        </p:nvSpPr>
        <p:spPr>
          <a:xfrm>
            <a:off x="581400" y="1351800"/>
            <a:ext cx="10666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Poppins"/>
                <a:ea typeface="Poppins"/>
              </a:rPr>
              <a:t>ELEVATING THE PRIVATE CLOUD TO CRYPTOGRAPHIC SOVEREIGNTY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914400" y="5943600"/>
            <a:ext cx="10514880" cy="456480"/>
          </a:xfrm>
          <a:prstGeom prst="roundRect">
            <a:avLst>
              <a:gd name="adj" fmla="val 16667"/>
            </a:avLst>
          </a:prstGeom>
          <a:solidFill>
            <a:srgbClr val="000080">
              <a:alpha val="75000"/>
            </a:srgbClr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Google Shape;166;p 7"/>
          <p:cNvSpPr/>
          <p:nvPr/>
        </p:nvSpPr>
        <p:spPr>
          <a:xfrm>
            <a:off x="1143000" y="6052320"/>
            <a:ext cx="10057680" cy="19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8fafc"/>
                </a:solidFill>
                <a:latin typeface="Arial"/>
                <a:ea typeface="Inter"/>
              </a:rPr>
              <a:t>Part of </a:t>
            </a:r>
            <a:r>
              <a:rPr b="1" lang="en-US" sz="1300" spc="-1" strike="noStrike">
                <a:solidFill>
                  <a:srgbClr val="f8fafc"/>
                </a:solidFill>
                <a:latin typeface="Arial"/>
                <a:ea typeface="Inter"/>
              </a:rPr>
              <a:t>Sovereign-Edge Compliance Orchestration (SECO):</a:t>
            </a:r>
            <a:r>
              <a:rPr b="0" lang="en-US" sz="1300" spc="-1" strike="noStrike">
                <a:solidFill>
                  <a:srgbClr val="f8fafc"/>
                </a:solidFill>
                <a:latin typeface="Arial"/>
                <a:ea typeface="Inter"/>
              </a:rPr>
              <a:t> The proprietary framework required for sovereign scale-out.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116;p22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291" name="Google Shape;434;p26"/>
          <p:cNvSpPr/>
          <p:nvPr/>
        </p:nvSpPr>
        <p:spPr>
          <a:xfrm>
            <a:off x="581040" y="581040"/>
            <a:ext cx="115797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SECO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Framework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Google Shape;435;p26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Google Shape;436;p26"/>
          <p:cNvSpPr/>
          <p:nvPr/>
        </p:nvSpPr>
        <p:spPr>
          <a:xfrm>
            <a:off x="581040" y="1351800"/>
            <a:ext cx="10666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708090"/>
                </a:solidFill>
                <a:latin typeface="Poppins"/>
                <a:ea typeface="Poppins"/>
              </a:rPr>
              <a:t>SECURING SOVEREIGN CLOUD OPERATIONS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4" name="Google Shape;437;p26" descr="image.png"/>
          <p:cNvPicPr/>
          <p:nvPr/>
        </p:nvPicPr>
        <p:blipFill>
          <a:blip r:embed="rId3">
            <a:alphaModFix amt="75000"/>
          </a:blip>
          <a:stretch/>
        </p:blipFill>
        <p:spPr>
          <a:xfrm>
            <a:off x="885960" y="1710360"/>
            <a:ext cx="3319200" cy="3769200"/>
          </a:xfrm>
          <a:prstGeom prst="rect">
            <a:avLst/>
          </a:prstGeom>
          <a:ln w="0">
            <a:noFill/>
          </a:ln>
        </p:spPr>
      </p:pic>
      <p:pic>
        <p:nvPicPr>
          <p:cNvPr id="295" name="Google Shape;438;p26" descr="image.png"/>
          <p:cNvPicPr/>
          <p:nvPr/>
        </p:nvPicPr>
        <p:blipFill>
          <a:blip r:embed="rId4">
            <a:alphaModFix amt="75000"/>
          </a:blip>
          <a:stretch/>
        </p:blipFill>
        <p:spPr>
          <a:xfrm>
            <a:off x="4435560" y="1710360"/>
            <a:ext cx="3319200" cy="3769200"/>
          </a:xfrm>
          <a:prstGeom prst="rect">
            <a:avLst/>
          </a:prstGeom>
          <a:ln w="0">
            <a:noFill/>
          </a:ln>
        </p:spPr>
      </p:pic>
      <p:pic>
        <p:nvPicPr>
          <p:cNvPr id="296" name="Google Shape;439;p26" descr="image.png"/>
          <p:cNvPicPr/>
          <p:nvPr/>
        </p:nvPicPr>
        <p:blipFill>
          <a:blip r:embed="rId5">
            <a:alphaModFix amt="75000"/>
          </a:blip>
          <a:stretch/>
        </p:blipFill>
        <p:spPr>
          <a:xfrm>
            <a:off x="7985160" y="1710360"/>
            <a:ext cx="3319560" cy="3769200"/>
          </a:xfrm>
          <a:prstGeom prst="rect">
            <a:avLst/>
          </a:prstGeom>
          <a:ln w="0">
            <a:noFill/>
          </a:ln>
        </p:spPr>
      </p:pic>
      <p:pic>
        <p:nvPicPr>
          <p:cNvPr id="297" name="Google Shape;440;p26" descr="image.png"/>
          <p:cNvPicPr/>
          <p:nvPr/>
        </p:nvPicPr>
        <p:blipFill>
          <a:blip r:embed="rId6"/>
          <a:stretch/>
        </p:blipFill>
        <p:spPr>
          <a:xfrm>
            <a:off x="1190520" y="1925640"/>
            <a:ext cx="512640" cy="297360"/>
          </a:xfrm>
          <a:prstGeom prst="rect">
            <a:avLst/>
          </a:prstGeom>
          <a:ln w="0">
            <a:noFill/>
          </a:ln>
        </p:spPr>
      </p:pic>
      <p:sp>
        <p:nvSpPr>
          <p:cNvPr id="298" name="Google Shape;441;p26"/>
          <p:cNvSpPr/>
          <p:nvPr/>
        </p:nvSpPr>
        <p:spPr>
          <a:xfrm>
            <a:off x="1190520" y="2379240"/>
            <a:ext cx="2709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Hardware &amp;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 Network Trust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Google Shape;442;p26"/>
          <p:cNvSpPr/>
          <p:nvPr/>
        </p:nvSpPr>
        <p:spPr>
          <a:xfrm>
            <a:off x="1190520" y="3118320"/>
            <a:ext cx="270972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2cd32"/>
                </a:solidFill>
                <a:latin typeface="Outfit ExtraBold"/>
                <a:ea typeface="Outfit ExtraBold"/>
              </a:rPr>
              <a:t>METHODOLOGY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443;p26"/>
          <p:cNvSpPr/>
          <p:nvPr/>
        </p:nvSpPr>
        <p:spPr>
          <a:xfrm>
            <a:off x="1190520" y="3337560"/>
            <a:ext cx="270972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cbd5e1"/>
                </a:solidFill>
                <a:latin typeface="Inter"/>
                <a:ea typeface="Inter"/>
              </a:rPr>
              <a:t>Enforcing an immutable secure boot with TPM-attested identity and eBPF micro-segmentation.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1" name="Google Shape;444;p26" descr="image.png"/>
          <p:cNvPicPr/>
          <p:nvPr/>
        </p:nvPicPr>
        <p:blipFill>
          <a:blip r:embed="rId7"/>
          <a:stretch/>
        </p:blipFill>
        <p:spPr>
          <a:xfrm>
            <a:off x="4740120" y="1925640"/>
            <a:ext cx="512640" cy="297360"/>
          </a:xfrm>
          <a:prstGeom prst="rect">
            <a:avLst/>
          </a:prstGeom>
          <a:ln w="0">
            <a:noFill/>
          </a:ln>
        </p:spPr>
      </p:pic>
      <p:sp>
        <p:nvSpPr>
          <p:cNvPr id="302" name="Google Shape;445;p26"/>
          <p:cNvSpPr/>
          <p:nvPr/>
        </p:nvSpPr>
        <p:spPr>
          <a:xfrm>
            <a:off x="4740120" y="2379240"/>
            <a:ext cx="27097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Policy-as-Code &amp;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 Cryptography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446;p26"/>
          <p:cNvSpPr/>
          <p:nvPr/>
        </p:nvSpPr>
        <p:spPr>
          <a:xfrm>
            <a:off x="4740120" y="3118320"/>
            <a:ext cx="270972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2cd32"/>
                </a:solidFill>
                <a:latin typeface="Outfit ExtraBold"/>
                <a:ea typeface="Outfit ExtraBold"/>
              </a:rPr>
              <a:t>METHODOLOGY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4" name="Google Shape;447;p26"/>
          <p:cNvSpPr/>
          <p:nvPr/>
        </p:nvSpPr>
        <p:spPr>
          <a:xfrm>
            <a:off x="4740120" y="3337560"/>
            <a:ext cx="270972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cbd5e1"/>
                </a:solidFill>
                <a:latin typeface="Inter"/>
                <a:ea typeface="Inter"/>
              </a:rPr>
              <a:t>Dynamic admission control for compliance guardrails paired with external KMS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5" name="Google Shape;448;p26" descr="image.png"/>
          <p:cNvPicPr/>
          <p:nvPr/>
        </p:nvPicPr>
        <p:blipFill>
          <a:blip r:embed="rId8"/>
          <a:stretch/>
        </p:blipFill>
        <p:spPr>
          <a:xfrm>
            <a:off x="8289720" y="1925640"/>
            <a:ext cx="512640" cy="297360"/>
          </a:xfrm>
          <a:prstGeom prst="rect">
            <a:avLst/>
          </a:prstGeom>
          <a:ln w="0">
            <a:noFill/>
          </a:ln>
        </p:spPr>
      </p:pic>
      <p:sp>
        <p:nvSpPr>
          <p:cNvPr id="306" name="Google Shape;449;p26"/>
          <p:cNvSpPr/>
          <p:nvPr/>
        </p:nvSpPr>
        <p:spPr>
          <a:xfrm>
            <a:off x="8289720" y="2379240"/>
            <a:ext cx="27100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Continuous</a:t>
            </a:r>
            <a:br>
              <a:rPr sz="1800"/>
            </a:br>
            <a:r>
              <a:rPr b="0" lang="en-US" sz="1800" spc="-1" strike="noStrike">
                <a:solidFill>
                  <a:srgbClr val="ffffff"/>
                </a:solidFill>
                <a:latin typeface="Outfit ExtraBold"/>
                <a:ea typeface="Outfit ExtraBold"/>
              </a:rPr>
              <a:t> Provability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Google Shape;450;p26"/>
          <p:cNvSpPr/>
          <p:nvPr/>
        </p:nvSpPr>
        <p:spPr>
          <a:xfrm>
            <a:off x="8289720" y="3118320"/>
            <a:ext cx="2710080" cy="13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32cd32"/>
                </a:solidFill>
                <a:latin typeface="Outfit ExtraBold"/>
                <a:ea typeface="Outfit ExtraBold"/>
              </a:rPr>
              <a:t>METHODOLOGY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Google Shape;451;p26"/>
          <p:cNvSpPr/>
          <p:nvPr/>
        </p:nvSpPr>
        <p:spPr>
          <a:xfrm>
            <a:off x="8289720" y="3337560"/>
            <a:ext cx="2710080" cy="76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9000"/>
              </a:lnSpc>
              <a:tabLst>
                <a:tab algn="l" pos="0"/>
              </a:tabLst>
            </a:pPr>
            <a:r>
              <a:rPr b="0" lang="en-US" sz="1130" spc="-1" strike="noStrike">
                <a:solidFill>
                  <a:srgbClr val="cbd5e1"/>
                </a:solidFill>
                <a:latin typeface="Inter"/>
                <a:ea typeface="Inter"/>
              </a:rPr>
              <a:t>High-performance log aggregation and unified observability for regulatory audit readiness.</a:t>
            </a:r>
            <a:endParaRPr b="0" lang="en-US" sz="11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Google Shape;452;p26" descr="image.png"/>
          <p:cNvPicPr/>
          <p:nvPr/>
        </p:nvPicPr>
        <p:blipFill>
          <a:blip r:embed="rId9"/>
          <a:stretch/>
        </p:blipFill>
        <p:spPr>
          <a:xfrm>
            <a:off x="1333440" y="196092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310" name="Google Shape;453;p26" descr="image.png"/>
          <p:cNvPicPr/>
          <p:nvPr/>
        </p:nvPicPr>
        <p:blipFill>
          <a:blip r:embed="rId10"/>
          <a:stretch/>
        </p:blipFill>
        <p:spPr>
          <a:xfrm>
            <a:off x="4883040" y="196092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311" name="Google Shape;454;p26" descr="image.png"/>
          <p:cNvPicPr/>
          <p:nvPr/>
        </p:nvPicPr>
        <p:blipFill>
          <a:blip r:embed="rId11"/>
          <a:stretch/>
        </p:blipFill>
        <p:spPr>
          <a:xfrm>
            <a:off x="8432640" y="1960920"/>
            <a:ext cx="226800" cy="226800"/>
          </a:xfrm>
          <a:prstGeom prst="rect">
            <a:avLst/>
          </a:prstGeom>
          <a:ln w="0">
            <a:noFill/>
          </a:ln>
        </p:spPr>
      </p:pic>
      <p:pic>
        <p:nvPicPr>
          <p:cNvPr id="312" name="Google Shape;458;p26" descr="image.png"/>
          <p:cNvPicPr/>
          <p:nvPr/>
        </p:nvPicPr>
        <p:blipFill>
          <a:blip r:embed="rId12"/>
          <a:stretch/>
        </p:blipFill>
        <p:spPr>
          <a:xfrm>
            <a:off x="1276200" y="4233240"/>
            <a:ext cx="2665080" cy="1074600"/>
          </a:xfrm>
          <a:prstGeom prst="rect">
            <a:avLst/>
          </a:prstGeom>
          <a:ln w="0">
            <a:noFill/>
          </a:ln>
        </p:spPr>
      </p:pic>
      <p:pic>
        <p:nvPicPr>
          <p:cNvPr id="313" name="Google Shape;459;p26" descr="image.png"/>
          <p:cNvPicPr/>
          <p:nvPr/>
        </p:nvPicPr>
        <p:blipFill>
          <a:blip r:embed="rId13"/>
          <a:stretch/>
        </p:blipFill>
        <p:spPr>
          <a:xfrm>
            <a:off x="4762440" y="4233240"/>
            <a:ext cx="2665080" cy="1074600"/>
          </a:xfrm>
          <a:prstGeom prst="rect">
            <a:avLst/>
          </a:prstGeom>
          <a:ln w="0">
            <a:noFill/>
          </a:ln>
        </p:spPr>
      </p:pic>
      <p:pic>
        <p:nvPicPr>
          <p:cNvPr id="314" name="Google Shape;460;p26" descr="image.png"/>
          <p:cNvPicPr/>
          <p:nvPr/>
        </p:nvPicPr>
        <p:blipFill>
          <a:blip r:embed="rId14"/>
          <a:stretch/>
        </p:blipFill>
        <p:spPr>
          <a:xfrm>
            <a:off x="8248680" y="4233240"/>
            <a:ext cx="2665080" cy="1074600"/>
          </a:xfrm>
          <a:prstGeom prst="rect">
            <a:avLst/>
          </a:prstGeom>
          <a:ln w="0">
            <a:noFill/>
          </a:ln>
        </p:spPr>
      </p:pic>
      <p:sp>
        <p:nvSpPr>
          <p:cNvPr id="315" name="Google Shape;461;p26"/>
          <p:cNvSpPr/>
          <p:nvPr/>
        </p:nvSpPr>
        <p:spPr>
          <a:xfrm>
            <a:off x="1428840" y="438552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Talos/Other Linux: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Secure Boot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462;p26"/>
          <p:cNvSpPr/>
          <p:nvPr/>
        </p:nvSpPr>
        <p:spPr>
          <a:xfrm>
            <a:off x="1428840" y="464256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TPM 2.0: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Secure Attestation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Google Shape;463;p26"/>
          <p:cNvSpPr/>
          <p:nvPr/>
        </p:nvSpPr>
        <p:spPr>
          <a:xfrm>
            <a:off x="1428840" y="489996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Cilium: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eBPF / Network Policies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Google Shape;464;p26"/>
          <p:cNvSpPr/>
          <p:nvPr/>
        </p:nvSpPr>
        <p:spPr>
          <a:xfrm>
            <a:off x="4914720" y="438552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Kyverno/OPA: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SOC 2 Policies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Google Shape;465;p26"/>
          <p:cNvSpPr/>
          <p:nvPr/>
        </p:nvSpPr>
        <p:spPr>
          <a:xfrm>
            <a:off x="4914720" y="464256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OpenBao/HashiCorp Vault: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KMS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Google Shape;466;p26"/>
          <p:cNvSpPr/>
          <p:nvPr/>
        </p:nvSpPr>
        <p:spPr>
          <a:xfrm>
            <a:off x="4914720" y="4899960"/>
            <a:ext cx="23605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Zero-Trust: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Encryption at-rest and in-transit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Google Shape;467;p26"/>
          <p:cNvSpPr/>
          <p:nvPr/>
        </p:nvSpPr>
        <p:spPr>
          <a:xfrm>
            <a:off x="8400960" y="438552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VictoriaLogs+Metrics: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Auditing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Google Shape;468;p26"/>
          <p:cNvSpPr/>
          <p:nvPr/>
        </p:nvSpPr>
        <p:spPr>
          <a:xfrm>
            <a:off x="8400960" y="464256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Fluent Bit: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Log Pipeline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Google Shape;469;p26"/>
          <p:cNvSpPr/>
          <p:nvPr/>
        </p:nvSpPr>
        <p:spPr>
          <a:xfrm>
            <a:off x="8400960" y="4899960"/>
            <a:ext cx="236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0952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38bdf8"/>
                </a:solidFill>
                <a:latin typeface="Inter"/>
                <a:ea typeface="Inter"/>
              </a:rPr>
              <a:t>Grafana+Alerta:</a:t>
            </a:r>
            <a:r>
              <a:rPr b="0" lang="en-US" sz="1050" spc="-1" strike="noStrike">
                <a:solidFill>
                  <a:srgbClr val="f1f5f9"/>
                </a:solidFill>
                <a:latin typeface="Inter"/>
                <a:ea typeface="Inter"/>
              </a:rPr>
              <a:t> Observability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4" name="Google Shape;470;p26" descr="image.png"/>
          <p:cNvPicPr/>
          <p:nvPr/>
        </p:nvPicPr>
        <p:blipFill>
          <a:blip r:embed="rId15"/>
          <a:stretch/>
        </p:blipFill>
        <p:spPr>
          <a:xfrm>
            <a:off x="1428840" y="440460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25" name="Google Shape;471;p26" descr="image.png"/>
          <p:cNvPicPr/>
          <p:nvPr/>
        </p:nvPicPr>
        <p:blipFill>
          <a:blip r:embed="rId16"/>
          <a:stretch/>
        </p:blipFill>
        <p:spPr>
          <a:xfrm>
            <a:off x="1428840" y="466164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26" name="Google Shape;472;p26" descr="image.png"/>
          <p:cNvPicPr/>
          <p:nvPr/>
        </p:nvPicPr>
        <p:blipFill>
          <a:blip r:embed="rId17"/>
          <a:stretch/>
        </p:blipFill>
        <p:spPr>
          <a:xfrm>
            <a:off x="1428840" y="491904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27" name="Google Shape;473;p26" descr="image.png"/>
          <p:cNvPicPr/>
          <p:nvPr/>
        </p:nvPicPr>
        <p:blipFill>
          <a:blip r:embed="rId18"/>
          <a:stretch/>
        </p:blipFill>
        <p:spPr>
          <a:xfrm>
            <a:off x="4914720" y="440460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28" name="Google Shape;474;p26" descr="image.png"/>
          <p:cNvPicPr/>
          <p:nvPr/>
        </p:nvPicPr>
        <p:blipFill>
          <a:blip r:embed="rId19"/>
          <a:stretch/>
        </p:blipFill>
        <p:spPr>
          <a:xfrm>
            <a:off x="4914720" y="466164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29" name="Google Shape;475;p26" descr="image.png"/>
          <p:cNvPicPr/>
          <p:nvPr/>
        </p:nvPicPr>
        <p:blipFill>
          <a:blip r:embed="rId20"/>
          <a:stretch/>
        </p:blipFill>
        <p:spPr>
          <a:xfrm>
            <a:off x="4914720" y="491904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30" name="Google Shape;476;p26" descr="image.png"/>
          <p:cNvPicPr/>
          <p:nvPr/>
        </p:nvPicPr>
        <p:blipFill>
          <a:blip r:embed="rId21"/>
          <a:stretch/>
        </p:blipFill>
        <p:spPr>
          <a:xfrm>
            <a:off x="8400960" y="440460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31" name="Google Shape;477;p26" descr="image.png"/>
          <p:cNvPicPr/>
          <p:nvPr/>
        </p:nvPicPr>
        <p:blipFill>
          <a:blip r:embed="rId22"/>
          <a:stretch/>
        </p:blipFill>
        <p:spPr>
          <a:xfrm>
            <a:off x="8400960" y="4661640"/>
            <a:ext cx="131400" cy="131400"/>
          </a:xfrm>
          <a:prstGeom prst="rect">
            <a:avLst/>
          </a:prstGeom>
          <a:ln w="0">
            <a:noFill/>
          </a:ln>
        </p:spPr>
      </p:pic>
      <p:pic>
        <p:nvPicPr>
          <p:cNvPr id="332" name="Google Shape;478;p26" descr="image.png"/>
          <p:cNvPicPr/>
          <p:nvPr/>
        </p:nvPicPr>
        <p:blipFill>
          <a:blip r:embed="rId23"/>
          <a:stretch/>
        </p:blipFill>
        <p:spPr>
          <a:xfrm>
            <a:off x="8400960" y="4919040"/>
            <a:ext cx="131400" cy="131400"/>
          </a:xfrm>
          <a:prstGeom prst="rect">
            <a:avLst/>
          </a:prstGeom>
          <a:ln w="0">
            <a:noFill/>
          </a:ln>
        </p:spPr>
      </p:pic>
      <p:sp>
        <p:nvSpPr>
          <p:cNvPr id="333" name=""/>
          <p:cNvSpPr/>
          <p:nvPr/>
        </p:nvSpPr>
        <p:spPr>
          <a:xfrm>
            <a:off x="932760" y="5660280"/>
            <a:ext cx="10286280" cy="68508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Google Shape;166;p 8"/>
          <p:cNvSpPr/>
          <p:nvPr/>
        </p:nvSpPr>
        <p:spPr>
          <a:xfrm>
            <a:off x="1731600" y="5760360"/>
            <a:ext cx="9106560" cy="5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Compliance is not a point-in-time checklist; it is a </a:t>
            </a:r>
            <a:r>
              <a:rPr b="0" lang="en-US" sz="1430" spc="-1" strike="noStrike">
                <a:solidFill>
                  <a:srgbClr val="38bdf8"/>
                </a:solidFill>
                <a:latin typeface="Arial"/>
                <a:ea typeface="Inter"/>
              </a:rPr>
              <a:t>reconciliation loop</a:t>
            </a: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. 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By embedding SECO framework into the platform, we achieve continuous </a:t>
            </a:r>
            <a:r>
              <a:rPr b="0" lang="en-US" sz="1430" spc="-1" strike="noStrike">
                <a:solidFill>
                  <a:srgbClr val="38bdf8"/>
                </a:solidFill>
                <a:latin typeface="Arial"/>
                <a:ea typeface="Inter"/>
              </a:rPr>
              <a:t>compliance and self-auditing</a:t>
            </a:r>
            <a:r>
              <a:rPr b="0" lang="en-US" sz="1430" spc="-1" strike="noStrike">
                <a:solidFill>
                  <a:srgbClr val="f1f5f9"/>
                </a:solidFill>
                <a:latin typeface="Arial"/>
                <a:ea typeface="Inter"/>
              </a:rPr>
              <a:t>.</a:t>
            </a:r>
            <a:endParaRPr b="0" lang="en-US" sz="143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5" name="Google Shape;417;p 1" descr="image.png"/>
          <p:cNvPicPr/>
          <p:nvPr/>
        </p:nvPicPr>
        <p:blipFill>
          <a:blip r:embed="rId24"/>
          <a:stretch/>
        </p:blipFill>
        <p:spPr>
          <a:xfrm>
            <a:off x="1146240" y="5797440"/>
            <a:ext cx="398160" cy="398160"/>
          </a:xfrm>
          <a:prstGeom prst="rect">
            <a:avLst/>
          </a:prstGeom>
          <a:ln w="0">
            <a:noFill/>
          </a:ln>
        </p:spPr>
      </p:pic>
      <p:pic>
        <p:nvPicPr>
          <p:cNvPr id="336" name="Google Shape;423;p 1" descr="image.png"/>
          <p:cNvPicPr/>
          <p:nvPr/>
        </p:nvPicPr>
        <p:blipFill>
          <a:blip r:embed="rId25"/>
          <a:stretch/>
        </p:blipFill>
        <p:spPr>
          <a:xfrm>
            <a:off x="1251000" y="5911560"/>
            <a:ext cx="188640" cy="169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123;p23" descr=""/>
          <p:cNvPicPr/>
          <p:nvPr/>
        </p:nvPicPr>
        <p:blipFill>
          <a:blip r:embed="rId2"/>
          <a:stretch/>
        </p:blipFill>
        <p:spPr>
          <a:xfrm>
            <a:off x="415440" y="61560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338" name="Google Shape;519;p28"/>
          <p:cNvSpPr/>
          <p:nvPr/>
        </p:nvSpPr>
        <p:spPr>
          <a:xfrm>
            <a:off x="581040" y="1295280"/>
            <a:ext cx="11028240" cy="17280"/>
          </a:xfrm>
          <a:prstGeom prst="rect">
            <a:avLst/>
          </a:prstGeom>
          <a:solidFill>
            <a:srgbClr val="33415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8640" bIns="8640" anchor="ctr">
            <a:noAutofit/>
          </a:bodyPr>
          <a:p>
            <a:pPr>
              <a:lnSpc>
                <a:spcPct val="100000"/>
              </a:lnSpc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Google Shape;520;p28"/>
          <p:cNvSpPr/>
          <p:nvPr/>
        </p:nvSpPr>
        <p:spPr>
          <a:xfrm>
            <a:off x="581040" y="572760"/>
            <a:ext cx="1157976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The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38bdf8"/>
                </a:solidFill>
                <a:latin typeface="Outfit ExtraBold"/>
                <a:ea typeface="Outfit ExtraBold"/>
              </a:rPr>
              <a:t>Brownfield</a:t>
            </a:r>
            <a:r>
              <a:rPr b="1" lang="en-US" sz="3600" spc="-1" strike="noStrike">
                <a:solidFill>
                  <a:srgbClr val="f8fafc"/>
                </a:solidFill>
                <a:latin typeface="Outfit ExtraBold"/>
                <a:ea typeface="Outfit ExtraBold"/>
              </a:rPr>
              <a:t> </a:t>
            </a:r>
            <a:r>
              <a:rPr b="1" lang="en-US" sz="3600" spc="-1" strike="noStrike">
                <a:solidFill>
                  <a:srgbClr val="00008b"/>
                </a:solidFill>
                <a:latin typeface="Outfit ExtraBold"/>
                <a:ea typeface="Outfit ExtraBold"/>
              </a:rPr>
              <a:t>Bridge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0" name="Google Shape;521;p28" descr="image.png"/>
          <p:cNvPicPr/>
          <p:nvPr/>
        </p:nvPicPr>
        <p:blipFill>
          <a:blip r:embed="rId3"/>
          <a:stretch/>
        </p:blipFill>
        <p:spPr>
          <a:xfrm>
            <a:off x="866880" y="1734840"/>
            <a:ext cx="2976120" cy="3046320"/>
          </a:xfrm>
          <a:prstGeom prst="rect">
            <a:avLst/>
          </a:prstGeom>
          <a:ln w="0">
            <a:noFill/>
          </a:ln>
        </p:spPr>
      </p:pic>
      <p:pic>
        <p:nvPicPr>
          <p:cNvPr id="341" name="Google Shape;522;p28" descr="image.png"/>
          <p:cNvPicPr/>
          <p:nvPr/>
        </p:nvPicPr>
        <p:blipFill>
          <a:blip r:embed="rId4"/>
          <a:stretch/>
        </p:blipFill>
        <p:spPr>
          <a:xfrm>
            <a:off x="4606920" y="1734840"/>
            <a:ext cx="2976120" cy="3046320"/>
          </a:xfrm>
          <a:prstGeom prst="rect">
            <a:avLst/>
          </a:prstGeom>
          <a:ln w="0">
            <a:noFill/>
          </a:ln>
        </p:spPr>
      </p:pic>
      <p:pic>
        <p:nvPicPr>
          <p:cNvPr id="342" name="Google Shape;523;p28" descr="image.png"/>
          <p:cNvPicPr/>
          <p:nvPr/>
        </p:nvPicPr>
        <p:blipFill>
          <a:blip r:embed="rId5"/>
          <a:stretch/>
        </p:blipFill>
        <p:spPr>
          <a:xfrm>
            <a:off x="8346960" y="1734840"/>
            <a:ext cx="2976480" cy="3046320"/>
          </a:xfrm>
          <a:prstGeom prst="rect">
            <a:avLst/>
          </a:prstGeom>
          <a:ln w="0">
            <a:noFill/>
          </a:ln>
        </p:spPr>
      </p:pic>
      <p:pic>
        <p:nvPicPr>
          <p:cNvPr id="343" name="Google Shape;524;p28" descr="image.png"/>
          <p:cNvPicPr/>
          <p:nvPr/>
        </p:nvPicPr>
        <p:blipFill>
          <a:blip r:embed="rId6"/>
          <a:stretch/>
        </p:blipFill>
        <p:spPr>
          <a:xfrm>
            <a:off x="1123920" y="301140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44" name="Google Shape;525;p28" descr="image.png"/>
          <p:cNvPicPr/>
          <p:nvPr/>
        </p:nvPicPr>
        <p:blipFill>
          <a:blip r:embed="rId7"/>
          <a:stretch/>
        </p:blipFill>
        <p:spPr>
          <a:xfrm>
            <a:off x="1123920" y="338292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45" name="Google Shape;526;p28" descr="image.png"/>
          <p:cNvPicPr/>
          <p:nvPr/>
        </p:nvPicPr>
        <p:blipFill>
          <a:blip r:embed="rId8"/>
          <a:stretch/>
        </p:blipFill>
        <p:spPr>
          <a:xfrm>
            <a:off x="1123920" y="375408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46" name="Google Shape;527;p28" descr="image.png"/>
          <p:cNvPicPr/>
          <p:nvPr/>
        </p:nvPicPr>
        <p:blipFill>
          <a:blip r:embed="rId9"/>
          <a:stretch/>
        </p:blipFill>
        <p:spPr>
          <a:xfrm>
            <a:off x="4863960" y="301140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47" name="Google Shape;528;p28" descr="image.png"/>
          <p:cNvPicPr/>
          <p:nvPr/>
        </p:nvPicPr>
        <p:blipFill>
          <a:blip r:embed="rId10"/>
          <a:stretch/>
        </p:blipFill>
        <p:spPr>
          <a:xfrm>
            <a:off x="4863960" y="338292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48" name="Google Shape;529;p28" descr="image.png"/>
          <p:cNvPicPr/>
          <p:nvPr/>
        </p:nvPicPr>
        <p:blipFill>
          <a:blip r:embed="rId11"/>
          <a:stretch/>
        </p:blipFill>
        <p:spPr>
          <a:xfrm>
            <a:off x="4863960" y="375408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49" name="Google Shape;530;p28" descr="image.png"/>
          <p:cNvPicPr/>
          <p:nvPr/>
        </p:nvPicPr>
        <p:blipFill>
          <a:blip r:embed="rId12"/>
          <a:stretch/>
        </p:blipFill>
        <p:spPr>
          <a:xfrm>
            <a:off x="8604000" y="301140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50" name="Google Shape;531;p28" descr="image.png"/>
          <p:cNvPicPr/>
          <p:nvPr/>
        </p:nvPicPr>
        <p:blipFill>
          <a:blip r:embed="rId13"/>
          <a:stretch/>
        </p:blipFill>
        <p:spPr>
          <a:xfrm>
            <a:off x="8604000" y="338292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51" name="Google Shape;532;p28" descr="image.png"/>
          <p:cNvPicPr/>
          <p:nvPr/>
        </p:nvPicPr>
        <p:blipFill>
          <a:blip r:embed="rId14"/>
          <a:stretch/>
        </p:blipFill>
        <p:spPr>
          <a:xfrm>
            <a:off x="8604000" y="3754080"/>
            <a:ext cx="2462040" cy="293400"/>
          </a:xfrm>
          <a:prstGeom prst="rect">
            <a:avLst/>
          </a:prstGeom>
          <a:ln w="0">
            <a:noFill/>
          </a:ln>
        </p:spPr>
      </p:pic>
      <p:pic>
        <p:nvPicPr>
          <p:cNvPr id="352" name="Google Shape;533;p28" descr="image.png"/>
          <p:cNvPicPr/>
          <p:nvPr/>
        </p:nvPicPr>
        <p:blipFill>
          <a:blip r:embed="rId15"/>
          <a:stretch/>
        </p:blipFill>
        <p:spPr>
          <a:xfrm>
            <a:off x="4154400" y="3139920"/>
            <a:ext cx="141120" cy="226800"/>
          </a:xfrm>
          <a:prstGeom prst="rect">
            <a:avLst/>
          </a:prstGeom>
          <a:ln w="0">
            <a:noFill/>
          </a:ln>
        </p:spPr>
      </p:pic>
      <p:pic>
        <p:nvPicPr>
          <p:cNvPr id="353" name="Google Shape;534;p28" descr="image.png"/>
          <p:cNvPicPr/>
          <p:nvPr/>
        </p:nvPicPr>
        <p:blipFill>
          <a:blip r:embed="rId16"/>
          <a:stretch/>
        </p:blipFill>
        <p:spPr>
          <a:xfrm>
            <a:off x="7894440" y="3139920"/>
            <a:ext cx="141120" cy="226800"/>
          </a:xfrm>
          <a:prstGeom prst="rect">
            <a:avLst/>
          </a:prstGeom>
          <a:ln w="0">
            <a:noFill/>
          </a:ln>
        </p:spPr>
      </p:pic>
      <p:sp>
        <p:nvSpPr>
          <p:cNvPr id="354" name="Google Shape;535;p28"/>
          <p:cNvSpPr/>
          <p:nvPr/>
        </p:nvSpPr>
        <p:spPr>
          <a:xfrm>
            <a:off x="1422360" y="2601720"/>
            <a:ext cx="186516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ef4444"/>
                </a:solidFill>
                <a:latin typeface="Outfit ExtraBold"/>
                <a:ea typeface="Outfit ExtraBold"/>
              </a:rPr>
              <a:t>LEGACY SOURCE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Google Shape;536;p28"/>
          <p:cNvSpPr/>
          <p:nvPr/>
        </p:nvSpPr>
        <p:spPr>
          <a:xfrm>
            <a:off x="1143000" y="4192560"/>
            <a:ext cx="22852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rial"/>
                <a:ea typeface="Inter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Arial"/>
                <a:ea typeface="Inter"/>
              </a:rPr>
              <a:t>Proprietary Abstraction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Google Shape;537;p28"/>
          <p:cNvSpPr/>
          <p:nvPr/>
        </p:nvSpPr>
        <p:spPr>
          <a:xfrm>
            <a:off x="4967280" y="2601720"/>
            <a:ext cx="225576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00bfff"/>
                </a:solidFill>
                <a:latin typeface="Outfit ExtraBold"/>
                <a:ea typeface="Outfit ExtraBold"/>
              </a:rPr>
              <a:t>MIGRATION ENGINE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Google Shape;538;p28"/>
          <p:cNvSpPr/>
          <p:nvPr/>
        </p:nvSpPr>
        <p:spPr>
          <a:xfrm>
            <a:off x="5257800" y="4192560"/>
            <a:ext cx="159912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rial"/>
                <a:ea typeface="Inter"/>
              </a:rPr>
              <a:t>  </a:t>
            </a:r>
            <a:r>
              <a:rPr b="0" lang="en-US" sz="1100" spc="-1" strike="noStrike">
                <a:solidFill>
                  <a:srgbClr val="64748b"/>
                </a:solidFill>
                <a:latin typeface="Arial"/>
                <a:ea typeface="Inter"/>
              </a:rPr>
              <a:t>Direct Streaming IO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Google Shape;539;p28"/>
          <p:cNvSpPr/>
          <p:nvPr/>
        </p:nvSpPr>
        <p:spPr>
          <a:xfrm>
            <a:off x="8631360" y="2601720"/>
            <a:ext cx="243504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10b981"/>
                </a:solidFill>
                <a:latin typeface="Outfit ExtraBold"/>
                <a:ea typeface="Outfit ExtraBold"/>
              </a:rPr>
              <a:t>NEW ENVIRONMENT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Google Shape;540;p28"/>
          <p:cNvSpPr/>
          <p:nvPr/>
        </p:nvSpPr>
        <p:spPr>
          <a:xfrm>
            <a:off x="8915400" y="4192560"/>
            <a:ext cx="1828080" cy="16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64748b"/>
                </a:solidFill>
                <a:latin typeface="Arial"/>
                <a:ea typeface="Inter"/>
              </a:rPr>
              <a:t>Declarative Logic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0" name="Google Shape;541;p28" descr="image.png"/>
          <p:cNvPicPr/>
          <p:nvPr/>
        </p:nvPicPr>
        <p:blipFill>
          <a:blip r:embed="rId17"/>
          <a:stretch/>
        </p:blipFill>
        <p:spPr>
          <a:xfrm>
            <a:off x="2184480" y="2030400"/>
            <a:ext cx="341280" cy="341280"/>
          </a:xfrm>
          <a:prstGeom prst="rect">
            <a:avLst/>
          </a:prstGeom>
          <a:ln w="0">
            <a:noFill/>
          </a:ln>
        </p:spPr>
      </p:pic>
      <p:pic>
        <p:nvPicPr>
          <p:cNvPr id="361" name="Google Shape;542;p28" descr="image.png"/>
          <p:cNvPicPr/>
          <p:nvPr/>
        </p:nvPicPr>
        <p:blipFill>
          <a:blip r:embed="rId18"/>
          <a:stretch/>
        </p:blipFill>
        <p:spPr>
          <a:xfrm>
            <a:off x="5881680" y="2030400"/>
            <a:ext cx="426960" cy="341280"/>
          </a:xfrm>
          <a:prstGeom prst="rect">
            <a:avLst/>
          </a:prstGeom>
          <a:ln w="0">
            <a:noFill/>
          </a:ln>
        </p:spPr>
      </p:pic>
      <p:pic>
        <p:nvPicPr>
          <p:cNvPr id="362" name="Google Shape;543;p28" descr="image.png"/>
          <p:cNvPicPr/>
          <p:nvPr/>
        </p:nvPicPr>
        <p:blipFill>
          <a:blip r:embed="rId19"/>
          <a:stretch/>
        </p:blipFill>
        <p:spPr>
          <a:xfrm>
            <a:off x="9664560" y="2030400"/>
            <a:ext cx="341280" cy="341280"/>
          </a:xfrm>
          <a:prstGeom prst="rect">
            <a:avLst/>
          </a:prstGeom>
          <a:ln w="0">
            <a:noFill/>
          </a:ln>
        </p:spPr>
      </p:pic>
      <p:sp>
        <p:nvSpPr>
          <p:cNvPr id="363" name="Google Shape;547;p28"/>
          <p:cNvSpPr/>
          <p:nvPr/>
        </p:nvSpPr>
        <p:spPr>
          <a:xfrm>
            <a:off x="571680" y="1349280"/>
            <a:ext cx="11047320" cy="25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650" spc="-1" strike="noStrike">
                <a:solidFill>
                  <a:srgbClr val="708090"/>
                </a:solidFill>
                <a:latin typeface="Urbanist"/>
                <a:ea typeface="Urbanist"/>
              </a:rPr>
              <a:t>MIGRATION MECHANICS: VCENTER TO KUBEVIRT</a:t>
            </a:r>
            <a:endParaRPr b="0" lang="en-US" sz="16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548;p28"/>
          <p:cNvSpPr/>
          <p:nvPr/>
        </p:nvSpPr>
        <p:spPr>
          <a:xfrm>
            <a:off x="905400" y="4874400"/>
            <a:ext cx="9618480" cy="50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50" spc="-1" strike="noStrike" u="sng">
                <a:solidFill>
                  <a:srgbClr val="0000ff"/>
                </a:solidFill>
                <a:uFillTx/>
                <a:latin typeface="Arial"/>
                <a:ea typeface="Inter"/>
              </a:rPr>
              <a:t>https://www.youtube.com/watch?v=2Fm8IJ7gyRg</a:t>
            </a:r>
            <a:br>
              <a:rPr sz="1350"/>
            </a:br>
            <a:r>
              <a:rPr b="0" lang="en-US" sz="1350" spc="-1" strike="noStrike" u="sng">
                <a:solidFill>
                  <a:schemeClr val="hlink"/>
                </a:solidFill>
                <a:uFillTx/>
                <a:latin typeface="Inter"/>
                <a:ea typeface="Inter"/>
                <a:hlinkClick r:id="rId20"/>
              </a:rPr>
              <a:t>https://medium.com/@aminefennane10/migrating-from-vmware-to-kubevirt-a-practical-guide-to-kubernetes-native-virtualization-e6c70e94788a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609480" y="5715000"/>
            <a:ext cx="10819800" cy="685080"/>
          </a:xfrm>
          <a:prstGeom prst="roundRect">
            <a:avLst>
              <a:gd name="adj" fmla="val 16667"/>
            </a:avLst>
          </a:prstGeom>
          <a:solidFill>
            <a:srgbClr val="00008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Google Shape;166;p 9"/>
          <p:cNvSpPr/>
          <p:nvPr/>
        </p:nvSpPr>
        <p:spPr>
          <a:xfrm>
            <a:off x="2286000" y="5815080"/>
            <a:ext cx="8457480" cy="47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8fafc"/>
                </a:solidFill>
                <a:latin typeface="Arial"/>
                <a:ea typeface="Inter"/>
              </a:rPr>
              <a:t>Migration is a </a:t>
            </a:r>
            <a:r>
              <a:rPr b="0" lang="en-US" sz="1350" spc="-1" strike="noStrike">
                <a:solidFill>
                  <a:srgbClr val="3cb371"/>
                </a:solidFill>
                <a:latin typeface="Arial"/>
                <a:ea typeface="Inter"/>
              </a:rPr>
              <a:t>data-streaming</a:t>
            </a:r>
            <a:r>
              <a:rPr b="0" lang="en-US" sz="1350" spc="-1" strike="noStrike">
                <a:solidFill>
                  <a:srgbClr val="f8fafc"/>
                </a:solidFill>
                <a:latin typeface="Arial"/>
                <a:ea typeface="Inter"/>
              </a:rPr>
              <a:t> process, </a:t>
            </a:r>
            <a:r>
              <a:rPr b="0" lang="en-US" sz="1350" spc="-1" strike="noStrike">
                <a:solidFill>
                  <a:srgbClr val="ff0000"/>
                </a:solidFill>
                <a:latin typeface="Arial"/>
                <a:ea typeface="Inter"/>
              </a:rPr>
              <a:t>not a rebuild ticket</a:t>
            </a:r>
            <a:r>
              <a:rPr b="0" lang="en-US" sz="1350" spc="-1" strike="noStrike">
                <a:solidFill>
                  <a:srgbClr val="f8fafc"/>
                </a:solidFill>
                <a:latin typeface="Arial"/>
                <a:ea typeface="Inter"/>
              </a:rPr>
              <a:t>. By utilizing Warm-Sync (CBT) mechanics, we safely transition multi-terabyte mission-critical state with near-zero cutover windows.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7" name="Google Shape;167;p 2" descr="image.png"/>
          <p:cNvPicPr/>
          <p:nvPr/>
        </p:nvPicPr>
        <p:blipFill>
          <a:blip r:embed="rId21"/>
          <a:stretch/>
        </p:blipFill>
        <p:spPr>
          <a:xfrm>
            <a:off x="915480" y="5933880"/>
            <a:ext cx="226800" cy="226800"/>
          </a:xfrm>
          <a:prstGeom prst="rect">
            <a:avLst/>
          </a:prstGeom>
          <a:ln w="0">
            <a:noFill/>
          </a:ln>
        </p:spPr>
      </p:pic>
      <p:sp>
        <p:nvSpPr>
          <p:cNvPr id="368" name="Google Shape;166;p 10"/>
          <p:cNvSpPr/>
          <p:nvPr/>
        </p:nvSpPr>
        <p:spPr>
          <a:xfrm>
            <a:off x="1371600" y="5933880"/>
            <a:ext cx="685080" cy="2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38bdf8"/>
                </a:solidFill>
                <a:latin typeface="Arial"/>
                <a:ea typeface="Inter"/>
              </a:rPr>
              <a:t>Verdict:</a:t>
            </a:r>
            <a:endParaRPr b="0" lang="en-US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130;p24" descr=""/>
          <p:cNvPicPr/>
          <p:nvPr/>
        </p:nvPicPr>
        <p:blipFill>
          <a:blip r:embed="rId2"/>
          <a:stretch/>
        </p:blipFill>
        <p:spPr>
          <a:xfrm>
            <a:off x="10230840" y="6091200"/>
            <a:ext cx="1544040" cy="588240"/>
          </a:xfrm>
          <a:prstGeom prst="rect">
            <a:avLst/>
          </a:prstGeom>
          <a:ln w="0">
            <a:noFill/>
          </a:ln>
        </p:spPr>
      </p:pic>
      <p:sp>
        <p:nvSpPr>
          <p:cNvPr id="370" name="Google Shape;555;p29"/>
          <p:cNvSpPr/>
          <p:nvPr/>
        </p:nvSpPr>
        <p:spPr>
          <a:xfrm>
            <a:off x="305280" y="438840"/>
            <a:ext cx="1157976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6750" spc="-1" strike="noStrike">
                <a:solidFill>
                  <a:srgbClr val="00008b"/>
                </a:solidFill>
                <a:latin typeface="Urbanist"/>
                <a:ea typeface="Urbanist"/>
              </a:rPr>
              <a:t>Single Control Plane</a:t>
            </a:r>
            <a:endParaRPr b="0" lang="en-US" sz="67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Google Shape;556;p29"/>
          <p:cNvSpPr/>
          <p:nvPr/>
        </p:nvSpPr>
        <p:spPr>
          <a:xfrm>
            <a:off x="581040" y="1600560"/>
            <a:ext cx="11028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00008b"/>
                </a:solidFill>
                <a:latin typeface="Arial"/>
                <a:ea typeface="Inter"/>
              </a:rPr>
              <a:t>The Post-Hypervisor era is here.</a:t>
            </a:r>
            <a:r>
              <a:rPr b="1" lang="en-US" sz="2100" spc="-1" strike="noStrike">
                <a:solidFill>
                  <a:srgbClr val="f8fafc"/>
                </a:solidFill>
                <a:latin typeface="Arial"/>
                <a:ea typeface="Inter"/>
              </a:rPr>
              <a:t> </a:t>
            </a:r>
            <a:r>
              <a:rPr b="1" lang="en-US" sz="2100" spc="-1" strike="noStrike">
                <a:solidFill>
                  <a:srgbClr val="f8fafc"/>
                </a:solidFill>
                <a:latin typeface="Arial"/>
                <a:ea typeface="Inter"/>
              </a:rPr>
              <a:t>	</a:t>
            </a:r>
            <a:r>
              <a:rPr b="1" lang="en-US" sz="2100" spc="-1" strike="noStrike">
                <a:solidFill>
                  <a:srgbClr val="f8fafc"/>
                </a:solidFill>
                <a:latin typeface="Arial"/>
                <a:ea typeface="Inter"/>
              </a:rPr>
              <a:t>	</a:t>
            </a:r>
            <a:r>
              <a:rPr b="1" lang="en-US" sz="2100" spc="-1" strike="noStrike">
                <a:solidFill>
                  <a:srgbClr val="f8fafc"/>
                </a:solidFill>
                <a:latin typeface="Arial"/>
                <a:ea typeface="Inter"/>
              </a:rPr>
              <a:t>	</a:t>
            </a:r>
            <a:r>
              <a:rPr b="1" lang="en-US" sz="2100" spc="-1" strike="noStrike">
                <a:solidFill>
                  <a:srgbClr val="f8fafc"/>
                </a:solidFill>
                <a:latin typeface="Arial"/>
                <a:ea typeface="Inter"/>
              </a:rPr>
              <a:t> </a:t>
            </a:r>
            <a:r>
              <a:rPr b="1" lang="en-US" sz="2100" spc="-1" strike="noStrike">
                <a:solidFill>
                  <a:srgbClr val="008000"/>
                </a:solidFill>
                <a:latin typeface="Arial"/>
                <a:ea typeface="Inter SemiBold"/>
              </a:rPr>
              <a:t>Let's go build the Unified Cloud.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Google Shape;557;p29" descr="image.png"/>
          <p:cNvPicPr/>
          <p:nvPr/>
        </p:nvPicPr>
        <p:blipFill>
          <a:blip r:embed="rId3">
            <a:lum bright="70000" contrast="-70000"/>
            <a:alphaModFix amt="50000"/>
          </a:blip>
          <a:stretch/>
        </p:blipFill>
        <p:spPr>
          <a:xfrm>
            <a:off x="7084800" y="2189880"/>
            <a:ext cx="3791880" cy="3537000"/>
          </a:xfrm>
          <a:prstGeom prst="rect">
            <a:avLst/>
          </a:prstGeom>
          <a:ln w="0">
            <a:noFill/>
          </a:ln>
        </p:spPr>
      </p:pic>
      <p:pic>
        <p:nvPicPr>
          <p:cNvPr id="373" name="Google Shape;558;p29" descr="image.png"/>
          <p:cNvPicPr/>
          <p:nvPr/>
        </p:nvPicPr>
        <p:blipFill>
          <a:blip r:embed="rId4"/>
          <a:stretch/>
        </p:blipFill>
        <p:spPr>
          <a:xfrm>
            <a:off x="7807320" y="2569320"/>
            <a:ext cx="2346480" cy="2346480"/>
          </a:xfrm>
          <a:prstGeom prst="rect">
            <a:avLst/>
          </a:prstGeom>
          <a:ln w="0">
            <a:noFill/>
          </a:ln>
        </p:spPr>
      </p:pic>
      <p:pic>
        <p:nvPicPr>
          <p:cNvPr id="374" name="Google Shape;559;p29" descr="image.png"/>
          <p:cNvPicPr/>
          <p:nvPr/>
        </p:nvPicPr>
        <p:blipFill>
          <a:blip r:embed="rId5"/>
          <a:stretch/>
        </p:blipFill>
        <p:spPr>
          <a:xfrm>
            <a:off x="762120" y="2348280"/>
            <a:ext cx="720720" cy="720720"/>
          </a:xfrm>
          <a:prstGeom prst="rect">
            <a:avLst/>
          </a:prstGeom>
          <a:ln w="0">
            <a:noFill/>
          </a:ln>
        </p:spPr>
      </p:pic>
      <p:pic>
        <p:nvPicPr>
          <p:cNvPr id="375" name="Google Shape;560;p29" descr="image.png"/>
          <p:cNvPicPr/>
          <p:nvPr/>
        </p:nvPicPr>
        <p:blipFill>
          <a:blip r:embed="rId6"/>
          <a:stretch/>
        </p:blipFill>
        <p:spPr>
          <a:xfrm>
            <a:off x="762120" y="3630960"/>
            <a:ext cx="720720" cy="720720"/>
          </a:xfrm>
          <a:prstGeom prst="rect">
            <a:avLst/>
          </a:prstGeom>
          <a:ln w="0">
            <a:noFill/>
          </a:ln>
        </p:spPr>
      </p:pic>
      <p:pic>
        <p:nvPicPr>
          <p:cNvPr id="376" name="Google Shape;561;p29" descr="image.png"/>
          <p:cNvPicPr/>
          <p:nvPr/>
        </p:nvPicPr>
        <p:blipFill>
          <a:blip r:embed="rId7"/>
          <a:stretch/>
        </p:blipFill>
        <p:spPr>
          <a:xfrm>
            <a:off x="762120" y="4913640"/>
            <a:ext cx="720720" cy="720720"/>
          </a:xfrm>
          <a:prstGeom prst="rect">
            <a:avLst/>
          </a:prstGeom>
          <a:ln w="0">
            <a:noFill/>
          </a:ln>
        </p:spPr>
      </p:pic>
      <p:pic>
        <p:nvPicPr>
          <p:cNvPr id="377" name="Google Shape;562;p29" descr=""/>
          <p:cNvPicPr/>
          <p:nvPr/>
        </p:nvPicPr>
        <p:blipFill>
          <a:blip r:embed="rId8"/>
          <a:srcRect l="0" t="71" r="0" b="82"/>
          <a:stretch/>
        </p:blipFill>
        <p:spPr>
          <a:xfrm>
            <a:off x="7942680" y="2704680"/>
            <a:ext cx="2075760" cy="2075760"/>
          </a:xfrm>
          <a:prstGeom prst="rect">
            <a:avLst/>
          </a:prstGeom>
          <a:ln w="0">
            <a:noFill/>
          </a:ln>
        </p:spPr>
      </p:pic>
      <p:sp>
        <p:nvSpPr>
          <p:cNvPr id="378" name="Google Shape;563;p29"/>
          <p:cNvSpPr/>
          <p:nvPr/>
        </p:nvSpPr>
        <p:spPr>
          <a:xfrm>
            <a:off x="8013960" y="5007960"/>
            <a:ext cx="1932840" cy="2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0000cd"/>
                </a:solidFill>
                <a:latin typeface="Arial"/>
                <a:ea typeface="Urbanist"/>
              </a:rPr>
              <a:t>LET'S CONNECT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564;p29"/>
          <p:cNvSpPr/>
          <p:nvPr/>
        </p:nvSpPr>
        <p:spPr>
          <a:xfrm>
            <a:off x="8060040" y="5360400"/>
            <a:ext cx="1840680" cy="1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280" spc="-1" strike="noStrike">
                <a:solidFill>
                  <a:srgbClr val="0000cd"/>
                </a:solidFill>
                <a:latin typeface="Lato"/>
                <a:ea typeface="Lato"/>
              </a:rPr>
              <a:t>/in/myroslavmishov/</a:t>
            </a:r>
            <a:endParaRPr b="0" lang="en-US" sz="128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0" name="Google Shape;565;p29" descr="image.png"/>
          <p:cNvPicPr/>
          <p:nvPr/>
        </p:nvPicPr>
        <p:blipFill>
          <a:blip r:embed="rId9"/>
          <a:stretch/>
        </p:blipFill>
        <p:spPr>
          <a:xfrm>
            <a:off x="915480" y="2502000"/>
            <a:ext cx="413640" cy="413640"/>
          </a:xfrm>
          <a:prstGeom prst="rect">
            <a:avLst/>
          </a:prstGeom>
          <a:ln w="0">
            <a:noFill/>
          </a:ln>
        </p:spPr>
      </p:pic>
      <p:sp>
        <p:nvSpPr>
          <p:cNvPr id="381" name="Google Shape;566;p29"/>
          <p:cNvSpPr/>
          <p:nvPr/>
        </p:nvSpPr>
        <p:spPr>
          <a:xfrm>
            <a:off x="1710360" y="2248920"/>
            <a:ext cx="507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80" spc="-1" strike="noStrike">
                <a:solidFill>
                  <a:srgbClr val="1e90ff"/>
                </a:solidFill>
                <a:latin typeface="Arial"/>
                <a:ea typeface="Urbanist"/>
              </a:rPr>
              <a:t>Unified Control Plane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567;p29"/>
          <p:cNvSpPr/>
          <p:nvPr/>
        </p:nvSpPr>
        <p:spPr>
          <a:xfrm>
            <a:off x="1710360" y="2587680"/>
            <a:ext cx="48304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Lato"/>
              </a:rPr>
              <a:t>Merge Bare-Metal, Managed K8S, PaaS, AI, and legacy VMs on a single cloud-native platform.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3" name="Google Shape;568;p29" descr="image.png"/>
          <p:cNvPicPr/>
          <p:nvPr/>
        </p:nvPicPr>
        <p:blipFill>
          <a:blip r:embed="rId10"/>
          <a:stretch/>
        </p:blipFill>
        <p:spPr>
          <a:xfrm>
            <a:off x="915480" y="3784680"/>
            <a:ext cx="413640" cy="413640"/>
          </a:xfrm>
          <a:prstGeom prst="rect">
            <a:avLst/>
          </a:prstGeom>
          <a:ln w="0">
            <a:noFill/>
          </a:ln>
        </p:spPr>
      </p:pic>
      <p:sp>
        <p:nvSpPr>
          <p:cNvPr id="384" name="Google Shape;569;p29"/>
          <p:cNvSpPr/>
          <p:nvPr/>
        </p:nvSpPr>
        <p:spPr>
          <a:xfrm>
            <a:off x="1710360" y="3531600"/>
            <a:ext cx="507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80" spc="-1" strike="noStrike">
                <a:solidFill>
                  <a:srgbClr val="008000"/>
                </a:solidFill>
                <a:latin typeface="Arial"/>
                <a:ea typeface="Urbanist"/>
              </a:rPr>
              <a:t>Operational Velocity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Google Shape;570;p29"/>
          <p:cNvSpPr/>
          <p:nvPr/>
        </p:nvSpPr>
        <p:spPr>
          <a:xfrm>
            <a:off x="1710360" y="3895200"/>
            <a:ext cx="48304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Lato"/>
              </a:rPr>
              <a:t>Kill the "Hypervisor Tax" and restore engineering speed via GitOps automation.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6" name="Google Shape;571;p29" descr="image.png"/>
          <p:cNvPicPr/>
          <p:nvPr/>
        </p:nvPicPr>
        <p:blipFill>
          <a:blip r:embed="rId11"/>
          <a:stretch/>
        </p:blipFill>
        <p:spPr>
          <a:xfrm>
            <a:off x="915480" y="5067000"/>
            <a:ext cx="413640" cy="413640"/>
          </a:xfrm>
          <a:prstGeom prst="rect">
            <a:avLst/>
          </a:prstGeom>
          <a:ln w="0">
            <a:noFill/>
          </a:ln>
        </p:spPr>
      </p:pic>
      <p:sp>
        <p:nvSpPr>
          <p:cNvPr id="387" name="Google Shape;572;p29"/>
          <p:cNvSpPr/>
          <p:nvPr/>
        </p:nvSpPr>
        <p:spPr>
          <a:xfrm>
            <a:off x="1710360" y="4814280"/>
            <a:ext cx="5072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n-US" sz="2280" spc="-1" strike="noStrike">
                <a:solidFill>
                  <a:srgbClr val="00008b"/>
                </a:solidFill>
                <a:latin typeface="Urbanist"/>
                <a:ea typeface="Urbanist"/>
              </a:rPr>
              <a:t>True Sovereignty</a:t>
            </a:r>
            <a:endParaRPr b="0" lang="en-US" sz="228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573;p29"/>
          <p:cNvSpPr/>
          <p:nvPr/>
        </p:nvSpPr>
        <p:spPr>
          <a:xfrm>
            <a:off x="1710360" y="5175360"/>
            <a:ext cx="483048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Lato"/>
              </a:rPr>
              <a:t>Full ownership of your code, your data, and your hardware platform. Zero lock-in.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9" name="Google Shape;575;p29" descr="image.png"/>
          <p:cNvPicPr/>
          <p:nvPr/>
        </p:nvPicPr>
        <p:blipFill>
          <a:blip r:embed="rId12"/>
          <a:stretch/>
        </p:blipFill>
        <p:spPr>
          <a:xfrm>
            <a:off x="7860240" y="5344560"/>
            <a:ext cx="198360" cy="226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2026-05-09T14:55:41Z</dcterms:modified>
  <cp:revision>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