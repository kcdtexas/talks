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 Medium"/>
      <p:regular r:id="rId20"/>
      <p:bold r:id="rId21"/>
      <p:italic r:id="rId22"/>
      <p:boldItalic r:id="rId23"/>
    </p:embeddedFont>
    <p:embeddedFont>
      <p:font typeface="Roboto"/>
      <p:bold r:id="rId24"/>
      <p:boldItalic r:id="rId25"/>
    </p:embeddedFont>
    <p:embeddedFont>
      <p:font typeface="League Gothic"/>
      <p:regular r:id="rId26"/>
    </p:embeddedFont>
    <p:embeddedFont>
      <p:font typeface="Robo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Medium-regular.fntdata"/><Relationship Id="rId22" Type="http://schemas.openxmlformats.org/officeDocument/2006/relationships/font" Target="fonts/RobotoMonoMedium-italic.fntdata"/><Relationship Id="rId21" Type="http://schemas.openxmlformats.org/officeDocument/2006/relationships/font" Target="fonts/RobotoMonoMedium-bold.fntdata"/><Relationship Id="rId24" Type="http://schemas.openxmlformats.org/officeDocument/2006/relationships/font" Target="fonts/Roboto-bold.fntdata"/><Relationship Id="rId23" Type="http://schemas.openxmlformats.org/officeDocument/2006/relationships/font" Target="fonts/RobotoMono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eagueGothic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RobotoLight-bold.fntdata"/><Relationship Id="rId27" Type="http://schemas.openxmlformats.org/officeDocument/2006/relationships/font" Target="fonts/Robo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Petroski was an American engineer specializing in failure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Petroski worked at the University of Texas at Austin from 1968–74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Security and Margins are an implicit part of all of this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Layers of concern - separation of responsibilities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Cohort based rollouts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Plugin based manifests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Airflow deployment YAML generation in parallel and apply considering fairness and 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Plugin based manifest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Client side apply vs Server side apply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Airflow deployment YAML generation in parallel and apply considering fairness and 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Plugin based manifest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Client side apply vs Server side apply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How do you manage the complete lifecycle of an Airflow deployment — database, workers, scheduler, webserver, autoscaling, observability — using Kubernetes primitives without building a monolithic controller?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CGNAT addresses for pods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Node Local DNS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MNG vs Karpenter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Cluster Autoscaler silent failures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Karpenter Consolidation policies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Custom bin pack scheduler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DNS Registration &amp; Certificate Provisioning at Fleet Scale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fa149278a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fa149278a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Airflow deployment YAML generation in parallel and apply considering fairness and 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Plugin based manifest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Client side apply vs Server side apply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Airflow deployment YAML generation in parallel and apply considering fairness and priority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Plugin based manifest delivery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Client side apply vs Server side apply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fa149278a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fa149278a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roup 4411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151" y="4245825"/>
            <a:ext cx="1749325" cy="6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71500" y="1333500"/>
            <a:ext cx="8001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FFFF"/>
                </a:solidFill>
                <a:latin typeface="League Gothic"/>
                <a:ea typeface="League Gothic"/>
                <a:cs typeface="League Gothic"/>
                <a:sym typeface="League Gothic"/>
              </a:rPr>
              <a:t>One Control Plane, Three Clouds:</a:t>
            </a:r>
            <a:endParaRPr sz="7200">
              <a:solidFill>
                <a:srgbClr val="FFFFFF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E02424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Kubernetes Architecture Behind Astro</a:t>
            </a:r>
            <a:endParaRPr sz="4200">
              <a:solidFill>
                <a:srgbClr val="E02424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571500" y="3429000"/>
            <a:ext cx="3810000" cy="762000"/>
            <a:chOff x="571500" y="3429000"/>
            <a:chExt cx="3810000" cy="762000"/>
          </a:xfrm>
        </p:grpSpPr>
        <p:sp>
          <p:nvSpPr>
            <p:cNvPr id="57" name="Google Shape;57;p13"/>
            <p:cNvSpPr/>
            <p:nvPr/>
          </p:nvSpPr>
          <p:spPr>
            <a:xfrm>
              <a:off x="571500" y="3429000"/>
              <a:ext cx="952500" cy="38100"/>
            </a:xfrm>
            <a:prstGeom prst="rect">
              <a:avLst/>
            </a:prstGeom>
            <a:solidFill>
              <a:srgbClr val="E024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571500" y="361950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0ECE5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Goutam Tadi</a:t>
              </a:r>
              <a:endParaRPr b="0" sz="1800">
                <a:solidFill>
                  <a:srgbClr val="F0ECE5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pic>
        <p:nvPicPr>
          <p:cNvPr id="59" name="Google Shape;59;p13"/>
          <p:cNvPicPr preferRelativeResize="0"/>
          <p:nvPr/>
        </p:nvPicPr>
        <p:blipFill rotWithShape="1">
          <a:blip r:embed="rId5">
            <a:alphaModFix/>
          </a:blip>
          <a:srcRect b="1067" l="0" r="0" t="1067"/>
          <a:stretch/>
        </p:blipFill>
        <p:spPr>
          <a:xfrm>
            <a:off x="571504" y="4035028"/>
            <a:ext cx="1003500" cy="1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2966" y="4568866"/>
            <a:ext cx="1158975" cy="4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Logo - White.png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44179" y="4733000"/>
            <a:ext cx="1003374" cy="1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4"/>
          <p:cNvGrpSpPr/>
          <p:nvPr/>
        </p:nvGrpSpPr>
        <p:grpSpPr>
          <a:xfrm>
            <a:off x="381000" y="285750"/>
            <a:ext cx="8382000" cy="561975"/>
            <a:chOff x="381000" y="285750"/>
            <a:chExt cx="8382000" cy="561975"/>
          </a:xfrm>
        </p:grpSpPr>
        <p:sp>
          <p:nvSpPr>
            <p:cNvPr id="67" name="Google Shape;67;p14"/>
            <p:cNvSpPr txBox="1"/>
            <p:nvPr/>
          </p:nvSpPr>
          <p:spPr>
            <a:xfrm>
              <a:off x="381000" y="2857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945">
                  <a:solidFill>
                    <a:schemeClr val="accent2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Who am I &amp; What is Astro</a:t>
              </a:r>
              <a:endParaRPr sz="2945">
                <a:solidFill>
                  <a:schemeClr val="accent2"/>
                </a:solidFill>
                <a:latin typeface="League Gothic"/>
                <a:ea typeface="League Gothic"/>
                <a:cs typeface="League Gothic"/>
                <a:sym typeface="League Gothic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381000" y="809625"/>
              <a:ext cx="571500" cy="38100"/>
            </a:xfrm>
            <a:prstGeom prst="rect">
              <a:avLst/>
            </a:prstGeom>
            <a:solidFill>
              <a:srgbClr val="E024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" name="Google Shape;69;p14"/>
          <p:cNvGrpSpPr/>
          <p:nvPr/>
        </p:nvGrpSpPr>
        <p:grpSpPr>
          <a:xfrm>
            <a:off x="381000" y="1095375"/>
            <a:ext cx="8382000" cy="1143000"/>
            <a:chOff x="381000" y="1095375"/>
            <a:chExt cx="8382000" cy="1143000"/>
          </a:xfrm>
        </p:grpSpPr>
        <p:sp>
          <p:nvSpPr>
            <p:cNvPr id="70" name="Google Shape;70;p14"/>
            <p:cNvSpPr/>
            <p:nvPr/>
          </p:nvSpPr>
          <p:spPr>
            <a:xfrm>
              <a:off x="381000" y="1095375"/>
              <a:ext cx="8382000" cy="1143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619125" y="1355979"/>
              <a:ext cx="762000" cy="762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B3B3B3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8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engineering</a:t>
              </a:r>
              <a:endParaRPr sz="480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1524000" y="1238250"/>
              <a:ext cx="7048500" cy="3810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Goutam Tadi - Engineering at Astronomer</a:t>
              </a:r>
              <a:endParaRPr b="1" sz="24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524000" y="1666875"/>
              <a:ext cx="7048500" cy="476400"/>
            </a:xfrm>
            <a:prstGeom prst="rect">
              <a:avLst/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Building the Kubernetes Control plane that powers Astro. Focus on cluster provisioning, manifest generation, security, and deployment lifecycle management.</a:t>
              </a:r>
              <a:endParaRPr b="0" sz="13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74" name="Google Shape;74;p14"/>
          <p:cNvSpPr txBox="1"/>
          <p:nvPr/>
        </p:nvSpPr>
        <p:spPr>
          <a:xfrm>
            <a:off x="381000" y="2428875"/>
            <a:ext cx="8382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80">
                <a:solidFill>
                  <a:schemeClr val="accent2"/>
                </a:solidFill>
                <a:latin typeface="League Gothic"/>
                <a:ea typeface="League Gothic"/>
                <a:cs typeface="League Gothic"/>
                <a:sym typeface="League Gothic"/>
              </a:rPr>
              <a:t>Astro - Managed Airflow</a:t>
            </a:r>
            <a:endParaRPr sz="2380">
              <a:solidFill>
                <a:schemeClr val="accent2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75" name="Google Shape;75;p14"/>
          <p:cNvGrpSpPr/>
          <p:nvPr/>
        </p:nvGrpSpPr>
        <p:grpSpPr>
          <a:xfrm>
            <a:off x="381000" y="2905125"/>
            <a:ext cx="8382000" cy="1476300"/>
            <a:chOff x="381000" y="2905125"/>
            <a:chExt cx="8382000" cy="1476300"/>
          </a:xfrm>
        </p:grpSpPr>
        <p:sp>
          <p:nvSpPr>
            <p:cNvPr id="76" name="Google Shape;76;p14"/>
            <p:cNvSpPr/>
            <p:nvPr/>
          </p:nvSpPr>
          <p:spPr>
            <a:xfrm>
              <a:off x="381000" y="2905125"/>
              <a:ext cx="2667000" cy="1476300"/>
            </a:xfrm>
            <a:prstGeom prst="roundRect">
              <a:avLst>
                <a:gd fmla="val 7741" name="adj"/>
              </a:avLst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381000" y="2905125"/>
              <a:ext cx="2667000" cy="14763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8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Scalable Architecture</a:t>
              </a:r>
              <a:endParaRPr b="1" sz="124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Hundreds of K8s clusters and billions of tasks</a:t>
              </a:r>
              <a:endParaRPr b="0" sz="85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3238500" y="2905125"/>
              <a:ext cx="2667000" cy="1476300"/>
            </a:xfrm>
            <a:prstGeom prst="roundRect">
              <a:avLst>
                <a:gd fmla="val 7741" name="adj"/>
              </a:avLst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3238500" y="2905125"/>
              <a:ext cx="2667000" cy="14763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48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Control Plane</a:t>
              </a:r>
              <a:endParaRPr b="1" sz="12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Manages hundreds of dataplane Kubernetes clusters</a:t>
              </a:r>
              <a:endParaRPr b="0" sz="85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6096000" y="2905125"/>
              <a:ext cx="2667000" cy="1476300"/>
            </a:xfrm>
            <a:prstGeom prst="roundRect">
              <a:avLst>
                <a:gd fmla="val 7741" name="adj"/>
              </a:avLst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6096000" y="2905125"/>
              <a:ext cx="2667000" cy="14763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248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24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Operator Model</a:t>
              </a:r>
              <a:endParaRPr b="1" sz="12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853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Deploys Apache Airflow via custom operators</a:t>
              </a:r>
              <a:endParaRPr b="0" sz="853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5"/>
          <p:cNvGrpSpPr/>
          <p:nvPr/>
        </p:nvGrpSpPr>
        <p:grpSpPr>
          <a:xfrm>
            <a:off x="571500" y="666750"/>
            <a:ext cx="8001000" cy="3524250"/>
            <a:chOff x="571500" y="666750"/>
            <a:chExt cx="8001000" cy="3524250"/>
          </a:xfrm>
        </p:grpSpPr>
        <p:sp>
          <p:nvSpPr>
            <p:cNvPr id="87" name="Google Shape;87;p15"/>
            <p:cNvSpPr/>
            <p:nvPr/>
          </p:nvSpPr>
          <p:spPr>
            <a:xfrm>
              <a:off x="571500" y="952500"/>
              <a:ext cx="8001000" cy="3238500"/>
            </a:xfrm>
            <a:prstGeom prst="roundRect">
              <a:avLst>
                <a:gd fmla="val 5882" name="adj"/>
              </a:avLst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" name="Google Shape;88;p15"/>
            <p:cNvGrpSpPr/>
            <p:nvPr/>
          </p:nvGrpSpPr>
          <p:grpSpPr>
            <a:xfrm>
              <a:off x="4191000" y="666750"/>
              <a:ext cx="762000" cy="832104"/>
              <a:chOff x="4191000" y="666750"/>
              <a:chExt cx="762000" cy="832104"/>
            </a:xfrm>
          </p:grpSpPr>
          <p:sp>
            <p:nvSpPr>
              <p:cNvPr id="89" name="Google Shape;89;p15"/>
              <p:cNvSpPr/>
              <p:nvPr/>
            </p:nvSpPr>
            <p:spPr>
              <a:xfrm>
                <a:off x="4191000" y="666750"/>
                <a:ext cx="762000" cy="762000"/>
              </a:xfrm>
              <a:prstGeom prst="rect">
                <a:avLst/>
              </a:prstGeom>
              <a:gradFill>
                <a:gsLst>
                  <a:gs pos="0">
                    <a:srgbClr val="D4E5F5"/>
                  </a:gs>
                  <a:gs pos="100000">
                    <a:srgbClr val="70A4D5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5"/>
              <p:cNvSpPr txBox="1"/>
              <p:nvPr/>
            </p:nvSpPr>
            <p:spPr>
              <a:xfrm>
                <a:off x="4191000" y="736854"/>
                <a:ext cx="762000" cy="762000"/>
              </a:xfrm>
              <a:prstGeom prst="rect">
                <a:avLst/>
              </a:prstGeom>
              <a:gradFill>
                <a:gsLst>
                  <a:gs pos="0">
                    <a:srgbClr val="D4E5F5"/>
                  </a:gs>
                  <a:gs pos="100000">
                    <a:srgbClr val="70A4D5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800">
                    <a:solidFill>
                      <a:srgbClr val="E0242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format_quote</a:t>
                </a:r>
                <a:endParaRPr sz="48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91" name="Google Shape;91;p15"/>
            <p:cNvSpPr txBox="1"/>
            <p:nvPr/>
          </p:nvSpPr>
          <p:spPr>
            <a:xfrm>
              <a:off x="952500" y="1333500"/>
              <a:ext cx="7239000" cy="19050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2960">
                  <a:solidFill>
                    <a:srgbClr val="43434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"Successful design is not the achievement of perfection but the minimization and accommodation of imperfection."</a:t>
              </a:r>
              <a:endParaRPr b="0" i="1" sz="296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4191000" y="3429000"/>
              <a:ext cx="762000" cy="381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952500" y="3619500"/>
              <a:ext cx="7239000" cy="381000"/>
            </a:xfrm>
            <a:prstGeom prst="rect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434343"/>
                  </a:solidFill>
                  <a:latin typeface="Roboto Mono Medium"/>
                  <a:ea typeface="Roboto Mono Medium"/>
                  <a:cs typeface="Roboto Mono Medium"/>
                  <a:sym typeface="Roboto Mono Medium"/>
                </a:rPr>
                <a:t>— Henry Petroski, engineer and author</a:t>
              </a:r>
              <a:endParaRPr b="0" sz="1800">
                <a:solidFill>
                  <a:srgbClr val="434343"/>
                </a:solidFill>
                <a:latin typeface="Roboto Mono Medium"/>
                <a:ea typeface="Roboto Mono Medium"/>
                <a:cs typeface="Roboto Mono Medium"/>
                <a:sym typeface="Roboto Mono Medium"/>
              </a:endParaRPr>
            </a:p>
          </p:txBody>
        </p:sp>
      </p:grpSp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152" y="4245826"/>
            <a:ext cx="1749300" cy="6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 rotWithShape="1">
          <a:blip r:embed="rId5">
            <a:alphaModFix/>
          </a:blip>
          <a:srcRect b="1067" l="0" r="0" t="1067"/>
          <a:stretch/>
        </p:blipFill>
        <p:spPr>
          <a:xfrm>
            <a:off x="344179" y="4733001"/>
            <a:ext cx="1003500" cy="1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381000" y="904875"/>
            <a:ext cx="619200" cy="38100"/>
          </a:xfrm>
          <a:prstGeom prst="rect">
            <a:avLst/>
          </a:prstGeom>
          <a:solidFill>
            <a:srgbClr val="E024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103" name="Google Shape;103;p16"/>
            <p:cNvSpPr/>
            <p:nvPr/>
          </p:nvSpPr>
          <p:spPr>
            <a:xfrm>
              <a:off x="381000" y="904875"/>
              <a:ext cx="762000" cy="38100"/>
            </a:xfrm>
            <a:prstGeom prst="rect">
              <a:avLst/>
            </a:prstGeom>
            <a:solidFill>
              <a:srgbClr val="E0242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70">
                  <a:solidFill>
                    <a:srgbClr val="1E293B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AGENDA</a:t>
              </a:r>
              <a:endParaRPr sz="3570">
                <a:solidFill>
                  <a:srgbClr val="1E293B"/>
                </a:solidFill>
                <a:latin typeface="League Gothic"/>
                <a:ea typeface="League Gothic"/>
                <a:cs typeface="League Gothic"/>
                <a:sym typeface="League Gothic"/>
              </a:endParaRPr>
            </a:p>
          </p:txBody>
        </p:sp>
      </p:grpSp>
      <p:grpSp>
        <p:nvGrpSpPr>
          <p:cNvPr id="105" name="Google Shape;105;p16"/>
          <p:cNvGrpSpPr/>
          <p:nvPr/>
        </p:nvGrpSpPr>
        <p:grpSpPr>
          <a:xfrm>
            <a:off x="381000" y="1238250"/>
            <a:ext cx="8382150" cy="3095775"/>
            <a:chOff x="381000" y="1238250"/>
            <a:chExt cx="8382150" cy="3095775"/>
          </a:xfrm>
        </p:grpSpPr>
        <p:grpSp>
          <p:nvGrpSpPr>
            <p:cNvPr id="106" name="Google Shape;106;p16"/>
            <p:cNvGrpSpPr/>
            <p:nvPr/>
          </p:nvGrpSpPr>
          <p:grpSpPr>
            <a:xfrm>
              <a:off x="4667250" y="1238250"/>
              <a:ext cx="4095900" cy="3095775"/>
              <a:chOff x="4667250" y="1238250"/>
              <a:chExt cx="4095900" cy="3095775"/>
            </a:xfrm>
          </p:grpSpPr>
          <p:sp>
            <p:nvSpPr>
              <p:cNvPr id="107" name="Google Shape;107;p16"/>
              <p:cNvSpPr/>
              <p:nvPr/>
            </p:nvSpPr>
            <p:spPr>
              <a:xfrm>
                <a:off x="4667250" y="1238250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6"/>
              <p:cNvSpPr txBox="1"/>
              <p:nvPr/>
            </p:nvSpPr>
            <p:spPr>
              <a:xfrm>
                <a:off x="4810125" y="1238250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☁️ Multi-Cloud Kubernetes Architecture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9" name="Google Shape;109;p16"/>
              <p:cNvSpPr/>
              <p:nvPr/>
            </p:nvSpPr>
            <p:spPr>
              <a:xfrm>
                <a:off x="4667250" y="2047875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4810125" y="2047875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⚙️ Custom Operators &amp; CRD Design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1" name="Google Shape;111;p16"/>
              <p:cNvSpPr/>
              <p:nvPr/>
            </p:nvSpPr>
            <p:spPr>
              <a:xfrm>
                <a:off x="4667250" y="2857500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6"/>
              <p:cNvSpPr txBox="1"/>
              <p:nvPr/>
            </p:nvSpPr>
            <p:spPr>
              <a:xfrm>
                <a:off x="4810125" y="2857500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🛡️ Reliability &amp; Resilience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13" name="Google Shape;113;p16"/>
              <p:cNvSpPr/>
              <p:nvPr/>
            </p:nvSpPr>
            <p:spPr>
              <a:xfrm>
                <a:off x="4667250" y="3667125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6"/>
              <p:cNvSpPr txBox="1"/>
              <p:nvPr/>
            </p:nvSpPr>
            <p:spPr>
              <a:xfrm>
                <a:off x="4810125" y="3667125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🚀 Key Lessons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15" name="Google Shape;115;p16"/>
            <p:cNvGrpSpPr/>
            <p:nvPr/>
          </p:nvGrpSpPr>
          <p:grpSpPr>
            <a:xfrm>
              <a:off x="381000" y="1238250"/>
              <a:ext cx="4095900" cy="3095775"/>
              <a:chOff x="381000" y="1238250"/>
              <a:chExt cx="4095900" cy="3095775"/>
            </a:xfrm>
          </p:grpSpPr>
          <p:sp>
            <p:nvSpPr>
              <p:cNvPr id="116" name="Google Shape;116;p16"/>
              <p:cNvSpPr/>
              <p:nvPr/>
            </p:nvSpPr>
            <p:spPr>
              <a:xfrm>
                <a:off x="381000" y="1238250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381000" y="2047875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381000" y="2857500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523875" y="2857500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📈 Auto Scaling Strategy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0" name="Google Shape;120;p16"/>
              <p:cNvSpPr/>
              <p:nvPr/>
            </p:nvSpPr>
            <p:spPr>
              <a:xfrm>
                <a:off x="381000" y="3667125"/>
                <a:ext cx="40959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523875" y="3667125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👁️ Observability at Fleet Scale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2" name="Google Shape;122;p16"/>
              <p:cNvSpPr txBox="1"/>
              <p:nvPr/>
            </p:nvSpPr>
            <p:spPr>
              <a:xfrm>
                <a:off x="523875" y="1238250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🏗️ The Scale Context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23" name="Google Shape;123;p16"/>
              <p:cNvSpPr txBox="1"/>
              <p:nvPr/>
            </p:nvSpPr>
            <p:spPr>
              <a:xfrm>
                <a:off x="523875" y="2047875"/>
                <a:ext cx="3810000" cy="666900"/>
              </a:xfrm>
              <a:prstGeom prst="rect">
                <a:avLst/>
              </a:prstGeom>
              <a:solidFill>
                <a:srgbClr val="CFE2F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74EA7"/>
                    </a:solidFill>
                    <a:latin typeface="Roboto"/>
                    <a:ea typeface="Roboto"/>
                    <a:cs typeface="Roboto"/>
                    <a:sym typeface="Roboto"/>
                  </a:rPr>
                  <a:t>🔁 Ops at Fleet Scale</a:t>
                </a:r>
                <a:endParaRPr b="1" sz="1400">
                  <a:solidFill>
                    <a:srgbClr val="674EA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title="Logo - Purple.png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593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🏗️</a:t>
            </a:r>
            <a:r>
              <a:rPr lang="en" sz="2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36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The Scale Context</a:t>
            </a:r>
            <a:endParaRPr sz="36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130" name="Google Shape;130;p17"/>
          <p:cNvGrpSpPr/>
          <p:nvPr/>
        </p:nvGrpSpPr>
        <p:grpSpPr>
          <a:xfrm>
            <a:off x="381000" y="1143000"/>
            <a:ext cx="2667000" cy="1428900"/>
            <a:chOff x="381000" y="1143000"/>
            <a:chExt cx="2667000" cy="1428900"/>
          </a:xfrm>
        </p:grpSpPr>
        <p:sp>
          <p:nvSpPr>
            <p:cNvPr id="131" name="Google Shape;131;p17"/>
            <p:cNvSpPr/>
            <p:nvPr/>
          </p:nvSpPr>
          <p:spPr>
            <a:xfrm>
              <a:off x="381000" y="114300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381000" y="11430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</a:t>
              </a:r>
              <a:endParaRPr sz="320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Multi Cloud</a:t>
              </a:r>
              <a:endParaRPr b="1" sz="16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AWS, GCP and Azure</a:t>
              </a:r>
              <a:endParaRPr b="0" sz="11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3238500" y="1143000"/>
            <a:ext cx="2667000" cy="1428900"/>
            <a:chOff x="3238500" y="1143000"/>
            <a:chExt cx="2667000" cy="1428900"/>
          </a:xfrm>
        </p:grpSpPr>
        <p:sp>
          <p:nvSpPr>
            <p:cNvPr id="134" name="Google Shape;134;p17"/>
            <p:cNvSpPr/>
            <p:nvPr/>
          </p:nvSpPr>
          <p:spPr>
            <a:xfrm>
              <a:off x="3238500" y="114300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3238500" y="11430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72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K8s Clusters</a:t>
              </a:r>
              <a:endParaRPr b="1" sz="136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Hundreds independently managed in multiple regions</a:t>
              </a:r>
              <a:endParaRPr b="0" sz="935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6096000" y="1143000"/>
            <a:ext cx="2667000" cy="1428900"/>
            <a:chOff x="6096000" y="1143000"/>
            <a:chExt cx="2667000" cy="1428900"/>
          </a:xfrm>
        </p:grpSpPr>
        <p:sp>
          <p:nvSpPr>
            <p:cNvPr id="137" name="Google Shape;137;p17"/>
            <p:cNvSpPr/>
            <p:nvPr/>
          </p:nvSpPr>
          <p:spPr>
            <a:xfrm>
              <a:off x="6096000" y="114300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6096000" y="114300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task_alt</a:t>
              </a:r>
              <a:endParaRPr sz="320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Airflow Tasks</a:t>
              </a:r>
              <a:endParaRPr b="1" sz="16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Billions of tasks handled globally</a:t>
              </a:r>
              <a:endParaRPr b="0" sz="11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17"/>
          <p:cNvGrpSpPr/>
          <p:nvPr/>
        </p:nvGrpSpPr>
        <p:grpSpPr>
          <a:xfrm>
            <a:off x="1809750" y="2762250"/>
            <a:ext cx="2667000" cy="1428900"/>
            <a:chOff x="1809750" y="2762250"/>
            <a:chExt cx="2667000" cy="1428900"/>
          </a:xfrm>
        </p:grpSpPr>
        <p:sp>
          <p:nvSpPr>
            <p:cNvPr id="140" name="Google Shape;140;p17"/>
            <p:cNvSpPr/>
            <p:nvPr/>
          </p:nvSpPr>
          <p:spPr>
            <a:xfrm>
              <a:off x="1809750" y="276225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1809750" y="27622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320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Market Reach</a:t>
              </a:r>
              <a:endParaRPr b="1" sz="16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Startups to Fortune 500 Enterprises</a:t>
              </a:r>
              <a:endParaRPr b="0" sz="11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2" name="Google Shape;142;p17"/>
          <p:cNvGrpSpPr/>
          <p:nvPr/>
        </p:nvGrpSpPr>
        <p:grpSpPr>
          <a:xfrm>
            <a:off x="4667250" y="2762250"/>
            <a:ext cx="2667000" cy="1428900"/>
            <a:chOff x="4667250" y="2762250"/>
            <a:chExt cx="2667000" cy="1428900"/>
          </a:xfrm>
        </p:grpSpPr>
        <p:sp>
          <p:nvSpPr>
            <p:cNvPr id="143" name="Google Shape;143;p17"/>
            <p:cNvSpPr/>
            <p:nvPr/>
          </p:nvSpPr>
          <p:spPr>
            <a:xfrm>
              <a:off x="4667250" y="276225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4300">
              <a:solidFill>
                <a:srgbClr val="94A3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7"/>
            <p:cNvSpPr txBox="1"/>
            <p:nvPr/>
          </p:nvSpPr>
          <p:spPr>
            <a:xfrm>
              <a:off x="4667250" y="2762250"/>
              <a:ext cx="2667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2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72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6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Lifecycle Ops</a:t>
              </a:r>
              <a:endParaRPr b="1" sz="136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35">
                  <a:solidFill>
                    <a:srgbClr val="4B5563"/>
                  </a:solidFill>
                  <a:latin typeface="Roboto"/>
                  <a:ea typeface="Roboto"/>
                  <a:cs typeface="Roboto"/>
                  <a:sym typeface="Roboto"/>
                </a:rPr>
                <a:t>One K8s Operator per dataplane for full deployment</a:t>
              </a:r>
              <a:endParaRPr b="0" sz="935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1593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☁️</a:t>
            </a:r>
            <a:r>
              <a:rPr lang="en" sz="2100">
                <a:solidFill>
                  <a:srgbClr val="F0ECE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36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Multi-Cloud Kubernetes Architecture </a:t>
            </a:r>
            <a:endParaRPr sz="36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151" name="Google Shape;151;p18" title="v1.drawio.png"/>
          <p:cNvPicPr preferRelativeResize="0"/>
          <p:nvPr/>
        </p:nvPicPr>
        <p:blipFill rotWithShape="1">
          <a:blip r:embed="rId5">
            <a:alphaModFix/>
          </a:blip>
          <a:srcRect b="110" l="0" r="0" t="-110"/>
          <a:stretch/>
        </p:blipFill>
        <p:spPr>
          <a:xfrm>
            <a:off x="953750" y="710450"/>
            <a:ext cx="6997499" cy="41833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 user vector, Social media flat style icon (Provided by Getty Images)" id="152" name="Google Shape;15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825" y="789125"/>
            <a:ext cx="841702" cy="8417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18"/>
          <p:cNvCxnSpPr/>
          <p:nvPr/>
        </p:nvCxnSpPr>
        <p:spPr>
          <a:xfrm>
            <a:off x="642150" y="1208000"/>
            <a:ext cx="858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title="Logo - Purple.png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613400" y="4830062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1593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🔁 Ops at Fleet Scale</a:t>
            </a:r>
            <a:endParaRPr sz="36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161" name="Google Shape;161;p19"/>
          <p:cNvGrpSpPr/>
          <p:nvPr/>
        </p:nvGrpSpPr>
        <p:grpSpPr>
          <a:xfrm>
            <a:off x="571500" y="1333500"/>
            <a:ext cx="3810000" cy="2857500"/>
            <a:chOff x="571500" y="1333500"/>
            <a:chExt cx="3810000" cy="2857500"/>
          </a:xfrm>
        </p:grpSpPr>
        <p:sp>
          <p:nvSpPr>
            <p:cNvPr id="162" name="Google Shape;162;p19"/>
            <p:cNvSpPr/>
            <p:nvPr/>
          </p:nvSpPr>
          <p:spPr>
            <a:xfrm>
              <a:off x="571500" y="1333500"/>
              <a:ext cx="3810000" cy="2857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19050">
              <a:solidFill>
                <a:srgbClr val="66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571500" y="133350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660000"/>
                  </a:solidFill>
                  <a:latin typeface="Roboto"/>
                  <a:ea typeface="Roboto"/>
                  <a:cs typeface="Roboto"/>
                  <a:sym typeface="Roboto"/>
                </a:rPr>
                <a:t>Operational Challenges</a:t>
              </a:r>
              <a:endParaRPr b="1" sz="1800">
                <a:solidFill>
                  <a:srgbClr val="66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Cluster configuration must stay consistent across hundreds of clusters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Rolling out a change to the fleet cannot be a big-bang event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Clusters must self-correct when going offline/online without human intervention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Eliminate any Single Point of Failures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4" name="Google Shape;164;p19"/>
          <p:cNvGrpSpPr/>
          <p:nvPr/>
        </p:nvGrpSpPr>
        <p:grpSpPr>
          <a:xfrm>
            <a:off x="4762500" y="1333500"/>
            <a:ext cx="3810000" cy="2857500"/>
            <a:chOff x="4762500" y="1333500"/>
            <a:chExt cx="3810000" cy="2857500"/>
          </a:xfrm>
        </p:grpSpPr>
        <p:sp>
          <p:nvSpPr>
            <p:cNvPr id="165" name="Google Shape;165;p19"/>
            <p:cNvSpPr/>
            <p:nvPr/>
          </p:nvSpPr>
          <p:spPr>
            <a:xfrm>
              <a:off x="4762500" y="1333500"/>
              <a:ext cx="3810000" cy="28575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4762500" y="1333500"/>
              <a:ext cx="3810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Architecture Solutions</a:t>
              </a:r>
              <a:endParaRPr b="1" sz="18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Pull-based manifest delivery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Per-cluster versioning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Server-side apply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73541"/>
                </a:buClr>
                <a:buSzPts val="1300"/>
                <a:buFont typeface="Roboto"/>
                <a:buChar char="●"/>
              </a:pPr>
              <a:r>
                <a:rPr lang="en" sz="13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Blob storage as the distribution layer</a:t>
              </a:r>
              <a:endParaRPr sz="13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 title="Logo - Purple.png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651100" y="4798450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314325" y="238125"/>
            <a:ext cx="851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⚙️ Custom Operators &amp; CRD Design</a:t>
            </a:r>
            <a:endParaRPr sz="38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381000" y="1047750"/>
            <a:ext cx="2667000" cy="3333900"/>
            <a:chOff x="381000" y="1047750"/>
            <a:chExt cx="2667000" cy="3333900"/>
          </a:xfrm>
        </p:grpSpPr>
        <p:sp>
          <p:nvSpPr>
            <p:cNvPr id="175" name="Google Shape;175;p20"/>
            <p:cNvSpPr/>
            <p:nvPr/>
          </p:nvSpPr>
          <p:spPr>
            <a:xfrm>
              <a:off x="381000" y="1047750"/>
              <a:ext cx="2667000" cy="3333900"/>
            </a:xfrm>
            <a:prstGeom prst="roundRect">
              <a:avLst>
                <a:gd fmla="val 3571" name="adj"/>
              </a:avLst>
            </a:prstGeom>
            <a:solidFill>
              <a:srgbClr val="F0ECE5"/>
            </a:solidFill>
            <a:ln cap="flat" cmpd="sng" w="9525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381000" y="1047750"/>
              <a:ext cx="26670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60000"/>
                  </a:solidFill>
                  <a:latin typeface="Roboto"/>
                  <a:ea typeface="Roboto"/>
                  <a:cs typeface="Roboto"/>
                  <a:sym typeface="Roboto"/>
                </a:rPr>
                <a:t>Problems to Solve</a:t>
              </a:r>
              <a:endParaRPr b="1" sz="1600">
                <a:solidFill>
                  <a:srgbClr val="66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Monolithic operators are impossible to maintain for 8+ components.</a:t>
              </a:r>
              <a:br>
                <a:rPr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K8s lacks native awareness of external cloud dependencies.</a:t>
              </a:r>
              <a:br>
                <a:rPr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Deletion requires race-condition-free cleanup of cloud resources.</a:t>
              </a:r>
              <a:endParaRPr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3238500" y="1047750"/>
            <a:ext cx="5524500" cy="2190900"/>
            <a:chOff x="3238500" y="1047750"/>
            <a:chExt cx="5524500" cy="2190900"/>
          </a:xfrm>
        </p:grpSpPr>
        <p:sp>
          <p:nvSpPr>
            <p:cNvPr id="178" name="Google Shape;178;p20"/>
            <p:cNvSpPr/>
            <p:nvPr/>
          </p:nvSpPr>
          <p:spPr>
            <a:xfrm>
              <a:off x="3238500" y="1047750"/>
              <a:ext cx="5524500" cy="2190900"/>
            </a:xfrm>
            <a:prstGeom prst="roundRect">
              <a:avLst>
                <a:gd fmla="val 4347" name="adj"/>
              </a:avLst>
            </a:prstGeom>
            <a:solidFill>
              <a:srgbClr val="FFFFFF"/>
            </a:solidFill>
            <a:ln cap="flat" cmpd="sng" w="1905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3238500" y="1047750"/>
              <a:ext cx="5524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Parent + Sub-Operator Pattern</a:t>
              </a:r>
              <a:endParaRPr b="1" sz="16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3381375" y="1619250"/>
              <a:ext cx="2476500" cy="1428900"/>
            </a:xfrm>
            <a:prstGeom prst="roundRect">
              <a:avLst>
                <a:gd fmla="val 5333" name="adj"/>
              </a:avLst>
            </a:prstGeom>
            <a:solidFill>
              <a:srgbClr val="F0F9EB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3381375" y="1619250"/>
              <a:ext cx="2476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Airflow Operator (Parent) owns:</a:t>
              </a:r>
              <a:endParaRPr b="1" sz="11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Scheduler, Workers, Web Server, Triggerer, PgBouncer, StatsD</a:t>
              </a:r>
              <a:endParaRPr sz="9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82" name="Google Shape;182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81738" y="1614488"/>
              <a:ext cx="2343300" cy="14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20"/>
            <p:cNvSpPr txBox="1"/>
            <p:nvPr/>
          </p:nvSpPr>
          <p:spPr>
            <a:xfrm>
              <a:off x="6286500" y="1619250"/>
              <a:ext cx="2333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Other Operators:</a:t>
              </a:r>
              <a:endParaRPr b="1" sz="11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db operator, cert-manager…</a:t>
              </a:r>
              <a:endParaRPr sz="9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3238500" y="3333750"/>
            <a:ext cx="5524500" cy="1047900"/>
            <a:chOff x="3238500" y="3333750"/>
            <a:chExt cx="5524500" cy="1047900"/>
          </a:xfrm>
        </p:grpSpPr>
        <p:sp>
          <p:nvSpPr>
            <p:cNvPr id="185" name="Google Shape;185;p20"/>
            <p:cNvSpPr/>
            <p:nvPr/>
          </p:nvSpPr>
          <p:spPr>
            <a:xfrm>
              <a:off x="3238500" y="3333750"/>
              <a:ext cx="5524500" cy="1047900"/>
            </a:xfrm>
            <a:prstGeom prst="roundRect">
              <a:avLst>
                <a:gd fmla="val 9090" name="adj"/>
              </a:avLst>
            </a:prstGeom>
            <a:solidFill>
              <a:srgbClr val="F0ECE5"/>
            </a:solidFill>
            <a:ln cap="flat" cmpd="sng" w="9525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3238500" y="3333750"/>
              <a:ext cx="5524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How Manifest Generator Orchestrates It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• Sequential Generation:</a:t>
              </a:r>
              <a:r>
                <a:rPr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Airflow plugin generates sub-operator manifests in sequence.</a:t>
              </a:r>
              <a:endParaRPr sz="8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• Feature-Flag Control:</a:t>
              </a:r>
              <a:r>
                <a:rPr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Enabled/disabled per cluster without code deploys.</a:t>
              </a:r>
              <a:endParaRPr sz="8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• Self-Healing Config:</a:t>
              </a:r>
              <a:r>
                <a:rPr lang="en" sz="8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ConfigMap hash annotations trigger automatic pod restarts.</a:t>
              </a:r>
              <a:endParaRPr sz="8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title="Logo - Purple.png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44325" y="4733012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1593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📈 Auto Scaling Strategy</a:t>
            </a:r>
            <a:endParaRPr sz="36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193" name="Google Shape;193;p21"/>
          <p:cNvGrpSpPr/>
          <p:nvPr/>
        </p:nvGrpSpPr>
        <p:grpSpPr>
          <a:xfrm>
            <a:off x="428625" y="1095375"/>
            <a:ext cx="8286825" cy="3238500"/>
            <a:chOff x="428625" y="1095375"/>
            <a:chExt cx="8286825" cy="3238500"/>
          </a:xfrm>
        </p:grpSpPr>
        <p:sp>
          <p:nvSpPr>
            <p:cNvPr id="194" name="Google Shape;194;p21"/>
            <p:cNvSpPr/>
            <p:nvPr/>
          </p:nvSpPr>
          <p:spPr>
            <a:xfrm>
              <a:off x="428625" y="1095375"/>
              <a:ext cx="4048200" cy="3238500"/>
            </a:xfrm>
            <a:prstGeom prst="roundRect">
              <a:avLst>
                <a:gd fmla="val 2352" name="adj"/>
              </a:avLst>
            </a:prstGeom>
            <a:solidFill>
              <a:srgbClr val="F0ECE5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1"/>
            <p:cNvSpPr txBox="1"/>
            <p:nvPr/>
          </p:nvSpPr>
          <p:spPr>
            <a:xfrm>
              <a:off x="428625" y="1095375"/>
              <a:ext cx="40482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660000"/>
                  </a:solidFill>
                  <a:latin typeface="Roboto"/>
                  <a:ea typeface="Roboto"/>
                  <a:cs typeface="Roboto"/>
                  <a:sym typeface="Roboto"/>
                </a:rPr>
                <a:t>Operational Challenges</a:t>
              </a:r>
              <a:endParaRPr b="1" sz="1400">
                <a:solidFill>
                  <a:srgbClr val="660000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0" lang="en" sz="11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Single strategies fail across diverse workload types (short-burst vs long-running).</a:t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0" lang="en" sz="11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CPU/RAM metrics lag behind actual queue depth (idle pods vs 1000+ tasks).</a:t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0" lang="en" sz="11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Reactive autoscalers cause minutes of pending time for new nodes.</a:t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0" lang="en" sz="11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Managing manual node pools for heterogeneous workloads is unscalable.</a:t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" name="Google Shape;196;p21"/>
            <p:cNvSpPr/>
            <p:nvPr/>
          </p:nvSpPr>
          <p:spPr>
            <a:xfrm>
              <a:off x="4667250" y="1095375"/>
              <a:ext cx="40482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143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1"/>
            <p:cNvSpPr txBox="1"/>
            <p:nvPr/>
          </p:nvSpPr>
          <p:spPr>
            <a:xfrm>
              <a:off x="4667250" y="1095375"/>
              <a:ext cx="40482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Strategic Components</a:t>
              </a:r>
              <a:endParaRPr b="1" sz="1400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1" lang="en" sz="105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KEDA: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Multi-cloud scaling based on event-driven metrics (Task Queue), not just resource usage.</a:t>
              </a:r>
              <a:b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1" lang="en" sz="105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Karpenter / CA: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Intelligent node provisioning; selects cost-efficient instances and consolidates underutilized nodes.</a:t>
              </a:r>
              <a:b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D1D2C"/>
                </a:buClr>
                <a:buSzPts val="1400"/>
                <a:buFont typeface="Roboto"/>
                <a:buChar char="●"/>
              </a:pPr>
              <a:r>
                <a:rPr b="1" lang="en" sz="105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Node Tiers: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Ensures workload isolation. Infrastructure and system pods never compete with workers.</a:t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45720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8" name="Google Shape;198;p21"/>
          <p:cNvGrpSpPr/>
          <p:nvPr/>
        </p:nvGrpSpPr>
        <p:grpSpPr>
          <a:xfrm>
            <a:off x="4152809" y="2591117"/>
            <a:ext cx="838390" cy="889812"/>
            <a:chOff x="4095750" y="2476500"/>
            <a:chExt cx="952500" cy="1010920"/>
          </a:xfrm>
        </p:grpSpPr>
        <p:sp>
          <p:nvSpPr>
            <p:cNvPr id="199" name="Google Shape;199;p21"/>
            <p:cNvSpPr/>
            <p:nvPr/>
          </p:nvSpPr>
          <p:spPr>
            <a:xfrm>
              <a:off x="4095750" y="2476500"/>
              <a:ext cx="952500" cy="952500"/>
            </a:xfrm>
            <a:prstGeom prst="roundRect">
              <a:avLst>
                <a:gd fmla="val 50000" name="adj"/>
              </a:avLst>
            </a:prstGeom>
            <a:solidFill>
              <a:srgbClr val="F8F5F2"/>
            </a:solidFill>
            <a:ln cap="flat" cmpd="sng" w="16775">
              <a:solidFill>
                <a:srgbClr val="D3CD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1"/>
            <p:cNvSpPr txBox="1"/>
            <p:nvPr/>
          </p:nvSpPr>
          <p:spPr>
            <a:xfrm>
              <a:off x="4095750" y="2534920"/>
              <a:ext cx="952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521">
                  <a:solidFill>
                    <a:srgbClr val="D3CDC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insights</a:t>
              </a:r>
              <a:endParaRPr sz="3521">
                <a:solidFill>
                  <a:srgbClr val="D3CDC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title="Logo - Purple.png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1590975" y="4787712"/>
            <a:ext cx="1003375" cy="10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314325" y="2095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🛡️ Reliability &amp; Resilience</a:t>
            </a:r>
            <a:endParaRPr sz="38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grpSp>
        <p:nvGrpSpPr>
          <p:cNvPr id="208" name="Google Shape;208;p22"/>
          <p:cNvGrpSpPr/>
          <p:nvPr/>
        </p:nvGrpSpPr>
        <p:grpSpPr>
          <a:xfrm>
            <a:off x="314325" y="1047750"/>
            <a:ext cx="4048200" cy="3333900"/>
            <a:chOff x="314325" y="1047750"/>
            <a:chExt cx="4048200" cy="3333900"/>
          </a:xfrm>
        </p:grpSpPr>
        <p:sp>
          <p:nvSpPr>
            <p:cNvPr id="209" name="Google Shape;209;p22"/>
            <p:cNvSpPr/>
            <p:nvPr/>
          </p:nvSpPr>
          <p:spPr>
            <a:xfrm>
              <a:off x="314325" y="1047750"/>
              <a:ext cx="4048200" cy="3333900"/>
            </a:xfrm>
            <a:prstGeom prst="roundRect">
              <a:avLst>
                <a:gd fmla="val 2285" name="adj"/>
              </a:avLst>
            </a:prstGeom>
            <a:solidFill>
              <a:srgbClr val="F0ECE5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2"/>
            <p:cNvSpPr txBox="1"/>
            <p:nvPr/>
          </p:nvSpPr>
          <p:spPr>
            <a:xfrm>
              <a:off x="314325" y="1047750"/>
              <a:ext cx="40482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B91C1C"/>
                  </a:solidFill>
                  <a:latin typeface="Roboto"/>
                  <a:ea typeface="Roboto"/>
                  <a:cs typeface="Roboto"/>
                  <a:sym typeface="Roboto"/>
                </a:rPr>
                <a:t>Core Reliability Challenges</a:t>
              </a:r>
              <a:endParaRPr b="1" sz="1400">
                <a:solidFill>
                  <a:srgbClr val="B91C1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Rolling updates &amp; node drains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kill long-running Airflow tasks mid-execution without warning.</a:t>
              </a:r>
              <a:endParaRPr b="0"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Health probes: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too aggressive kills healthy pods; too lenient routes traffic to broken ones.</a:t>
              </a:r>
              <a:endParaRPr b="0"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Shared component failures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(DNS, Registry) cascade across every workload simultaneously.</a:t>
              </a:r>
              <a:endParaRPr b="0"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Multi-cloud DR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: Cloud region outages require manual intervention for failover.</a:t>
              </a:r>
              <a:endParaRPr b="0"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527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73541"/>
                </a:buClr>
                <a:buSzPts val="1050"/>
                <a:buFont typeface="Roboto"/>
                <a:buChar char="●"/>
              </a:pPr>
              <a:r>
                <a:rPr b="1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Regional image pulls</a:t>
              </a:r>
              <a:r>
                <a:rPr b="0" lang="en" sz="105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 balloon pod cold-start times, hurting scale-up during bursts.</a:t>
              </a:r>
              <a:endParaRPr b="0" sz="105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1" name="Google Shape;211;p22"/>
          <p:cNvGrpSpPr/>
          <p:nvPr/>
        </p:nvGrpSpPr>
        <p:grpSpPr>
          <a:xfrm>
            <a:off x="4781550" y="1047750"/>
            <a:ext cx="4048200" cy="3333900"/>
            <a:chOff x="4781550" y="1047750"/>
            <a:chExt cx="4048200" cy="3333900"/>
          </a:xfrm>
        </p:grpSpPr>
        <p:sp>
          <p:nvSpPr>
            <p:cNvPr id="212" name="Google Shape;212;p22"/>
            <p:cNvSpPr/>
            <p:nvPr/>
          </p:nvSpPr>
          <p:spPr>
            <a:xfrm>
              <a:off x="4781550" y="1047750"/>
              <a:ext cx="4048200" cy="3333900"/>
            </a:xfrm>
            <a:prstGeom prst="roundRect">
              <a:avLst>
                <a:gd fmla="val 2285" name="adj"/>
              </a:avLst>
            </a:prstGeom>
            <a:solidFill>
              <a:srgbClr val="FFFFFF"/>
            </a:solidFill>
            <a:ln cap="flat" cmpd="sng" w="143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2"/>
            <p:cNvSpPr txBox="1"/>
            <p:nvPr/>
          </p:nvSpPr>
          <p:spPr>
            <a:xfrm>
              <a:off x="4781550" y="1047750"/>
              <a:ext cx="40482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  <a:t>Strategic Resilience Guardrails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TerminationGracePeriodSeconds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Protection for long tasks.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DR Support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Standby clusters for multi-cloud failover.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NodeLocal DNS &amp; ndots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Reducing DNS resolution latency.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Per Dataplane Registry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Localized image pulls for speed.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Deployment Limits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Preventing cluster saturation.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8761D"/>
                </a:buClr>
                <a:buSzPts val="1295"/>
                <a:buFont typeface="Roboto"/>
                <a:buChar char="●"/>
              </a:pPr>
              <a:r>
                <a:rPr b="1" lang="en" sz="971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No Spot Instances</a:t>
              </a:r>
              <a:br>
                <a:rPr b="1" lang="en" sz="1295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b="0" lang="en" sz="879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Ensuring stability for critical workers.</a:t>
              </a:r>
              <a:endParaRPr b="1" sz="1295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314325" y="2095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👁️ Observability at Fleet Scale</a:t>
            </a:r>
            <a:endParaRPr sz="38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pic>
        <p:nvPicPr>
          <p:cNvPr id="220" name="Google Shape;220;p23" title="obs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934650"/>
            <a:ext cx="8682526" cy="37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691" y="4617391"/>
            <a:ext cx="1158975" cy="44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title="Logo - Purple.png"/>
          <p:cNvPicPr preferRelativeResize="0"/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89493" y="4476762"/>
            <a:ext cx="1003375" cy="1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7" name="Google Shape;227;p24"/>
          <p:cNvGrpSpPr/>
          <p:nvPr/>
        </p:nvGrpSpPr>
        <p:grpSpPr>
          <a:xfrm>
            <a:off x="314325" y="1047750"/>
            <a:ext cx="2714700" cy="1524000"/>
            <a:chOff x="314325" y="1047750"/>
            <a:chExt cx="2714700" cy="1524000"/>
          </a:xfrm>
        </p:grpSpPr>
        <p:sp>
          <p:nvSpPr>
            <p:cNvPr id="228" name="Google Shape;228;p24"/>
            <p:cNvSpPr/>
            <p:nvPr/>
          </p:nvSpPr>
          <p:spPr>
            <a:xfrm>
              <a:off x="314325" y="10477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0ECE5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4"/>
            <p:cNvSpPr txBox="1"/>
            <p:nvPr/>
          </p:nvSpPr>
          <p:spPr>
            <a:xfrm>
              <a:off x="314325" y="10477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01. Every SPOF follows the same pattern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Centralized shortcuts become fleet-wide blast radii at scale. Push logic closer to workloads to shrink failure domains.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0" name="Google Shape;230;p24"/>
          <p:cNvGrpSpPr/>
          <p:nvPr/>
        </p:nvGrpSpPr>
        <p:grpSpPr>
          <a:xfrm>
            <a:off x="3209925" y="1047750"/>
            <a:ext cx="2714700" cy="1524000"/>
            <a:chOff x="3209925" y="1047750"/>
            <a:chExt cx="2714700" cy="1524000"/>
          </a:xfrm>
        </p:grpSpPr>
        <p:sp>
          <p:nvSpPr>
            <p:cNvPr id="231" name="Google Shape;231;p24"/>
            <p:cNvSpPr/>
            <p:nvPr/>
          </p:nvSpPr>
          <p:spPr>
            <a:xfrm>
              <a:off x="3209925" y="10477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4"/>
            <p:cNvSpPr txBox="1"/>
            <p:nvPr/>
          </p:nvSpPr>
          <p:spPr>
            <a:xfrm>
              <a:off x="3209925" y="10477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02. Async beats sync at fleet scale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Direct RPC doesn't compose. Use pull-based reconciliation with durable stores; design for clusters being offline.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3" name="Google Shape;233;p24"/>
          <p:cNvGrpSpPr/>
          <p:nvPr/>
        </p:nvGrpSpPr>
        <p:grpSpPr>
          <a:xfrm>
            <a:off x="6115050" y="1047750"/>
            <a:ext cx="2714700" cy="1524000"/>
            <a:chOff x="6115050" y="1047750"/>
            <a:chExt cx="2714700" cy="1524000"/>
          </a:xfrm>
        </p:grpSpPr>
        <p:sp>
          <p:nvSpPr>
            <p:cNvPr id="234" name="Google Shape;234;p24"/>
            <p:cNvSpPr/>
            <p:nvPr/>
          </p:nvSpPr>
          <p:spPr>
            <a:xfrm>
              <a:off x="6115050" y="10477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0ECE5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4"/>
            <p:cNvSpPr txBox="1"/>
            <p:nvPr/>
          </p:nvSpPr>
          <p:spPr>
            <a:xfrm>
              <a:off x="6115050" y="10477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03. Defaults are design decisions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Kubernetes defaults optimize for single clusters. At scale, these defaults become constraints. Question them.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6" name="Google Shape;236;p24"/>
          <p:cNvGrpSpPr/>
          <p:nvPr/>
        </p:nvGrpSpPr>
        <p:grpSpPr>
          <a:xfrm>
            <a:off x="314325" y="2762250"/>
            <a:ext cx="2714700" cy="1524000"/>
            <a:chOff x="314325" y="2762250"/>
            <a:chExt cx="2714700" cy="1524000"/>
          </a:xfrm>
        </p:grpSpPr>
        <p:sp>
          <p:nvSpPr>
            <p:cNvPr id="237" name="Google Shape;237;p24"/>
            <p:cNvSpPr/>
            <p:nvPr/>
          </p:nvSpPr>
          <p:spPr>
            <a:xfrm>
              <a:off x="314325" y="27622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4"/>
            <p:cNvSpPr txBox="1"/>
            <p:nvPr/>
          </p:nvSpPr>
          <p:spPr>
            <a:xfrm>
              <a:off x="314325" y="27622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04. Primitives scale further than you think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Controllers and CRDs are robust foundations. What breaks are the assumptions layered on top of them.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9" name="Google Shape;239;p24"/>
          <p:cNvGrpSpPr/>
          <p:nvPr/>
        </p:nvGrpSpPr>
        <p:grpSpPr>
          <a:xfrm>
            <a:off x="3209925" y="2762250"/>
            <a:ext cx="2714700" cy="1524000"/>
            <a:chOff x="3209925" y="2762250"/>
            <a:chExt cx="2714700" cy="1524000"/>
          </a:xfrm>
        </p:grpSpPr>
        <p:sp>
          <p:nvSpPr>
            <p:cNvPr id="240" name="Google Shape;240;p24"/>
            <p:cNvSpPr/>
            <p:nvPr/>
          </p:nvSpPr>
          <p:spPr>
            <a:xfrm>
              <a:off x="3209925" y="27622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0ECE5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4"/>
            <p:cNvSpPr txBox="1"/>
            <p:nvPr/>
          </p:nvSpPr>
          <p:spPr>
            <a:xfrm>
              <a:off x="3209925" y="27622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05. Scaling belongs with the scheduler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Fixed infrastructure config (node groups, instance types) is the wrong place for scheduling decisions. Move them to where the information actually is — the pending pod queue.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6115050" y="2762250"/>
            <a:ext cx="2714700" cy="1524000"/>
            <a:chOff x="6115050" y="2762250"/>
            <a:chExt cx="2714700" cy="1524000"/>
          </a:xfrm>
        </p:grpSpPr>
        <p:sp>
          <p:nvSpPr>
            <p:cNvPr id="243" name="Google Shape;243;p24"/>
            <p:cNvSpPr/>
            <p:nvPr/>
          </p:nvSpPr>
          <p:spPr>
            <a:xfrm>
              <a:off x="6115050" y="2762250"/>
              <a:ext cx="27147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9A92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4"/>
            <p:cNvSpPr txBox="1"/>
            <p:nvPr/>
          </p:nvSpPr>
          <p:spPr>
            <a:xfrm>
              <a:off x="6115050" y="2762250"/>
              <a:ext cx="27147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D1D2C"/>
                  </a:solidFill>
                  <a:latin typeface="Roboto"/>
                  <a:ea typeface="Roboto"/>
                  <a:cs typeface="Roboto"/>
                  <a:sym typeface="Roboto"/>
                </a:rPr>
                <a:t>06. Layered Architecture</a:t>
              </a:r>
              <a:endParaRPr b="1" sz="1300">
                <a:solidFill>
                  <a:srgbClr val="1D1D2C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373541"/>
                  </a:solidFill>
                  <a:latin typeface="Roboto"/>
                  <a:ea typeface="Roboto"/>
                  <a:cs typeface="Roboto"/>
                  <a:sym typeface="Roboto"/>
                </a:rPr>
                <a:t>At fleet scale, monoliths become incidents. Layers become the thing that lets you sleep at night — each one small enough to reason about, and replaceable without rebuilding everything above it.</a:t>
              </a:r>
              <a:endParaRPr b="0" sz="1000">
                <a:solidFill>
                  <a:srgbClr val="37354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5" name="Google Shape;245;p24"/>
          <p:cNvSpPr txBox="1"/>
          <p:nvPr/>
        </p:nvSpPr>
        <p:spPr>
          <a:xfrm>
            <a:off x="314325" y="2095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1D1D2C"/>
                </a:solidFill>
                <a:latin typeface="League Gothic"/>
                <a:ea typeface="League Gothic"/>
                <a:cs typeface="League Gothic"/>
                <a:sym typeface="League Gothic"/>
              </a:rPr>
              <a:t>🚀 Key Lessons</a:t>
            </a:r>
            <a:endParaRPr sz="3800">
              <a:solidFill>
                <a:srgbClr val="1D1D2C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5"/>
          <p:cNvGrpSpPr/>
          <p:nvPr/>
        </p:nvGrpSpPr>
        <p:grpSpPr>
          <a:xfrm>
            <a:off x="952500" y="1143000"/>
            <a:ext cx="7239000" cy="2857500"/>
            <a:chOff x="952500" y="1143000"/>
            <a:chExt cx="7239000" cy="2857500"/>
          </a:xfrm>
        </p:grpSpPr>
        <p:sp>
          <p:nvSpPr>
            <p:cNvPr id="251" name="Google Shape;251;p25"/>
            <p:cNvSpPr/>
            <p:nvPr/>
          </p:nvSpPr>
          <p:spPr>
            <a:xfrm>
              <a:off x="952500" y="1143000"/>
              <a:ext cx="7239000" cy="2857500"/>
            </a:xfrm>
            <a:prstGeom prst="roundRect">
              <a:avLst>
                <a:gd fmla="val 6666" name="adj"/>
              </a:avLst>
            </a:prstGeom>
            <a:solidFill>
              <a:srgbClr val="C9DAF8"/>
            </a:solidFill>
            <a:ln cap="flat" cmpd="sng" w="19050">
              <a:solidFill>
                <a:srgbClr val="3735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5"/>
            <p:cNvSpPr txBox="1"/>
            <p:nvPr/>
          </p:nvSpPr>
          <p:spPr>
            <a:xfrm>
              <a:off x="1333500" y="1498854"/>
              <a:ext cx="762000" cy="7620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800">
                  <a:solidFill>
                    <a:srgbClr val="E0242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format_quote</a:t>
              </a:r>
              <a:endParaRPr sz="4800">
                <a:solidFill>
                  <a:srgbClr val="E0242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3" name="Google Shape;253;p25"/>
            <p:cNvSpPr txBox="1"/>
            <p:nvPr/>
          </p:nvSpPr>
          <p:spPr>
            <a:xfrm>
              <a:off x="2286000" y="1524000"/>
              <a:ext cx="5524500" cy="14289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3200">
                  <a:solidFill>
                    <a:srgbClr val="434343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"Make it work, make it right, make it fast."</a:t>
              </a:r>
              <a:endParaRPr b="0" i="1" sz="320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54" name="Google Shape;254;p25"/>
            <p:cNvSpPr txBox="1"/>
            <p:nvPr/>
          </p:nvSpPr>
          <p:spPr>
            <a:xfrm>
              <a:off x="2286000" y="2952750"/>
              <a:ext cx="5524500" cy="4764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— Kent Beck</a:t>
              </a:r>
              <a:endParaRPr b="0" sz="2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2286000" y="2857500"/>
              <a:ext cx="762000" cy="381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6"/>
          <p:cNvPicPr preferRelativeResize="0"/>
          <p:nvPr/>
        </p:nvPicPr>
        <p:blipFill rotWithShape="1">
          <a:blip r:embed="rId4">
            <a:alphaModFix/>
          </a:blip>
          <a:srcRect b="1067" l="30" r="30" t="1067"/>
          <a:stretch/>
        </p:blipFill>
        <p:spPr>
          <a:xfrm>
            <a:off x="342900" y="4733925"/>
            <a:ext cx="1003500" cy="101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1" name="Google Shape;261;p26"/>
          <p:cNvGrpSpPr/>
          <p:nvPr/>
        </p:nvGrpSpPr>
        <p:grpSpPr>
          <a:xfrm>
            <a:off x="762000" y="1619250"/>
            <a:ext cx="7620000" cy="1905000"/>
            <a:chOff x="762000" y="1619250"/>
            <a:chExt cx="7620000" cy="1905000"/>
          </a:xfrm>
        </p:grpSpPr>
        <p:sp>
          <p:nvSpPr>
            <p:cNvPr id="262" name="Google Shape;262;p26"/>
            <p:cNvSpPr/>
            <p:nvPr/>
          </p:nvSpPr>
          <p:spPr>
            <a:xfrm>
              <a:off x="762000" y="1619250"/>
              <a:ext cx="7620000" cy="19050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37354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6"/>
            <p:cNvSpPr txBox="1"/>
            <p:nvPr/>
          </p:nvSpPr>
          <p:spPr>
            <a:xfrm>
              <a:off x="762000" y="1619250"/>
              <a:ext cx="7620000" cy="1905000"/>
            </a:xfrm>
            <a:prstGeom prst="rect">
              <a:avLst/>
            </a:prstGeom>
            <a:gradFill>
              <a:gsLst>
                <a:gs pos="0">
                  <a:srgbClr val="DBD4EB"/>
                </a:gs>
                <a:gs pos="100000">
                  <a:srgbClr val="9080BB"/>
                </a:gs>
              </a:gsLst>
              <a:path path="circle">
                <a:fillToRect b="50%" l="50%" r="50%" t="50%"/>
              </a:path>
              <a:tileRect/>
            </a:gra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>
                  <a:solidFill>
                    <a:srgbClr val="434343"/>
                  </a:solidFill>
                  <a:latin typeface="League Gothic"/>
                  <a:ea typeface="League Gothic"/>
                  <a:cs typeface="League Gothic"/>
                  <a:sym typeface="League Gothic"/>
                </a:rPr>
                <a:t>THANK YOU</a:t>
              </a:r>
              <a:endParaRPr sz="8000">
                <a:solidFill>
                  <a:srgbClr val="434343"/>
                </a:solidFill>
                <a:latin typeface="League Gothic"/>
                <a:ea typeface="League Gothic"/>
                <a:cs typeface="League Gothic"/>
                <a:sym typeface="League Gothic"/>
              </a:endParaRPr>
            </a:p>
          </p:txBody>
        </p:sp>
      </p:grpSp>
      <p:sp>
        <p:nvSpPr>
          <p:cNvPr id="264" name="Google Shape;264;p26"/>
          <p:cNvSpPr txBox="1"/>
          <p:nvPr/>
        </p:nvSpPr>
        <p:spPr>
          <a:xfrm>
            <a:off x="762000" y="36195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Let's connect:</a:t>
            </a:r>
            <a:r>
              <a:rPr lang="en" sz="140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>
                <a:solidFill>
                  <a:srgbClr val="E02424"/>
                </a:solidFill>
                <a:latin typeface="Roboto"/>
                <a:ea typeface="Roboto"/>
                <a:cs typeface="Roboto"/>
                <a:sym typeface="Roboto"/>
              </a:rPr>
              <a:t>https://www.linkedin.com/in/</a:t>
            </a:r>
            <a:r>
              <a:rPr b="1" lang="en" sz="1900">
                <a:solidFill>
                  <a:srgbClr val="E02424"/>
                </a:solidFill>
                <a:latin typeface="Roboto"/>
                <a:ea typeface="Roboto"/>
                <a:cs typeface="Roboto"/>
                <a:sym typeface="Roboto"/>
              </a:rPr>
              <a:t>goutamtadi</a:t>
            </a:r>
            <a:r>
              <a:rPr b="1" lang="en">
                <a:solidFill>
                  <a:srgbClr val="E02424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endParaRPr sz="1400">
              <a:solidFill>
                <a:srgbClr val="CBD5E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