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9" r:id="rId19"/>
    <p:sldId id="270" r:id="rId20"/>
    <p:sldId id="271" r:id="rId21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gUOpBDgjWBoz2s2sBEQ824Mrg3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customschemas.google.com/relationships/presentationmetadata" Target="metadata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[T+0  |  ~15 seconds  |  audience just settling]</a:t>
            </a:r>
          </a:p>
          <a:p/>
          <a:p>
            <a:r>
              <a:t>Welcome — this is The 90-Minute IDP workshop. I'm Michael Forrester from PerformantPro.</a:t>
            </a:r>
          </a:p>
          <a:p/>
          <a:p>
            <a:r>
              <a:t>We've got 90 minutes. I'll explain what we're doing in the next 60 seconds, then we go live.</a:t>
            </a:r>
          </a:p>
          <a:p/>
          <a:p>
            <a:r>
              <a:t>[CLICK to slide 2 — the 60-second opener starts there. Don't rush this title slide; let the room settle and pay attention.]</a:t>
            </a:r>
          </a:p>
          <a:p/>
          <a:p>
            <a:r>
              <a:t>[If audience is still arriving, vamp here: 'KCD Texas crew — thanks for having me. Room 3, May 15, 2026.']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[T+0:15  |  ~25 seconds  |  THE FIRST 25 SECONDS OF THE OPENER]</a:t>
            </a:r>
          </a:p>
          <a:p/>
          <a:p>
            <a:r>
              <a:t>Read approximately verbatim:</a:t>
            </a:r>
          </a:p>
          <a:p/>
          <a:p>
            <a:r>
              <a:t>"The abstract for this talk says I've already built this IDP end-to-end with Claude Code. ArgoCD, Kyverno, Falco, OpenTelemetry, Backstage — the whole stack. That's true. It's at github.com/peopleforrester/kubeauto-ai-day. Seven phases, twenty-seven components, about ten hours over one overnight session. Scored on three dimensions: Install, Integration, Usability. Go read the scorecard."</a:t>
            </a:r>
          </a:p>
          <a:p/>
          <a:p>
            <a:r>
              <a:t>[Don't apologize for the past tense. The 'I already built this' moment EARNS the pivot on the next slide. Practice this 3 times before workshop day.]</a:t>
            </a:r>
          </a:p>
          <a:p/>
          <a:p>
            <a:r>
              <a:t>[CLICK to slide 3 — the rhetorical hinge.]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[T+0:40  |  ~15 seconds  |  THE RHETORICAL HINGE — the most important transition in the talk]</a:t>
            </a:r>
          </a:p>
          <a:p/>
          <a:p>
            <a:r>
              <a:t>"We're NOT redoing that today."</a:t>
            </a:r>
          </a:p>
          <a:p/>
          <a:p>
            <a:r>
              <a:t>[Pause one beat.]</a:t>
            </a:r>
          </a:p>
          <a:p/>
          <a:p>
            <a:r>
              <a:t>"Sixty of us in 90 minutes can't replicate a ten-hour build."</a:t>
            </a:r>
          </a:p>
          <a:p/>
          <a:p>
            <a:r>
              <a:t>[Pause.]</a:t>
            </a:r>
          </a:p>
          <a:p/>
          <a:p>
            <a:r>
              <a:t>"That's not the point."</a:t>
            </a:r>
          </a:p>
          <a:p/>
          <a:p>
            <a:r>
              <a:t>[Practice this transition standalone. It's the moment that buys you scope honesty without undermining authority. If you rush, the room won't internalize that they're NOT going to leave with a working IDP — they're going to leave with the METHODOLOGY.]</a:t>
            </a:r>
          </a:p>
          <a:p/>
          <a:p>
            <a:r>
              <a:t>[CLICK to slide 4.]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[T+0:55  |  ~25 seconds]</a:t>
            </a:r>
          </a:p>
          <a:p/>
          <a:p>
            <a:r>
              <a:t>"What we ARE doing is teaching the methodology I used to build it. Spec-driven development with Claude Code."</a:t>
            </a:r>
          </a:p>
          <a:p/>
          <a:p>
            <a:r>
              <a:t>[Walk through the 5 steps as you click — slow enough that the audience reads them.]</a:t>
            </a:r>
          </a:p>
          <a:p/>
          <a:p>
            <a:r>
              <a:t>"I write a spec. I hand it to Claude. Claude generates the platform. I verify with test gates. I score what Claude did. And I move on."</a:t>
            </a:r>
          </a:p>
          <a:p/>
          <a:p>
            <a:r>
              <a:t>[This is the slide students will photograph. Don't skim it.]</a:t>
            </a:r>
          </a:p>
          <a:p/>
          <a:p>
            <a:r>
              <a:t>[CLICK to slide 5.]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[T+1:20  |  ~45 seconds]</a:t>
            </a:r>
          </a:p>
          <a:p/>
          <a:p>
            <a:r>
              <a:t>"Three artifacts make this work. Show them on the slide."</a:t>
            </a:r>
          </a:p>
          <a:p/>
          <a:p>
            <a:r>
              <a:t>THE SPEC — "spec/BUILD-SPEC.md. What I want Claude to build. Phases, target manifests, completion criteria. Plain Markdown, about 120 lines."</a:t>
            </a:r>
          </a:p>
          <a:p/>
          <a:p>
            <a:r>
              <a:t>THE SKILLS — ".claude/skills/. Current-version patterns Claude needs in order to not generate something deprecated or wrong. One per CNCF project — argocd, kyverno, kube-prometheus-stack, backstage. Claude Code auto-loads these when I run claude from the repo root."</a:t>
            </a:r>
          </a:p>
          <a:p/>
          <a:p>
            <a:r>
              <a:t>THE GATES — "pytest tests that prove a phase actually worked. Not synthetic tests — real kubectl assertions against the real cluster. The boring kind. The reliable kind."</a:t>
            </a:r>
          </a:p>
          <a:p/>
          <a:p>
            <a:r>
              <a:t>"That's it. Spec + skills + gates. Plus a scorecard. Same pattern you can use on Monday for whatever you're trying to build."</a:t>
            </a:r>
          </a:p>
          <a:p/>
          <a:p>
            <a:r>
              <a:t>[CLICK to slide 6.]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[T+2:05  |  ~60 seconds  |  THE TALK'S CENTRAL FRAMEWORK]</a:t>
            </a:r>
          </a:p>
          <a:p/>
          <a:p>
            <a:r>
              <a:t>"Every component gets scored on three things — independently."</a:t>
            </a:r>
          </a:p>
          <a:p/>
          <a:p>
            <a:r>
              <a:t>INSTALL — "Did Claude generate a manifest that, after applying, brought the component up healthy? First try, no rewrites? That's a 10. Three correction cycles? That's a 4."</a:t>
            </a:r>
          </a:p>
          <a:p/>
          <a:p>
            <a:r>
              <a:t>INTEGRATION — "Does it work WITH the other components? Sync waves right, webhooks scoped right, Grafana actually scraping ArgoCD, Backstage actually reachable? A 10 here is rare. AI is GOOD at install. Integration is where humans still earn their salary."</a:t>
            </a:r>
          </a:p>
          <a:p/>
          <a:p>
            <a:r>
              <a:t>[EMPHASIZE that last line. It previews the punchline of the talk.]</a:t>
            </a:r>
          </a:p>
          <a:p/>
          <a:p>
            <a:r>
              <a:t>USABILITY — "Could a developer on your team drive this on Monday morning? Or is it installed-but-useless?"</a:t>
            </a:r>
          </a:p>
          <a:p/>
          <a:p>
            <a:r>
              <a:t>"Plus correction cycles and AI wall-clock time. Scoring honestly is the entire point. Inflated scores undermine the data. The variance between phases is the talk."</a:t>
            </a:r>
          </a:p>
          <a:p/>
          <a:p>
            <a:r>
              <a:t>[CLICK to slide 7.]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[T+3:05  |  ~45 seconds]</a:t>
            </a:r>
          </a:p>
          <a:p/>
          <a:p>
            <a:r>
              <a:t>"Four phases, in order. We do them until we run out of time."</a:t>
            </a:r>
          </a:p>
          <a:p/>
          <a:p>
            <a:r>
              <a:t>[Walk through each one briefly:]</a:t>
            </a:r>
          </a:p>
          <a:p/>
          <a:p>
            <a:r>
              <a:t>"Phase 1 — ArgoCD bootstrap plus app-of-apps. GitOps foundation. 15 minutes if Claude cooperates."</a:t>
            </a:r>
          </a:p>
          <a:p/>
          <a:p>
            <a:r>
              <a:t>"Phase 2 — Kyverno plus one policy live. Three are pre-committed. I'm writing require-labels on stage."</a:t>
            </a:r>
          </a:p>
          <a:p/>
          <a:p>
            <a:r>
              <a:t>"Phase 3 — kube-prometheus-stack. Prometheus and Grafana. This is where Install scores diverge from Integration."</a:t>
            </a:r>
          </a:p>
          <a:p/>
          <a:p>
            <a:r>
              <a:t>"Phase 4 — Backstage. Most likely to faceplant. If we run out of time, I'll play a pre-recorded run during closing. That's the 'AI Ate My Implementation' moment from the talk title."</a:t>
            </a:r>
          </a:p>
          <a:p/>
          <a:p>
            <a:r>
              <a:t>"HOW FAR WE GET IS HOW FAR WE GET. Say this out loud, audience. We're not running this clock to complete. We're running it to demonstrate."</a:t>
            </a:r>
          </a:p>
          <a:p/>
          <a:p>
            <a:r>
              <a:t>[SAY THE 'HOW FAR WE GET' LINE EXPLICITLY. The audience needs to hear it.]</a:t>
            </a:r>
          </a:p>
          <a:p/>
          <a:p>
            <a:r>
              <a:t>[CLICK to slide 8.]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[T+3:50  |  ~30 seconds talking, then 3-5 minutes pause for setup]</a:t>
            </a:r>
          </a:p>
          <a:p/>
          <a:p>
            <a:r>
              <a:t>"Open your laptops. QR code on the screen takes you to the landing page where you claim your cluster credentials. Three commands on the card."</a:t>
            </a:r>
          </a:p>
          <a:p/>
          <a:p>
            <a:r>
              <a:t>[Point at the code block.]</a:t>
            </a:r>
          </a:p>
          <a:p/>
          <a:p>
            <a:r>
              <a:t>"aws configure with your keys. aws eks update-kubeconfig. kubectl get nodes — should show three Ready nodes."</a:t>
            </a:r>
          </a:p>
          <a:p/>
          <a:p>
            <a:r>
              <a:t>"If kubectl get nodes doesn't show three Ready nodes, raise your hand NOW. There are no TAs today — just me. The setup window is the only time I can help individuals. After Phase 1 starts, I'm driving Claude on the projector and can't help one-on-one."</a:t>
            </a:r>
          </a:p>
          <a:p/>
          <a:p>
            <a:r>
              <a:t>"I'd rather start two minutes late with everyone connected than on time with a third of the room behind."</a:t>
            </a:r>
          </a:p>
          <a:p/>
          <a:p>
            <a:r>
              <a:t>[NOW PAUSE FOR 3-5 MINUTES. Walk between the rows. Watch screens. Hand spare-cluster cards to anyone whose setup doesn't land in 30 seconds — don't debug, swap.]</a:t>
            </a:r>
          </a:p>
          <a:p/>
          <a:p>
            <a:r>
              <a:t>[When the room is mostly green, CLICK to slide 9.]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[T+~80  |  ~45 seconds  |  THE PAYOFF MOMENT]</a:t>
            </a:r>
          </a:p>
          <a:p/>
          <a:p>
            <a:r>
              <a:t>[Point at the live scorecard — your AUDIENCE has been watching it fill in real time.]</a:t>
            </a:r>
          </a:p>
          <a:p/>
          <a:p>
            <a:r>
              <a:t>"We did N phases in 75 minutes. Here are the totals."</a:t>
            </a:r>
          </a:p>
          <a:p/>
          <a:p>
            <a:r>
              <a:t>[Read your actual scorecard numbers. Don't make them up.]</a:t>
            </a:r>
          </a:p>
          <a:p/>
          <a:p>
            <a:r>
              <a:t>"Look at these three numbers. They DON'T move together."</a:t>
            </a:r>
          </a:p>
          <a:p/>
          <a:p>
            <a:r>
              <a:t>INSTALL — "AI installed things fine. Manifests came up healthy. First-try success was real."</a:t>
            </a:r>
          </a:p>
          <a:p/>
          <a:p>
            <a:r>
              <a:t>INTEGRATION — "AI struggled with integration. Sync waves missed. Webhook scopes wrong. Scrape not wired."</a:t>
            </a:r>
          </a:p>
          <a:p/>
          <a:p>
            <a:r>
              <a:t>USABILITY — "AI was worst at usability. Working components, opaque UIs, defaults that don't fit your team Monday morning."</a:t>
            </a:r>
          </a:p>
          <a:p/>
          <a:p>
            <a:r>
              <a:t>"That's the pattern. Same pattern I saw in the overnight build at kubeauto-ai-day, just compressed."</a:t>
            </a:r>
          </a:p>
          <a:p/>
          <a:p>
            <a:r>
              <a:t>[If you didn't get to all 4 phases, say so explicitly. 'We didn't reach Phase 3 today. Here's what kubeauto scored for it.']</a:t>
            </a:r>
          </a:p>
          <a:p/>
          <a:p>
            <a:r>
              <a:t>[CLICK to slide 13.]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[T+~83  |  ~45 seconds  |  THE TALK'S CLOSING ARGUMENT]</a:t>
            </a:r>
          </a:p>
          <a:p/>
          <a:p>
            <a:r>
              <a:t>"The implementation layer didn't DISAPPEAR."</a:t>
            </a:r>
          </a:p>
          <a:p/>
          <a:p>
            <a:r>
              <a:t>[Pause — let the pivot land.]</a:t>
            </a:r>
          </a:p>
          <a:p/>
          <a:p>
            <a:r>
              <a:t>"It COMPRESSED."</a:t>
            </a:r>
          </a:p>
          <a:p/>
          <a:p>
            <a:r>
              <a:t>"AI handles the YAML and Helm values faster than I can. What's LEFT is sync wave ordering, namespace exclusions, policy collisions, image configs that don't match the chart, and the judgment calls that turn a pile of CNCF tools into a platform someone can actually USE Monday morning."</a:t>
            </a:r>
          </a:p>
          <a:p/>
          <a:p>
            <a:r>
              <a:t>"That's the engineering work that didn't go anywhere."</a:t>
            </a:r>
          </a:p>
          <a:p/>
          <a:p>
            <a:r>
              <a:t>[This is the talk's argument. Slow down. Don't rush.]</a:t>
            </a:r>
          </a:p>
          <a:p/>
          <a:p>
            <a:r>
              <a:t>[CLICK to slide 14.]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[T+~84  |  ~60 seconds]</a:t>
            </a:r>
          </a:p>
          <a:p/>
          <a:p>
            <a:r>
              <a:t>"Your scorecard goes home with you. The platform doesn't — we're tearing down the clusters in an hour."</a:t>
            </a:r>
          </a:p>
          <a:p/>
          <a:p>
            <a:r>
              <a:t>"What goes home: three things."</a:t>
            </a:r>
          </a:p>
          <a:p/>
          <a:p>
            <a:r>
              <a:t>[Point at QR codes left to right.]</a:t>
            </a:r>
          </a:p>
          <a:p/>
          <a:p>
            <a:r>
              <a:t>WORKSHOP REPO — "The spec, skills, gates, scorecard — exactly what we ran today. Take it. Fork it. Use it Monday."</a:t>
            </a:r>
          </a:p>
          <a:p/>
          <a:p>
            <a:r>
              <a:t>REFERENCE BUILD — "kubeauto-ai-day. Same methodology, 7 phases, 27 components, ~10 hours overnight. Read the scorecard there for comparison."</a:t>
            </a:r>
          </a:p>
          <a:p/>
          <a:p>
            <a:r>
              <a:t>AGENTIC COVENANTS — "Governance framework for autonomous agents. If you're going to deploy AI agents that DO things — not just answer things — start here."</a:t>
            </a:r>
          </a:p>
          <a:p/>
          <a:p>
            <a:r>
              <a:t>"Methodology + scorecard + reference build. Pull out your phones. I'll leave this on screen for a minute."</a:t>
            </a:r>
          </a:p>
          <a:p/>
          <a:p>
            <a:r>
              <a:t>[Wait ~60 seconds for people to scan. CLICK to slide 15.]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[T+~86 to T+90  |  4 minutes for Q&amp;A]</a:t>
            </a:r>
          </a:p>
          <a:p/>
          <a:p>
            <a:r>
              <a:t>"Thank you for being part of this."</a:t>
            </a:r>
          </a:p>
          <a:p/>
          <a:p>
            <a:r>
              <a:t>"Questions? I'll stay for the next five minutes for one-on-one. After that I have to clear the room for the next session."</a:t>
            </a:r>
          </a:p>
          <a:p/>
          <a:p>
            <a:r>
              <a:t>[Take questions. Be honest about what didn't work. The audience saw it — don't pretend otherwise.]</a:t>
            </a:r>
          </a:p>
          <a:p/>
          <a:p>
            <a:r>
              <a:t>[Common Q&amp;A you should prep for:]</a:t>
            </a:r>
          </a:p>
          <a:p>
            <a:r>
              <a:t>- "How long did writing the spec take?" — be honest. ~half a day for kubeauto. ~2 hours for the workshop subset.</a:t>
            </a:r>
          </a:p>
          <a:p>
            <a:r>
              <a:t>- "Can I use this on Azure / GCP?" — yes, same methodology, change the cluster bootstrap.</a:t>
            </a:r>
          </a:p>
          <a:p>
            <a:r>
              <a:t>- "What if I don't use Claude Code specifically?" — methodology applies to any agentic LLM with file access. Spec + skills + gates + scorecard works with Cursor, Copilot agents, etc.</a:t>
            </a:r>
          </a:p>
          <a:p>
            <a:r>
              <a:t>- "What's the kubeauto scorecard total?" — go to the repo, the SCORECARD.md is the artifact.</a:t>
            </a:r>
          </a:p>
          <a:p/>
          <a:p>
            <a:r>
              <a:t>[After Q&amp;A: thank you again. Don't linger.]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[T+8 (or whenever setup is done)  |  ~60 seconds  |  ORIENTATION before going to terminal]</a:t>
            </a:r>
          </a:p>
          <a:p/>
          <a:p>
            <a:r>
              <a:t>"Before I switch to the terminal — here's the loop you're about to watch."</a:t>
            </a:r>
          </a:p>
          <a:p/>
          <a:p>
            <a:r>
              <a:t>[Walk through the 6 steps quickly:]</a:t>
            </a:r>
          </a:p>
          <a:p/>
          <a:p>
            <a:r>
              <a:t>"Step 1 — I paste the spec. ONE paste. Not per-phase prompting. The whole spec, autonomous run."</a:t>
            </a:r>
          </a:p>
          <a:p/>
          <a:p>
            <a:r>
              <a:t>"Step 2 — Claude reads the relevant skill file for the phase. THAT'S WHY THE SKILLS MATTER — they're how Claude doesn't generate deprecated patterns."</a:t>
            </a:r>
          </a:p>
          <a:p/>
          <a:p>
            <a:r>
              <a:t>"Step 3 — Claude generates a manifest to ~/my-component.yaml. NOT to gitops/ — that's read-only during the workshop."</a:t>
            </a:r>
          </a:p>
          <a:p/>
          <a:p>
            <a:r>
              <a:t>"Step 4 — We diff against the pre-committed ground truth in gitops/. Walk through every difference out loud. THIS IS THE EDUCATIONAL MOMENT."</a:t>
            </a:r>
          </a:p>
          <a:p/>
          <a:p>
            <a:r>
              <a:t>"Step 5 — kubectl apply, then pytest. ALL tests must pass."</a:t>
            </a:r>
          </a:p>
          <a:p/>
          <a:p>
            <a:r>
              <a:t>"Step 6 — Promise PHASE_N_DONE. I pause. Score on the live scorecard. Say 'continue' — Claude moves to Phase N+1 autonomously."</a:t>
            </a:r>
          </a:p>
          <a:p/>
          <a:p>
            <a:r>
              <a:t>"When you get lost watching the terminal, glance back at this slide. THIS is what we're doing."</a:t>
            </a:r>
          </a:p>
          <a:p/>
          <a:p>
            <a:r>
              <a:t>[Now SWITCH PROJECTOR TO TERMINAL. The deck stays accessible for filler.]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[FILLER SLIDE — use during phase stalls (pods pulling, Claude thinking)]</a:t>
            </a:r>
          </a:p>
          <a:p/>
          <a:p>
            <a:r>
              <a:t>[Switch back from terminal when there's dead air. Walk through one or two skill entries:]</a:t>
            </a:r>
          </a:p>
          <a:p/>
          <a:p>
            <a:r>
              <a:t>"While we wait — these are the four skill files Claude has in its context right now. Each one prevents a specific failure mode."</a:t>
            </a:r>
          </a:p>
          <a:p/>
          <a:p>
            <a:r>
              <a:t>argocd-patterns.md — "Chart 9.x line. ArgoCD 3.x. There's a trap where the timeout.reconciliation setting goes in the wrong YAML path — overrides silently fail. The skill file calls it out. Annotation-based tracking is the 3.x default; older tutorials still say label-based."</a:t>
            </a:r>
          </a:p>
          <a:p/>
          <a:p>
            <a:r>
              <a:t>kyverno-policies.md — "Workshop uses webhook-level namespace exclusion via chart values — NOT per-policy excludes. Single source of truth. Also: validationFailureAction is case-sensitive. Enforce with capital E."</a:t>
            </a:r>
          </a:p>
          <a:p/>
          <a:p>
            <a:r>
              <a:t>kube-prometheus-stack.md — "ServerSideApply is MANDATORY in syncOptions. The chart's CRDs exceed the default annotation size. Without SSA, ArgoCD loops forever."</a:t>
            </a:r>
          </a:p>
          <a:p/>
          <a:p>
            <a:r>
              <a:t>backstage-templates.md — "The Backstage chart has NO default image. If Claude generates values without setting backstage.image.repository and tag, the Pod CrashLoopBackOffs. This is THE trap."</a:t>
            </a:r>
          </a:p>
          <a:p/>
          <a:p>
            <a:r>
              <a:t>[Switch back to terminal when ready.]</a:t>
            </a:r>
          </a:p>
          <a:p/>
          <a:p>
            <a:r>
              <a:t>[If used early — 30 seconds. If filler during a longer stall — go through all four, 2-3 minutes.]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[FILLER SLIDE — use during longer phase stalls or after a Phase failure]</a:t>
            </a:r>
          </a:p>
          <a:p/>
          <a:p>
            <a:r>
              <a:t>"While we troubleshoot — here's the rigor underneath this workshop."</a:t>
            </a:r>
          </a:p>
          <a:p/>
          <a:p>
            <a:r>
              <a:t>PRE-COMMIT HOOKS — "Every commit to staging runs gitleaks, yamllint, kubeconform schema validation, helm-lint, shellcheck. Bad YAML never reaches the branch. Leaked secrets never reach GitHub."</a:t>
            </a:r>
          </a:p>
          <a:p/>
          <a:p>
            <a:r>
              <a:t>pytest GATES — "Every phase ends with pytest tests/test_phase_0N. ALL tests must pass for the promise to fire. There are no faked passes — you can see the test output on the projector when we run the gates."</a:t>
            </a:r>
          </a:p>
          <a:p/>
          <a:p>
            <a:r>
              <a:t>GITOPS RECONCILIATION — "ArgoCD reads main. Pre-commit blocks bad commits. Promotion from staging to main is a local fast-forward. No CI runs. No remote gates. The local hooks ARE the gates. Single-maintainer rigor."</a:t>
            </a:r>
          </a:p>
          <a:p/>
          <a:p>
            <a:r>
              <a:t>"Same model as kubeauto-ai-day. The discipline isn't different — just scoped down."</a:t>
            </a:r>
          </a:p>
          <a:p/>
          <a:p>
            <a:r>
              <a:t>[~60-90 seconds when used as filler. Switch back to terminal when ready.]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 title="Group 4411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9151" y="4245825"/>
            <a:ext cx="1749325" cy="66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The 90-Minute IDP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</a:rPr>
              <a:t>AI Ate My Implementation. Let’s Build a Platform Together and Score What’s Left.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3383280"/>
            <a:ext cx="59436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Michael Forrester</a:t>
            </a:r>
          </a:p>
          <a:p>
            <a:pPr algn="l"/>
            <a:r>
              <a:rPr sz="1200" b="0" i="0">
                <a:solidFill>
                  <a:srgbClr val="CADCFC"/>
                </a:solidFill>
              </a:rPr>
              <a:t>PerformantPro  •  KCD Texas  •  May 15, 2026  •  Room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2966" y="4568866"/>
            <a:ext cx="1158975" cy="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THE HOOK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868680"/>
            <a:ext cx="804672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</a:rPr>
              <a:t>I’ve already built this IDP end-to-end with Claude Code.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2651760"/>
            <a:ext cx="80467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</a:rPr>
              <a:t>ArgoCD, Kyverno, Falco, OpenTelemetry, Backstage — the whole stack.</a:t>
            </a:r>
          </a:p>
          <a:p>
            <a:pPr algn="l">
              <a:spcBef>
                <a:spcPts val="600"/>
              </a:spcBef>
            </a:pPr>
            <a:r>
              <a:rPr sz="1300" b="0" i="1">
                <a:solidFill>
                  <a:srgbClr val="4A4A4A"/>
                </a:solidFill>
              </a:rPr>
              <a:t>7 phases  •  27 components  •  ~10 hours overnight  •  Scored on Install / Integration / Usability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github.com/peopleforrester/kubeauto-ai-day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THE PIVOT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</a:rPr>
              <a:t>We’re not redoing that today.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2651760"/>
            <a:ext cx="8046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4A4A4A"/>
                </a:solidFill>
              </a:rPr>
              <a:t>60 of us in 90 minutes can’t replicate a 10-hour build.</a:t>
            </a:r>
          </a:p>
          <a:p>
            <a:pPr algn="l">
              <a:spcBef>
                <a:spcPts val="600"/>
              </a:spcBef>
            </a:pPr>
            <a:r>
              <a:rPr sz="1800" b="0" i="1">
                <a:solidFill>
                  <a:srgbClr val="4A4A4A"/>
                </a:solidFill>
              </a:rPr>
              <a:t>That’s not the 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TextBox 76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TODAY’S LESSON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Spec-Driven Development with Claude Code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1600200"/>
            <a:ext cx="457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1.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88720" y="160020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I write a spec.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2011680"/>
            <a:ext cx="457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2.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88720" y="201168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I hand it to Claude.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2423160"/>
            <a:ext cx="457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3.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88720" y="242316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Claude generates the platform.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2834640"/>
            <a:ext cx="457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4.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88720" y="283464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I verify with test gates.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3246120"/>
            <a:ext cx="457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5.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88720" y="324612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I score what Claude did, and move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THE THREE ARTIFACTS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Spec + Skills + Gates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1600200"/>
            <a:ext cx="2606040" cy="26517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" y="1737360"/>
            <a:ext cx="23317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</a:rPr>
              <a:t>The Spec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2240280"/>
            <a:ext cx="2331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What I want Claude to build. Phases, manifests, completion criteria.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3474720"/>
            <a:ext cx="2331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1E2761"/>
                </a:solidFill>
              </a:rPr>
              <a:t>spec/BUILD-SPEC.md — ~120 lines markdown.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73552" y="1600200"/>
            <a:ext cx="2606040" cy="26517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410712" y="1737360"/>
            <a:ext cx="23317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</a:rPr>
              <a:t>The Skills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10712" y="2240280"/>
            <a:ext cx="2331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Current-version patterns Claude needs. One per CNCF project. Auto-loaded.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10712" y="3474720"/>
            <a:ext cx="2331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1E2761"/>
                </a:solidFill>
              </a:rPr>
              <a:t>argocd • kyverno • kube-prometheus-stack • backstage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998464" y="1600200"/>
            <a:ext cx="2606040" cy="26517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35624" y="1737360"/>
            <a:ext cx="23317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</a:rPr>
              <a:t>The Gates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35624" y="2240280"/>
            <a:ext cx="2331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pytest tests proving a phase actually worked. Real infrastructure, no mocks.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35624" y="3474720"/>
            <a:ext cx="2331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1E2761"/>
                </a:solidFill>
              </a:rPr>
              <a:t>tests/test_phase_0N_*.py — kubectl-driven assertions.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THE LIVE SCORECARD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</a:rPr>
              <a:t>Three Dimensions, Scored Independently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" y="1600200"/>
            <a:ext cx="2606040" cy="2331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85800" y="1737360"/>
            <a:ext cx="2331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</a:rPr>
              <a:t>Install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" y="2240280"/>
            <a:ext cx="233172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4A4A4A"/>
                </a:solidFill>
              </a:rPr>
              <a:t>Did Claude generate a manifest that came up healthy?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" y="3017520"/>
            <a:ext cx="233172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1">
                <a:solidFill>
                  <a:srgbClr val="1E2761"/>
                </a:solidFill>
              </a:rPr>
              <a:t>Pods Running. No rewrites. First try.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73552" y="1600200"/>
            <a:ext cx="2606040" cy="2331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410712" y="1737360"/>
            <a:ext cx="2331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</a:rPr>
              <a:t>Integration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10712" y="2240280"/>
            <a:ext cx="233172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4A4A4A"/>
                </a:solidFill>
              </a:rPr>
              <a:t>Does it work with the other components?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10712" y="3017520"/>
            <a:ext cx="233172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1">
                <a:solidFill>
                  <a:srgbClr val="1E2761"/>
                </a:solidFill>
              </a:rPr>
              <a:t>Sync waves, webhooks, scrape, policy collisions. Where humans still earn salary.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998464" y="1600200"/>
            <a:ext cx="2606040" cy="2331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1737360"/>
            <a:ext cx="2331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</a:rPr>
              <a:t>Usability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35624" y="2240280"/>
            <a:ext cx="233172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4A4A4A"/>
                </a:solidFill>
              </a:rPr>
              <a:t>Could a developer drive this Monday morning?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35624" y="3017520"/>
            <a:ext cx="233172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1">
                <a:solidFill>
                  <a:srgbClr val="1E2761"/>
                </a:solidFill>
              </a:rPr>
              <a:t>Clear UI. Sensible defaults. The right things are discoverable.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Plus: correction cycles (count) and AI wall-clock time (minutes).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TextBox 96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TODAY’S BUILD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</a:rPr>
              <a:t>In Order, Until We Run Out of Time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43000" y="1572768"/>
            <a:ext cx="74523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ArgoCD + app-of-apps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43000" y="1828800"/>
            <a:ext cx="74523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GitOps foundation. Sync wave −5 bootstrap.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43000" y="2167128"/>
            <a:ext cx="74523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Kyverno + require-labels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43000" y="2423160"/>
            <a:ext cx="74523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Admission control. Three policies pre-committed; one generated live.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43000" y="2761488"/>
            <a:ext cx="74523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kube-prometheus-stack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43000" y="3017520"/>
            <a:ext cx="74523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Prometheus + Grafana. The Install vs Integration moment.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43000" y="3355848"/>
            <a:ext cx="74523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Backstage (or pre-recorded)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43000" y="3611880"/>
            <a:ext cx="74523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Developer portal. The talk’s payoff lives here.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1" i="1">
                <a:solidFill>
                  <a:srgbClr val="FF6B35"/>
                </a:solidFill>
              </a:rPr>
              <a:t>How far we get is how far we 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TextBox 103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NOW WE GO LIVE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</a:rPr>
              <a:t>Open your laptops.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8640" y="1874519"/>
            <a:ext cx="8046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Scan the QR. Land on the page. Get your cluster credentials. Then three commands: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solidFill>
            <a:srgbClr val="10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77240" y="2468880"/>
            <a:ext cx="76809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$ aws configure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$ aws eks update-kubeconfig --name kcd-texas-student-NN --region us-east-2</a:t>
            </a:r>
          </a:p>
          <a:p>
            <a:pPr algn="l"/>
            <a:r>
              <a:rPr sz="1200" b="0" i="0">
                <a:solidFill>
                  <a:srgbClr val="CADCFC"/>
                </a:solidFill>
              </a:rPr>
              <a:t>$ kubectl get nodes      # expect 3 Ready nodes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No TAs today — just me. The setup window is the only time I can help individuals.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WHAT YOU’RE ABOUT TO WATCH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The Spec-Driven Loop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" y="1435608"/>
            <a:ext cx="7589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I paste the spec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1560" y="1664208"/>
            <a:ext cx="7589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spec/BUILD-SPEC.md — single paste, autonomous run.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60" y="1892808"/>
            <a:ext cx="7589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Claude reads the skill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1560" y="2121408"/>
            <a:ext cx="7589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argocd-patterns / kyverno-policies / kube-prometheus-stack / backstage-templates.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1560" y="2350008"/>
            <a:ext cx="7589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Claude generates a manifest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1560" y="2578608"/>
            <a:ext cx="7589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~/my-&lt;component&gt;.yaml — diffed against the pre-committed gitops/ ground truth on the projector.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1560" y="2807208"/>
            <a:ext cx="7589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We apply + run the gate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1560" y="3035808"/>
            <a:ext cx="7589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kubectl apply, then pytest tests/test_phase_0N_*.py -v.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1560" y="3264408"/>
            <a:ext cx="7589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Promise on green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1560" y="3493008"/>
            <a:ext cx="7589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&lt;promise&gt;PHASE_N_DONE&lt;/promise&gt; only when ALL tests pass. Otherwise PHASE_N_FAILED.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51560" y="3721608"/>
            <a:ext cx="7589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Score and continue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1560" y="3950208"/>
            <a:ext cx="75895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Install / Integration / Usability on the live scorecard. Then “continue” and Claude moves to Phase N+1.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WHAT CLAUDE KNOWS BEFORE WE START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</a:rPr>
              <a:t>Skills Auto-Loaded from .claude/skills/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1417320"/>
            <a:ext cx="2743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argocd-patterns.md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8640" y="1673352"/>
            <a:ext cx="8046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Chart 9.x line → ArgoCD 3.x. Annotation-based tracking by default. SSA on CRD-heavy charts.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1920240"/>
            <a:ext cx="8046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1E2761"/>
                </a:solidFill>
              </a:rPr>
              <a:t>Prevents: timeout.reconciliation at the wrong path; legacy 2.x resourceTrackingMethod.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2194560"/>
            <a:ext cx="2743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kyverno-policies.md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2450592"/>
            <a:ext cx="8046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Webhook-level namespace exclusion via chart values. background: false on workshop policies.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1E2761"/>
                </a:solidFill>
              </a:rPr>
              <a:t>Prevents: per-policy excludes; case-mismatched validationFailureAction; flat match.resources.kinds.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2971800"/>
            <a:ext cx="2743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kube-prometheus-stack.md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3227832"/>
            <a:ext cx="8046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ServerSideApply mandatory. alertmanager disabled. retention 2h. Pre-defined Helm valuesObject.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1E2761"/>
                </a:solidFill>
              </a:rPr>
              <a:t>Prevents: CRD-annotation overflow; default 10d retention burning disk; alertmanager pods Pending.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3749040"/>
            <a:ext cx="2743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backstage-templates.md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8640" y="4005072"/>
            <a:ext cx="8046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Image PINNED to ghcr.io/roadiehq/community-backstage-image:1.50.4. Current backend system.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1E2761"/>
                </a:solidFill>
              </a:rPr>
              <a:t>Prevents: the no-default-image trap; createServiceBuilder is not a function (wrong image era).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WHAT’S RUNNING UNDERNEATH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</a:rPr>
              <a:t>The Guard Rails You Don’t See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8640" y="1417320"/>
            <a:ext cx="2606040" cy="2468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5800" y="1554480"/>
            <a:ext cx="23317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Pre-commit hooks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2011680"/>
            <a:ext cx="233172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gitleaks  •  yamllint  •  kubeconform  •  helm-lint  •  shellcheck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800" y="3017520"/>
            <a:ext cx="2331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1E2761"/>
                </a:solidFill>
              </a:rPr>
              <a:t>Runs on every commit to staging. Bad YAML / leaked secrets never reach the branch.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273552" y="1417320"/>
            <a:ext cx="2606040" cy="2468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10712" y="1554480"/>
            <a:ext cx="23317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pytest gates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10712" y="2011680"/>
            <a:ext cx="233172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tests/test_phase_0N_*.py against the real cluster. ALL must pass.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10712" y="3017520"/>
            <a:ext cx="2331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1E2761"/>
                </a:solidFill>
              </a:rPr>
              <a:t>Promise &lt;PHASE_N_DONE/&gt; only fires when pytest exits 0. No faked passes.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98464" y="1417320"/>
            <a:ext cx="2606040" cy="24688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135624" y="1554480"/>
            <a:ext cx="23317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GitOps reconciliation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35624" y="2011680"/>
            <a:ext cx="233172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ArgoCD reads main. Pre-commit blocks bad commits. Promotion staging→main is local fast-forward.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35624" y="3017520"/>
            <a:ext cx="2331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1E2761"/>
                </a:solidFill>
              </a:rPr>
              <a:t>Single-maintainer rigor: no CI/CD, no remote gates — the local hooks ARE the gates.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Same rigor as kubeauto-ai-day, scoped to local-only for a single-maintainer workshop repo.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AFTER THE BUILD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</a:rPr>
              <a:t>What the Scorecard Showed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8640" y="1600200"/>
            <a:ext cx="2606040" cy="21945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5800" y="1691640"/>
            <a:ext cx="2331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4A4A4A"/>
                </a:solidFill>
              </a:rPr>
              <a:t>Install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2057400"/>
            <a:ext cx="23317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</a:rPr>
              <a:t>↑  High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800" y="2743200"/>
            <a:ext cx="2331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AI generates manifests well. First-try success is real.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273552" y="1600200"/>
            <a:ext cx="2606040" cy="21945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10712" y="1691640"/>
            <a:ext cx="2331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4A4A4A"/>
                </a:solidFill>
              </a:rPr>
              <a:t>Integration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10712" y="2057400"/>
            <a:ext cx="23317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</a:rPr>
              <a:t>→  Middling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10712" y="2743200"/>
            <a:ext cx="2331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Sync waves missed, namespace exclusions forgotten, scrape not wired.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98464" y="1600200"/>
            <a:ext cx="2606040" cy="21945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135624" y="1691640"/>
            <a:ext cx="23317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4A4A4A"/>
                </a:solidFill>
              </a:rPr>
              <a:t>Usability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35624" y="2057400"/>
            <a:ext cx="23317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</a:rPr>
              <a:t>↓  Low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35624" y="2743200"/>
            <a:ext cx="2331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Working components, opaque UIs, defaults that don’t fit Monday morning.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 i="1">
                <a:solidFill>
                  <a:srgbClr val="1E2761"/>
                </a:solidFill>
              </a:rPr>
              <a:t>Install ≫ Integration ≫ Usability — same pattern as the kubeauto overnight build.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THE TAKEAWAY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777240"/>
            <a:ext cx="8046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</a:rPr>
              <a:t>The implementation layer didn’t disappear.</a:t>
            </a:r>
          </a:p>
          <a:p>
            <a:pPr algn="l"/>
            <a:r>
              <a:rPr sz="2800" b="1" i="1">
                <a:solidFill>
                  <a:srgbClr val="FF6B35"/>
                </a:solidFill>
              </a:rPr>
              <a:t>It compressed.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8640" y="2468880"/>
            <a:ext cx="804672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AI handles the YAML and Helm values faster than I can.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4A4A4A"/>
                </a:solidFill>
              </a:rPr>
              <a:t>What’s left is sync wave ordering, namespace exclusions, policy collisions, image configs that don’t match the chart — the judgment calls that turn CNCF tools into a platform someone can actually use Monday morning.</a:t>
            </a:r>
          </a:p>
          <a:p>
            <a:pPr algn="l">
              <a:spcBef>
                <a:spcPts val="800"/>
              </a:spcBef>
            </a:pPr>
            <a:r>
              <a:rPr sz="1300" b="1" i="1">
                <a:solidFill>
                  <a:srgbClr val="1E2761"/>
                </a:solidFill>
              </a:rPr>
              <a:t>That’s the engineering work that didn’t go anywhere.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TextBox 123"/>
          <p:cNvSpPr txBox="1"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TAKE HOME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</a:rPr>
              <a:t>Methodology + Scorecard + Reference Build</a:t>
            </a:r>
          </a:p>
        </p:txBody>
      </p:sp>
      <p:pic>
        <p:nvPicPr>
          <p:cNvPr id="126" name="Picture 125" descr="qr-worksh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580" y="1554480"/>
            <a:ext cx="1280160" cy="1280160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548640" y="2926080"/>
            <a:ext cx="26060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</a:rPr>
              <a:t>Workshop Repo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48640" y="329184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github.com/peopleforrester/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8640" y="352044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4A4A4A"/>
                </a:solidFill>
              </a:rPr>
              <a:t>KCD_Texas_2026_Workshop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8640" y="384048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4A4A4A"/>
                </a:solidFill>
              </a:rPr>
              <a:t>Spec, skills, gates, scorecard</a:t>
            </a:r>
          </a:p>
        </p:txBody>
      </p:sp>
      <p:pic>
        <p:nvPicPr>
          <p:cNvPr id="131" name="Picture 130" descr="qr-kubeau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6492" y="1554480"/>
            <a:ext cx="1280160" cy="1280160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3273552" y="2926080"/>
            <a:ext cx="26060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</a:rPr>
              <a:t>Reference Build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273552" y="329184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github.com/peopleforrester/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73552" y="352044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4A4A4A"/>
                </a:solidFill>
              </a:rPr>
              <a:t>kubeauto-ai-day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73552" y="384048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4A4A4A"/>
                </a:solidFill>
              </a:rPr>
              <a:t>7 phases, 27 components, full scorecard</a:t>
            </a:r>
          </a:p>
        </p:txBody>
      </p:sp>
      <p:pic>
        <p:nvPicPr>
          <p:cNvPr id="136" name="Picture 135" descr="qr-covena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1404" y="1554480"/>
            <a:ext cx="1280160" cy="128016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5998464" y="2926080"/>
            <a:ext cx="26060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</a:rPr>
              <a:t>Agentic Covenants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998464" y="329184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github.com/peopleforrester/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998464" y="3520440"/>
            <a:ext cx="2606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4A4A4A"/>
                </a:solidFill>
              </a:rPr>
              <a:t>agentic-covenants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998464" y="384048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4A4A4A"/>
                </a:solidFill>
              </a:rPr>
              <a:t>Governance framework for autonomous agents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3316" y="4568866"/>
            <a:ext cx="1158975" cy="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TextBox 130"/>
          <p:cNvSpPr txBox="1"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5400" b="1" i="0">
                <a:solidFill>
                  <a:srgbClr val="1E2761"/>
                </a:solidFill>
              </a:rPr>
              <a:t>Thank you.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48640" y="2377440"/>
            <a:ext cx="8046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0" i="1">
                <a:solidFill>
                  <a:srgbClr val="FF6B35"/>
                </a:solidFill>
              </a:rPr>
              <a:t>Questions?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Michael Forrester  •  PerformantPro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</a:rPr>
              <a:t>github.com/peopleforrester  •  linkedin.com/in/peopleforrester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[Drop your LinkedIn headshot here before workshop day]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