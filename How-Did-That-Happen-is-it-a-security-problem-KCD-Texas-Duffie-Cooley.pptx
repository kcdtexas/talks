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Robot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regular.fntdata"/><Relationship Id="rId11" Type="http://schemas.openxmlformats.org/officeDocument/2006/relationships/slide" Target="slides/slide6.xml"/><Relationship Id="rId22" Type="http://schemas.openxmlformats.org/officeDocument/2006/relationships/font" Target="fonts/Roboto-italic.fntdata"/><Relationship Id="rId10" Type="http://schemas.openxmlformats.org/officeDocument/2006/relationships/slide" Target="slides/slide5.xml"/><Relationship Id="rId21" Type="http://schemas.openxmlformats.org/officeDocument/2006/relationships/font" Target="fonts/Roboto-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Robo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27e0eb24f85ac7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27e0eb24f85ac7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t>Hello Everyone! </a:t>
            </a:r>
            <a:endParaRPr sz="2500"/>
          </a:p>
          <a:p>
            <a:pPr indent="0" lvl="0" marL="0" rtl="0" algn="l">
              <a:spcBef>
                <a:spcPts val="0"/>
              </a:spcBef>
              <a:spcAft>
                <a:spcPts val="0"/>
              </a:spcAft>
              <a:buNone/>
            </a:pPr>
            <a:r>
              <a:t/>
            </a:r>
            <a:endParaRPr sz="2500"/>
          </a:p>
          <a:p>
            <a:pPr indent="0" lvl="0" marL="0" rtl="0" algn="l">
              <a:spcBef>
                <a:spcPts val="0"/>
              </a:spcBef>
              <a:spcAft>
                <a:spcPts val="0"/>
              </a:spcAft>
              <a:buNone/>
            </a:pPr>
            <a:r>
              <a:rPr lang="en" sz="2500"/>
              <a:t>So amazing to be here with you in Austin!</a:t>
            </a:r>
            <a:endParaRPr sz="2500"/>
          </a:p>
          <a:p>
            <a:pPr indent="0" lvl="0" marL="0" rtl="0" algn="l">
              <a:spcBef>
                <a:spcPts val="0"/>
              </a:spcBef>
              <a:spcAft>
                <a:spcPts val="0"/>
              </a:spcAft>
              <a:buNone/>
            </a:pPr>
            <a:r>
              <a:t/>
            </a:r>
            <a:endParaRPr sz="2500"/>
          </a:p>
          <a:p>
            <a:pPr indent="0" lvl="0" marL="0" rtl="0" algn="l">
              <a:spcBef>
                <a:spcPts val="0"/>
              </a:spcBef>
              <a:spcAft>
                <a:spcPts val="0"/>
              </a:spcAft>
              <a:buNone/>
            </a:pPr>
            <a:r>
              <a:rPr lang="en" sz="2500"/>
              <a:t>I am Duffie Cooley I am the field CTO at Isovalent. We were acquired by Cisco which we now call ciscovalent. and we are still doing all the things that we did as part of Isovalent. So my </a:t>
            </a:r>
            <a:r>
              <a:rPr lang="en" sz="2500"/>
              <a:t>job hasn’t changed too much. </a:t>
            </a:r>
            <a:endParaRPr sz="2500"/>
          </a:p>
          <a:p>
            <a:pPr indent="0" lvl="0" marL="0" rtl="0" algn="l">
              <a:spcBef>
                <a:spcPts val="0"/>
              </a:spcBef>
              <a:spcAft>
                <a:spcPts val="0"/>
              </a:spcAft>
              <a:buNone/>
            </a:pPr>
            <a:r>
              <a:t/>
            </a:r>
            <a:endParaRPr sz="2500"/>
          </a:p>
          <a:p>
            <a:pPr indent="0" lvl="0" marL="0" rtl="0" algn="l">
              <a:spcBef>
                <a:spcPts val="0"/>
              </a:spcBef>
              <a:spcAft>
                <a:spcPts val="0"/>
              </a:spcAft>
              <a:buNone/>
            </a:pPr>
            <a:r>
              <a:rPr lang="en" sz="2500"/>
              <a:t>Come say hello! I can be reached as mauilion just about everywhere. </a:t>
            </a:r>
            <a:endParaRPr sz="25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63bbce74583c6f8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63bbce74583c6f8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Perspective! </a:t>
            </a:r>
            <a:endParaRPr sz="2200"/>
          </a:p>
          <a:p>
            <a:pPr indent="0" lvl="0" marL="0" rtl="0" algn="l">
              <a:spcBef>
                <a:spcPts val="0"/>
              </a:spcBef>
              <a:spcAft>
                <a:spcPts val="0"/>
              </a:spcAft>
              <a:buNone/>
            </a:pPr>
            <a:r>
              <a:rPr lang="en" sz="2200"/>
              <a:t>In philosophy, a perspective is a specific way or manner through which a person thinks about something.[1] This figurative usage of the expression dates back to 1730. </a:t>
            </a:r>
            <a:endParaRPr sz="2200"/>
          </a:p>
          <a:p>
            <a:pPr indent="0" lvl="0" marL="0" rtl="0" algn="l">
              <a:spcBef>
                <a:spcPts val="0"/>
              </a:spcBef>
              <a:spcAft>
                <a:spcPts val="0"/>
              </a:spcAft>
              <a:buNone/>
            </a:pPr>
            <a:r>
              <a:rPr lang="en" sz="2200"/>
              <a:t>It is often </a:t>
            </a:r>
            <a:r>
              <a:rPr lang="en" sz="2200"/>
              <a:t>described</a:t>
            </a:r>
            <a:r>
              <a:rPr lang="en" sz="2200"/>
              <a:t> as the context for opinions, beliefs or experiences. </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rPr lang="en" sz="2200"/>
              <a:t>It’s a fascinating topic.</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rPr lang="en" sz="2200"/>
              <a:t>When you are troubleshooting or converting an idea to code or thinking about a hard problem. Your perspective is the tool you use. </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rPr lang="en" sz="2200"/>
              <a:t>Like any tool perspective can be </a:t>
            </a:r>
            <a:r>
              <a:rPr lang="en" sz="2200"/>
              <a:t>built up made stronger. When we share our experiences or challenges we strengthen our own perspectives. </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rPr lang="en" sz="2200"/>
              <a:t>For me one of the best ways to improve my perspective is teaching. Sharing ideas and hearing the questions. The questions almost always show me a side of a problem I have not thought about!</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rPr lang="en" sz="2200"/>
              <a:t>How many of you have heard of rubber duck debugging?</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rPr lang="en" sz="2200"/>
              <a:t>this is where you describe a problem that you are running into out loud often to another person but sometimes to a house plant or a rubber duck. And the act of describing the problem is enough to shift your perspective on it and help you solve it. </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rPr lang="en" sz="2200"/>
              <a:t>When we share our time with each other, our stories, examples of challenges we have experienced we also widen our perspectives. very few problems worth solving can be fully understood with only a single perspective. It takes questions and experiences to really understand a problem. </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rPr lang="en" sz="2200"/>
              <a:t>One such problem this all applies to is Security!</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rPr lang="en" sz="2200"/>
              <a:t>Here is another </a:t>
            </a:r>
            <a:r>
              <a:rPr lang="en" sz="2200"/>
              <a:t>perspective</a:t>
            </a:r>
            <a:r>
              <a:rPr lang="en" sz="2200"/>
              <a:t>.. </a:t>
            </a:r>
            <a:endParaRPr sz="2200"/>
          </a:p>
          <a:p>
            <a:pPr indent="0" lvl="0" marL="0" rtl="0" algn="l">
              <a:spcBef>
                <a:spcPts val="0"/>
              </a:spcBef>
              <a:spcAft>
                <a:spcPts val="0"/>
              </a:spcAft>
              <a:buNone/>
            </a:pPr>
            <a:r>
              <a:t/>
            </a:r>
            <a:endParaRPr sz="22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7e0eb24f85ac7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27e0eb24f85ac7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This was posted after Andres happened upon something that didn’t seem right. </a:t>
            </a:r>
            <a:r>
              <a:rPr lang="en" sz="2200"/>
              <a:t>In his experience ssh shouldn’t be using so much cpu time as part of this testing. So he was curious about why this behavior was happening. </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t/>
            </a:r>
            <a:endParaRPr sz="22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27e0eb24f85ac7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27e0eb24f85ac7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100"/>
              <a:t>Andres has some experience with profiling tools and while benchmarking some </a:t>
            </a:r>
            <a:r>
              <a:rPr lang="en" sz="2100"/>
              <a:t>Postgres changes, noticed that </a:t>
            </a:r>
            <a:r>
              <a:rPr lang="en" sz="2100"/>
              <a:t>openssh </a:t>
            </a:r>
            <a:r>
              <a:rPr lang="en" sz="2100"/>
              <a:t>performance</a:t>
            </a:r>
            <a:r>
              <a:rPr lang="en" sz="2100"/>
              <a:t> wasn‘t as </a:t>
            </a:r>
            <a:r>
              <a:rPr lang="en" sz="2100"/>
              <a:t>expected he dug a little deeper and found one of the most interesting and sophisticated  </a:t>
            </a:r>
            <a:r>
              <a:rPr lang="en" sz="2100"/>
              <a:t>software </a:t>
            </a:r>
            <a:r>
              <a:rPr lang="en" sz="2100"/>
              <a:t>supply chain attacks </a:t>
            </a:r>
            <a:r>
              <a:rPr lang="en" sz="2100"/>
              <a:t>of our time. A contributor to the open source library liblzma worked for years to gain maintainer access and embed functions in the library that when called would allow a user with keys that were not explicitly allowed by ssh access via ssh. If you’d like to read more about the issue there are many writeups about it including this one </a:t>
            </a:r>
            <a:r>
              <a:rPr lang="en" sz="2100"/>
              <a:t>by Russ Cox that captures a timeline of events. </a:t>
            </a:r>
            <a:endParaRPr sz="2100"/>
          </a:p>
          <a:p>
            <a:pPr indent="0" lvl="0" marL="0" rtl="0" algn="l">
              <a:spcBef>
                <a:spcPts val="0"/>
              </a:spcBef>
              <a:spcAft>
                <a:spcPts val="0"/>
              </a:spcAft>
              <a:buNone/>
            </a:pPr>
            <a:r>
              <a:t/>
            </a:r>
            <a:endParaRPr sz="2100"/>
          </a:p>
          <a:p>
            <a:pPr indent="0" lvl="0" marL="0" rtl="0" algn="l">
              <a:spcBef>
                <a:spcPts val="0"/>
              </a:spcBef>
              <a:spcAft>
                <a:spcPts val="0"/>
              </a:spcAft>
              <a:buNone/>
            </a:pPr>
            <a:r>
              <a:t/>
            </a:r>
            <a:endParaRPr sz="21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e9090756a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e9090756a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Be Curious.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n" sz="2400"/>
              <a:t>How often have you </a:t>
            </a:r>
            <a:r>
              <a:rPr lang="en" sz="2400"/>
              <a:t>been working on some piece of code whether it’s infra code or application code or looking at test results and thought. Huh… How did that happen?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n" sz="2400"/>
              <a:t>And then mash that /retest button?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n" sz="2400"/>
              <a:t>I know that we all have things to do! We all feel the pressure of time.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n" sz="2400"/>
              <a:t>When you thought I wonder if or how did that happen? ThIs was an opportunity to be curious. to dig deeper. To think about the problem differently that you did.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n" sz="2400"/>
              <a:t>Each of these opportunities represent a way to improve our perspective, the quality of our work and sometimes we can find things we didn’t think possible.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192150126de1a89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192150126de1a89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So how can we experiment with this? What are some tools out there that enable us to feed our curiousity? Where do we get this valuable experience and context that is needed widen our perspective? </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rPr lang="en" sz="2200"/>
              <a:t>For me one of the big things in the last few years has been ebpf. This is an </a:t>
            </a:r>
            <a:r>
              <a:rPr lang="en" sz="2200"/>
              <a:t>incredible technology that has the ability to gather context at any layer of the stack. From handling deep packet inpection to network security. From application profiling like what Andres was doing to limiting the attack surface of the linux kernel that all containers on a host share. </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rPr lang="en" sz="2200"/>
              <a:t>before containers we had a tool called auditd. This kept track of everything happening on a system so that it could be reviewed for odd behaviors and such. With containers and the addition of things like network namespaces and pid namespaces. All the bits that make up a running container auditd and tools like it can’t keep up with the context!</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rPr lang="en" sz="2200"/>
              <a:t>ebpf to the rescue. With functionality from ebpf helpers and frameworks we can get all that context and more!</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rPr lang="en" sz="2200"/>
              <a:t>Also it’s a thriving ecosystem of tooling out there that is focused on providing answers to questions like.. </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rPr lang="en" sz="2200"/>
              <a:t>What if the problem I am having is DNS? </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rPr lang="en" sz="2200"/>
              <a:t>Where is my application spending most of it’s cpu time? What can I do to improve the performance of it? </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rPr lang="en" sz="2200"/>
              <a:t>At the end of the day you can’t </a:t>
            </a:r>
            <a:r>
              <a:rPr lang="en" sz="2200"/>
              <a:t>improve</a:t>
            </a:r>
            <a:r>
              <a:rPr lang="en" sz="2200"/>
              <a:t> what you can’t measure. Tools like these even if only used to measure provide incredible insight into what’s happening. </a:t>
            </a:r>
            <a:endParaRPr sz="22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420db40713a77234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420db40713a77234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t>- Tools for BPF-based Linux IO analysis, networking, monitoring, and more</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lang="en" sz="2300"/>
              <a:t>One of the folks involved very early in the ebpf effort was brendan greg. </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lang="en" sz="2300"/>
              <a:t>BCC is a toolkit for creating efficient kernel tracing and manipulation programs built upon eBPF, and includes several useful command-line tools and examples. BCC eases writing of eBPF programs for kernel instrumentation in C, includes a wrapper around LLVM, and front-ends in Python and Lua. It also provides a high-level library for direct integration into applications.</a:t>
            </a:r>
            <a:endParaRPr sz="2300"/>
          </a:p>
          <a:p>
            <a:pPr indent="0" lvl="0" marL="0" rtl="0" algn="l">
              <a:spcBef>
                <a:spcPts val="0"/>
              </a:spcBef>
              <a:spcAft>
                <a:spcPts val="0"/>
              </a:spcAft>
              <a:buNone/>
            </a:pPr>
            <a:r>
              <a:t/>
            </a:r>
            <a:endParaRPr sz="23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1ec1487d739cbb7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1ec1487d739cbb7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t>BPFTRACE bpftrace is a high-level tracing language for Linux eBPF. inspired by tools like  DTrace and SystemTap. bpftrace uses LLVM as a backend to compile scripts to eBPF bytecode and makes use of BCC as a library for interacting with the Linux eBPF subsystem as well as existing Linux tracing capabilities and attachment points.</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lang="en" sz="2300"/>
              <a:t>Inspektor gadget: </a:t>
            </a:r>
            <a:endParaRPr sz="2300"/>
          </a:p>
          <a:p>
            <a:pPr indent="0" lvl="0" marL="0" rtl="0" algn="l">
              <a:spcBef>
                <a:spcPts val="0"/>
              </a:spcBef>
              <a:spcAft>
                <a:spcPts val="0"/>
              </a:spcAft>
              <a:buNone/>
            </a:pPr>
            <a:r>
              <a:rPr lang="en" sz="2300"/>
              <a:t>nspektor Gadget is a collection of tools (or gadgets) to debug and inspect Kubernetes resources and applications. It manages the packaging, deployment and execution of eBPF programs in a Kubernetes cluster, including many based on BCC tools, as well as some developed specifically for use in Inspektor Gadget. It automatically maps low-level kernel primitives to high-level Kubernetes resources, making it easier and quicker to find the relevant information.</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lang="en" sz="2300"/>
              <a:t>Tracee:</a:t>
            </a:r>
            <a:endParaRPr sz="2300"/>
          </a:p>
          <a:p>
            <a:pPr indent="0" lvl="0" marL="0" rtl="0" algn="l">
              <a:spcBef>
                <a:spcPts val="0"/>
              </a:spcBef>
              <a:spcAft>
                <a:spcPts val="0"/>
              </a:spcAft>
              <a:buNone/>
            </a:pPr>
            <a:r>
              <a:rPr lang="en" sz="2300"/>
              <a:t>Tracee is a runtime security and observability tool that helps you understand how your system and applications behave.</a:t>
            </a:r>
            <a:endParaRPr sz="2300"/>
          </a:p>
          <a:p>
            <a:pPr indent="0" lvl="0" marL="0" rtl="0" algn="l">
              <a:spcBef>
                <a:spcPts val="0"/>
              </a:spcBef>
              <a:spcAft>
                <a:spcPts val="0"/>
              </a:spcAft>
              <a:buNone/>
            </a:pPr>
            <a:r>
              <a:rPr lang="en" sz="2300"/>
              <a:t>It is using eBPF technology to tap into your system and expose that information as events that you can consume.</a:t>
            </a:r>
            <a:endParaRPr sz="2300"/>
          </a:p>
          <a:p>
            <a:pPr indent="0" lvl="0" marL="0" rtl="0" algn="l">
              <a:spcBef>
                <a:spcPts val="0"/>
              </a:spcBef>
              <a:spcAft>
                <a:spcPts val="0"/>
              </a:spcAft>
              <a:buNone/>
            </a:pPr>
            <a:r>
              <a:rPr lang="en" sz="2300"/>
              <a:t>Events range from factual system activity events to sophisticated security events that detect suspicious behavioral patterns.</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lang="en" sz="2300"/>
              <a:t>Parca </a:t>
            </a:r>
            <a:r>
              <a:rPr lang="en" sz="2300"/>
              <a:t>Track memory, CPU, I/O bottlenecks broken down by method name, class name, and line number over time. Without complex overhead, in any language or framework. Using Parca's UI the data can be globally explored and analyzed using various visualizations to quickly and efficiently identify bottlenecks in code. Parca uses eBPF to collect profiling data and uses libbpf-go to interact with the kernel.</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lang="en" sz="2300"/>
              <a:t>Pixie is an open source observability tool for Kubernetes applications. Pixie uses eBPF to automatically capture telemetry data without the need for manual instrumentation. Developers can use Pixie to view the high-level state of their cluster (service maps, cluster resources, application traffic) and also drill down into more detailed views (pod state, flame graphs, individual full body application requests).</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lang="en" sz="2300"/>
              <a:t>Cilum and Tetragon are projects hosted by the cncf that enable security observability and networking for Kubernetes. these each produce event streams </a:t>
            </a:r>
            <a:endParaRPr sz="23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63bbce74583c6f8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63bbce74583c6f8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100"/>
              <a:t>Tetragon is a tool that gathers context from the </a:t>
            </a:r>
            <a:r>
              <a:rPr lang="en" sz="2100"/>
              <a:t>Linux kernel and other sources and emits events that show you what’s happening at a lower level it can be useful to understand all the things that are happening on a system when trying to understand things better. </a:t>
            </a:r>
            <a:endParaRPr sz="21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72e0d2b57965cb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72e0d2b57965cb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700"/>
              <a:t>a default configuration of Tetragon will show you all the things that are starting stopping and running all those actions that are happening. In this example we can see Kobe proxy programming iptables with services that are defined in the cluster. We can see the tetra cli a tool for inspecting this stuff checking for new events. </a:t>
            </a:r>
            <a:endParaRPr sz="2700"/>
          </a:p>
          <a:p>
            <a:pPr indent="0" lvl="0" marL="0" rtl="0" algn="l">
              <a:spcBef>
                <a:spcPts val="0"/>
              </a:spcBef>
              <a:spcAft>
                <a:spcPts val="0"/>
              </a:spcAft>
              <a:buNone/>
            </a:pPr>
            <a:r>
              <a:t/>
            </a:r>
            <a:endParaRPr sz="2700"/>
          </a:p>
          <a:p>
            <a:pPr indent="0" lvl="0" marL="0" rtl="0" algn="l">
              <a:spcBef>
                <a:spcPts val="0"/>
              </a:spcBef>
              <a:spcAft>
                <a:spcPts val="0"/>
              </a:spcAft>
              <a:buNone/>
            </a:pPr>
            <a:r>
              <a:rPr lang="en" sz="2700"/>
              <a:t>This is just the tip of the iceberg tho! There is a ton more we can dig into. Whether permissions or capabilities even what libraries are loaded. And all we can see we can also make policy decisions on. </a:t>
            </a:r>
            <a:endParaRPr sz="27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5f90dc1531db45e3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5f90dc1531db45e3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Remember the xz example? Tetragon can detect not just things have been executed but what libraries are loaded it can then take action when it sees things that shouldn’t happen. </a:t>
            </a:r>
            <a:endParaRPr sz="28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7e0eb24f85ac7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7e0eb24f85ac7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7c94d55674a5787f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7c94d55674a5787f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72e0d2b57965cb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72e0d2b57965cb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800"/>
              <a:buNone/>
              <a:defRPr>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lvl1pPr lvl="0" rtl="0">
              <a:spcBef>
                <a:spcPts val="0"/>
              </a:spcBef>
              <a:spcAft>
                <a:spcPts val="0"/>
              </a:spcAft>
              <a:buSzPts val="4200"/>
              <a:buNone/>
              <a:defRPr sz="4200"/>
            </a:lvl1pPr>
            <a:lvl2pPr lvl="1" rtl="0">
              <a:spcBef>
                <a:spcPts val="0"/>
              </a:spcBef>
              <a:spcAft>
                <a:spcPts val="0"/>
              </a:spcAft>
              <a:buSzPts val="4200"/>
              <a:buNone/>
              <a:defRPr sz="4200"/>
            </a:lvl2pPr>
            <a:lvl3pPr lvl="2" rtl="0">
              <a:spcBef>
                <a:spcPts val="0"/>
              </a:spcBef>
              <a:spcAft>
                <a:spcPts val="0"/>
              </a:spcAft>
              <a:buSzPts val="4200"/>
              <a:buNone/>
              <a:defRPr sz="4200"/>
            </a:lvl3pPr>
            <a:lvl4pPr lvl="3" rtl="0">
              <a:spcBef>
                <a:spcPts val="0"/>
              </a:spcBef>
              <a:spcAft>
                <a:spcPts val="0"/>
              </a:spcAft>
              <a:buSzPts val="4200"/>
              <a:buNone/>
              <a:defRPr sz="4200"/>
            </a:lvl4pPr>
            <a:lvl5pPr lvl="4" rtl="0">
              <a:spcBef>
                <a:spcPts val="0"/>
              </a:spcBef>
              <a:spcAft>
                <a:spcPts val="0"/>
              </a:spcAft>
              <a:buSzPts val="4200"/>
              <a:buNone/>
              <a:defRPr sz="4200"/>
            </a:lvl5pPr>
            <a:lvl6pPr lvl="5" rtl="0">
              <a:spcBef>
                <a:spcPts val="0"/>
              </a:spcBef>
              <a:spcAft>
                <a:spcPts val="0"/>
              </a:spcAft>
              <a:buSzPts val="4200"/>
              <a:buNone/>
              <a:defRPr sz="4200"/>
            </a:lvl6pPr>
            <a:lvl7pPr lvl="6" rtl="0">
              <a:spcBef>
                <a:spcPts val="0"/>
              </a:spcBef>
              <a:spcAft>
                <a:spcPts val="0"/>
              </a:spcAft>
              <a:buSzPts val="4200"/>
              <a:buNone/>
              <a:defRPr sz="4200"/>
            </a:lvl7pPr>
            <a:lvl8pPr lvl="7" rtl="0">
              <a:spcBef>
                <a:spcPts val="0"/>
              </a:spcBef>
              <a:spcAft>
                <a:spcPts val="0"/>
              </a:spcAft>
              <a:buSzPts val="4200"/>
              <a:buNone/>
              <a:defRPr sz="4200"/>
            </a:lvl8pPr>
            <a:lvl9pPr lvl="8" rtl="0">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chemeClr val="lt1"/>
              </a:buClr>
              <a:buSzPts val="1200"/>
              <a:buChar char="●"/>
              <a:defRPr sz="1200">
                <a:solidFill>
                  <a:schemeClr val="lt1"/>
                </a:solidFill>
              </a:defRPr>
            </a:lvl1pPr>
            <a:lvl2pPr indent="-304800" lvl="1" marL="914400" rtl="0">
              <a:spcBef>
                <a:spcPts val="1600"/>
              </a:spcBef>
              <a:spcAft>
                <a:spcPts val="0"/>
              </a:spcAft>
              <a:buClr>
                <a:schemeClr val="lt1"/>
              </a:buClr>
              <a:buSzPts val="1200"/>
              <a:buChar char="○"/>
              <a:defRPr sz="1200">
                <a:solidFill>
                  <a:schemeClr val="lt1"/>
                </a:solidFill>
              </a:defRPr>
            </a:lvl2pPr>
            <a:lvl3pPr indent="-304800" lvl="2" marL="1371600" rtl="0">
              <a:spcBef>
                <a:spcPts val="1600"/>
              </a:spcBef>
              <a:spcAft>
                <a:spcPts val="0"/>
              </a:spcAft>
              <a:buClr>
                <a:schemeClr val="lt1"/>
              </a:buClr>
              <a:buSzPts val="1200"/>
              <a:buChar char="■"/>
              <a:defRPr sz="1200">
                <a:solidFill>
                  <a:schemeClr val="lt1"/>
                </a:solidFill>
              </a:defRPr>
            </a:lvl3pPr>
            <a:lvl4pPr indent="-304800" lvl="3" marL="1828800" rtl="0">
              <a:spcBef>
                <a:spcPts val="1600"/>
              </a:spcBef>
              <a:spcAft>
                <a:spcPts val="0"/>
              </a:spcAft>
              <a:buClr>
                <a:schemeClr val="lt1"/>
              </a:buClr>
              <a:buSzPts val="1200"/>
              <a:buChar char="●"/>
              <a:defRPr sz="1200">
                <a:solidFill>
                  <a:schemeClr val="lt1"/>
                </a:solidFill>
              </a:defRPr>
            </a:lvl4pPr>
            <a:lvl5pPr indent="-304800" lvl="4" marL="2286000" rtl="0">
              <a:spcBef>
                <a:spcPts val="1600"/>
              </a:spcBef>
              <a:spcAft>
                <a:spcPts val="0"/>
              </a:spcAft>
              <a:buClr>
                <a:schemeClr val="lt1"/>
              </a:buClr>
              <a:buSzPts val="1200"/>
              <a:buChar char="○"/>
              <a:defRPr sz="1200">
                <a:solidFill>
                  <a:schemeClr val="lt1"/>
                </a:solidFill>
              </a:defRPr>
            </a:lvl5pPr>
            <a:lvl6pPr indent="-304800" lvl="5" marL="2743200" rtl="0">
              <a:spcBef>
                <a:spcPts val="1600"/>
              </a:spcBef>
              <a:spcAft>
                <a:spcPts val="0"/>
              </a:spcAft>
              <a:buClr>
                <a:schemeClr val="lt1"/>
              </a:buClr>
              <a:buSzPts val="1200"/>
              <a:buChar char="■"/>
              <a:defRPr sz="1200">
                <a:solidFill>
                  <a:schemeClr val="lt1"/>
                </a:solidFill>
              </a:defRPr>
            </a:lvl6pPr>
            <a:lvl7pPr indent="-304800" lvl="6" marL="3200400" rtl="0">
              <a:spcBef>
                <a:spcPts val="1600"/>
              </a:spcBef>
              <a:spcAft>
                <a:spcPts val="0"/>
              </a:spcAft>
              <a:buClr>
                <a:schemeClr val="lt1"/>
              </a:buClr>
              <a:buSzPts val="1200"/>
              <a:buChar char="●"/>
              <a:defRPr sz="1200">
                <a:solidFill>
                  <a:schemeClr val="lt1"/>
                </a:solidFill>
              </a:defRPr>
            </a:lvl7pPr>
            <a:lvl8pPr indent="-304800" lvl="7" marL="3657600" rtl="0">
              <a:spcBef>
                <a:spcPts val="1600"/>
              </a:spcBef>
              <a:spcAft>
                <a:spcPts val="0"/>
              </a:spcAft>
              <a:buClr>
                <a:schemeClr val="lt1"/>
              </a:buClr>
              <a:buSzPts val="1200"/>
              <a:buChar char="○"/>
              <a:defRPr sz="1200">
                <a:solidFill>
                  <a:schemeClr val="lt1"/>
                </a:solidFill>
              </a:defRPr>
            </a:lvl8pPr>
            <a:lvl9pPr indent="-304800" lvl="8" marL="4114800" rtl="0">
              <a:spcBef>
                <a:spcPts val="1600"/>
              </a:spcBef>
              <a:spcAft>
                <a:spcPts val="160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60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2"/>
              </a:buClr>
              <a:buSzPts val="4200"/>
              <a:buNone/>
              <a:defRPr sz="4200">
                <a:solidFill>
                  <a:schemeClr val="dk2"/>
                </a:solidFill>
              </a:defRPr>
            </a:lvl1pPr>
            <a:lvl2pPr lvl="1" rtl="0" algn="ctr">
              <a:spcBef>
                <a:spcPts val="0"/>
              </a:spcBef>
              <a:spcAft>
                <a:spcPts val="0"/>
              </a:spcAft>
              <a:buClr>
                <a:schemeClr val="dk2"/>
              </a:buClr>
              <a:buSzPts val="4200"/>
              <a:buNone/>
              <a:defRPr sz="4200">
                <a:solidFill>
                  <a:schemeClr val="dk2"/>
                </a:solidFill>
              </a:defRPr>
            </a:lvl2pPr>
            <a:lvl3pPr lvl="2" rtl="0" algn="ctr">
              <a:spcBef>
                <a:spcPts val="0"/>
              </a:spcBef>
              <a:spcAft>
                <a:spcPts val="0"/>
              </a:spcAft>
              <a:buClr>
                <a:schemeClr val="dk2"/>
              </a:buClr>
              <a:buSzPts val="4200"/>
              <a:buNone/>
              <a:defRPr sz="4200">
                <a:solidFill>
                  <a:schemeClr val="dk2"/>
                </a:solidFill>
              </a:defRPr>
            </a:lvl3pPr>
            <a:lvl4pPr lvl="3" rtl="0" algn="ctr">
              <a:spcBef>
                <a:spcPts val="0"/>
              </a:spcBef>
              <a:spcAft>
                <a:spcPts val="0"/>
              </a:spcAft>
              <a:buClr>
                <a:schemeClr val="dk2"/>
              </a:buClr>
              <a:buSzPts val="4200"/>
              <a:buNone/>
              <a:defRPr sz="4200">
                <a:solidFill>
                  <a:schemeClr val="dk2"/>
                </a:solidFill>
              </a:defRPr>
            </a:lvl4pPr>
            <a:lvl5pPr lvl="4" rtl="0" algn="ctr">
              <a:spcBef>
                <a:spcPts val="0"/>
              </a:spcBef>
              <a:spcAft>
                <a:spcPts val="0"/>
              </a:spcAft>
              <a:buClr>
                <a:schemeClr val="dk2"/>
              </a:buClr>
              <a:buSzPts val="4200"/>
              <a:buNone/>
              <a:defRPr sz="4200">
                <a:solidFill>
                  <a:schemeClr val="dk2"/>
                </a:solidFill>
              </a:defRPr>
            </a:lvl5pPr>
            <a:lvl6pPr lvl="5" rtl="0" algn="ctr">
              <a:spcBef>
                <a:spcPts val="0"/>
              </a:spcBef>
              <a:spcAft>
                <a:spcPts val="0"/>
              </a:spcAft>
              <a:buClr>
                <a:schemeClr val="dk2"/>
              </a:buClr>
              <a:buSzPts val="4200"/>
              <a:buNone/>
              <a:defRPr sz="4200">
                <a:solidFill>
                  <a:schemeClr val="dk2"/>
                </a:solidFill>
              </a:defRPr>
            </a:lvl6pPr>
            <a:lvl7pPr lvl="6" rtl="0" algn="ctr">
              <a:spcBef>
                <a:spcPts val="0"/>
              </a:spcBef>
              <a:spcAft>
                <a:spcPts val="0"/>
              </a:spcAft>
              <a:buClr>
                <a:schemeClr val="dk2"/>
              </a:buClr>
              <a:buSzPts val="4200"/>
              <a:buNone/>
              <a:defRPr sz="4200">
                <a:solidFill>
                  <a:schemeClr val="dk2"/>
                </a:solidFill>
              </a:defRPr>
            </a:lvl7pPr>
            <a:lvl8pPr lvl="7" rtl="0" algn="ctr">
              <a:spcBef>
                <a:spcPts val="0"/>
              </a:spcBef>
              <a:spcAft>
                <a:spcPts val="0"/>
              </a:spcAft>
              <a:buClr>
                <a:schemeClr val="dk2"/>
              </a:buClr>
              <a:buSzPts val="4200"/>
              <a:buNone/>
              <a:defRPr sz="4200">
                <a:solidFill>
                  <a:schemeClr val="dk2"/>
                </a:solidFill>
              </a:defRPr>
            </a:lvl8pPr>
            <a:lvl9pPr lvl="8" rtl="0"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600"/>
              </a:spcBef>
              <a:spcAft>
                <a:spcPts val="0"/>
              </a:spcAft>
              <a:buClr>
                <a:schemeClr val="lt1"/>
              </a:buClr>
              <a:buSzPts val="1400"/>
              <a:buChar char="○"/>
              <a:defRPr>
                <a:solidFill>
                  <a:schemeClr val="lt1"/>
                </a:solidFill>
              </a:defRPr>
            </a:lvl2pPr>
            <a:lvl3pPr indent="-317500" lvl="2" marL="1371600" rtl="0">
              <a:spcBef>
                <a:spcPts val="1600"/>
              </a:spcBef>
              <a:spcAft>
                <a:spcPts val="0"/>
              </a:spcAft>
              <a:buClr>
                <a:schemeClr val="lt1"/>
              </a:buClr>
              <a:buSzPts val="1400"/>
              <a:buChar char="■"/>
              <a:defRPr>
                <a:solidFill>
                  <a:schemeClr val="lt1"/>
                </a:solidFill>
              </a:defRPr>
            </a:lvl3pPr>
            <a:lvl4pPr indent="-317500" lvl="3" marL="1828800" rtl="0">
              <a:spcBef>
                <a:spcPts val="1600"/>
              </a:spcBef>
              <a:spcAft>
                <a:spcPts val="0"/>
              </a:spcAft>
              <a:buClr>
                <a:schemeClr val="lt1"/>
              </a:buClr>
              <a:buSzPts val="1400"/>
              <a:buChar char="●"/>
              <a:defRPr>
                <a:solidFill>
                  <a:schemeClr val="lt1"/>
                </a:solidFill>
              </a:defRPr>
            </a:lvl4pPr>
            <a:lvl5pPr indent="-317500" lvl="4" marL="2286000" rtl="0">
              <a:spcBef>
                <a:spcPts val="1600"/>
              </a:spcBef>
              <a:spcAft>
                <a:spcPts val="0"/>
              </a:spcAft>
              <a:buClr>
                <a:schemeClr val="lt1"/>
              </a:buClr>
              <a:buSzPts val="1400"/>
              <a:buChar char="○"/>
              <a:defRPr>
                <a:solidFill>
                  <a:schemeClr val="lt1"/>
                </a:solidFill>
              </a:defRPr>
            </a:lvl5pPr>
            <a:lvl6pPr indent="-317500" lvl="5" marL="2743200" rtl="0">
              <a:spcBef>
                <a:spcPts val="1600"/>
              </a:spcBef>
              <a:spcAft>
                <a:spcPts val="0"/>
              </a:spcAft>
              <a:buClr>
                <a:schemeClr val="lt1"/>
              </a:buClr>
              <a:buSzPts val="1400"/>
              <a:buChar char="■"/>
              <a:defRPr>
                <a:solidFill>
                  <a:schemeClr val="lt1"/>
                </a:solidFill>
              </a:defRPr>
            </a:lvl6pPr>
            <a:lvl7pPr indent="-317500" lvl="6" marL="3200400" rtl="0">
              <a:spcBef>
                <a:spcPts val="1600"/>
              </a:spcBef>
              <a:spcAft>
                <a:spcPts val="0"/>
              </a:spcAft>
              <a:buClr>
                <a:schemeClr val="lt1"/>
              </a:buClr>
              <a:buSzPts val="1400"/>
              <a:buChar char="●"/>
              <a:defRPr>
                <a:solidFill>
                  <a:schemeClr val="lt1"/>
                </a:solidFill>
              </a:defRPr>
            </a:lvl7pPr>
            <a:lvl8pPr indent="-317500" lvl="7" marL="3657600" rtl="0">
              <a:spcBef>
                <a:spcPts val="1600"/>
              </a:spcBef>
              <a:spcAft>
                <a:spcPts val="0"/>
              </a:spcAft>
              <a:buClr>
                <a:schemeClr val="lt1"/>
              </a:buClr>
              <a:buSzPts val="1400"/>
              <a:buChar char="○"/>
              <a:defRPr>
                <a:solidFill>
                  <a:schemeClr val="lt1"/>
                </a:solidFill>
              </a:defRPr>
            </a:lvl8pPr>
            <a:lvl9pPr indent="-317500" lvl="8" marL="4114800" rtl="0">
              <a:spcBef>
                <a:spcPts val="1600"/>
              </a:spcBef>
              <a:spcAft>
                <a:spcPts val="160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2"/>
              </a:buClr>
              <a:buSzPts val="12000"/>
              <a:buNone/>
              <a:defRPr sz="12000">
                <a:solidFill>
                  <a:schemeClr val="dk2"/>
                </a:solidFill>
              </a:defRPr>
            </a:lvl1pPr>
            <a:lvl2pPr lvl="1" rtl="0" algn="ctr">
              <a:spcBef>
                <a:spcPts val="0"/>
              </a:spcBef>
              <a:spcAft>
                <a:spcPts val="0"/>
              </a:spcAft>
              <a:buClr>
                <a:schemeClr val="dk2"/>
              </a:buClr>
              <a:buSzPts val="12000"/>
              <a:buNone/>
              <a:defRPr sz="12000">
                <a:solidFill>
                  <a:schemeClr val="dk2"/>
                </a:solidFill>
              </a:defRPr>
            </a:lvl2pPr>
            <a:lvl3pPr lvl="2" rtl="0" algn="ctr">
              <a:spcBef>
                <a:spcPts val="0"/>
              </a:spcBef>
              <a:spcAft>
                <a:spcPts val="0"/>
              </a:spcAft>
              <a:buClr>
                <a:schemeClr val="dk2"/>
              </a:buClr>
              <a:buSzPts val="12000"/>
              <a:buNone/>
              <a:defRPr sz="12000">
                <a:solidFill>
                  <a:schemeClr val="dk2"/>
                </a:solidFill>
              </a:defRPr>
            </a:lvl3pPr>
            <a:lvl4pPr lvl="3" rtl="0" algn="ctr">
              <a:spcBef>
                <a:spcPts val="0"/>
              </a:spcBef>
              <a:spcAft>
                <a:spcPts val="0"/>
              </a:spcAft>
              <a:buClr>
                <a:schemeClr val="dk2"/>
              </a:buClr>
              <a:buSzPts val="12000"/>
              <a:buNone/>
              <a:defRPr sz="12000">
                <a:solidFill>
                  <a:schemeClr val="dk2"/>
                </a:solidFill>
              </a:defRPr>
            </a:lvl4pPr>
            <a:lvl5pPr lvl="4" rtl="0" algn="ctr">
              <a:spcBef>
                <a:spcPts val="0"/>
              </a:spcBef>
              <a:spcAft>
                <a:spcPts val="0"/>
              </a:spcAft>
              <a:buClr>
                <a:schemeClr val="dk2"/>
              </a:buClr>
              <a:buSzPts val="12000"/>
              <a:buNone/>
              <a:defRPr sz="12000">
                <a:solidFill>
                  <a:schemeClr val="dk2"/>
                </a:solidFill>
              </a:defRPr>
            </a:lvl5pPr>
            <a:lvl6pPr lvl="5" rtl="0" algn="ctr">
              <a:spcBef>
                <a:spcPts val="0"/>
              </a:spcBef>
              <a:spcAft>
                <a:spcPts val="0"/>
              </a:spcAft>
              <a:buClr>
                <a:schemeClr val="dk2"/>
              </a:buClr>
              <a:buSzPts val="12000"/>
              <a:buNone/>
              <a:defRPr sz="12000">
                <a:solidFill>
                  <a:schemeClr val="dk2"/>
                </a:solidFill>
              </a:defRPr>
            </a:lvl6pPr>
            <a:lvl7pPr lvl="6" rtl="0" algn="ctr">
              <a:spcBef>
                <a:spcPts val="0"/>
              </a:spcBef>
              <a:spcAft>
                <a:spcPts val="0"/>
              </a:spcAft>
              <a:buClr>
                <a:schemeClr val="dk2"/>
              </a:buClr>
              <a:buSzPts val="12000"/>
              <a:buNone/>
              <a:defRPr sz="12000">
                <a:solidFill>
                  <a:schemeClr val="dk2"/>
                </a:solidFill>
              </a:defRPr>
            </a:lvl7pPr>
            <a:lvl8pPr lvl="7" rtl="0" algn="ctr">
              <a:spcBef>
                <a:spcPts val="0"/>
              </a:spcBef>
              <a:spcAft>
                <a:spcPts val="0"/>
              </a:spcAft>
              <a:buClr>
                <a:schemeClr val="dk2"/>
              </a:buClr>
              <a:buSzPts val="12000"/>
              <a:buNone/>
              <a:defRPr sz="12000">
                <a:solidFill>
                  <a:schemeClr val="dk2"/>
                </a:solidFill>
              </a:defRPr>
            </a:lvl8pPr>
            <a:lvl9pPr lvl="8" rtl="0"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lvl1pPr lvl="0"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rtl="0">
              <a:lnSpc>
                <a:spcPct val="115000"/>
              </a:lnSpc>
              <a:spcBef>
                <a:spcPts val="1600"/>
              </a:spcBef>
              <a:spcAft>
                <a:spcPts val="160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lt2"/>
                </a:solidFill>
                <a:latin typeface="Roboto"/>
                <a:ea typeface="Roboto"/>
                <a:cs typeface="Roboto"/>
                <a:sym typeface="Roboto"/>
              </a:defRPr>
            </a:lvl1pPr>
            <a:lvl2pPr lvl="1" rtl="0" algn="r">
              <a:buNone/>
              <a:defRPr sz="1000">
                <a:solidFill>
                  <a:schemeClr val="lt2"/>
                </a:solidFill>
                <a:latin typeface="Roboto"/>
                <a:ea typeface="Roboto"/>
                <a:cs typeface="Roboto"/>
                <a:sym typeface="Roboto"/>
              </a:defRPr>
            </a:lvl2pPr>
            <a:lvl3pPr lvl="2" rtl="0" algn="r">
              <a:buNone/>
              <a:defRPr sz="1000">
                <a:solidFill>
                  <a:schemeClr val="lt2"/>
                </a:solidFill>
                <a:latin typeface="Roboto"/>
                <a:ea typeface="Roboto"/>
                <a:cs typeface="Roboto"/>
                <a:sym typeface="Roboto"/>
              </a:defRPr>
            </a:lvl3pPr>
            <a:lvl4pPr lvl="3" rtl="0" algn="r">
              <a:buNone/>
              <a:defRPr sz="1000">
                <a:solidFill>
                  <a:schemeClr val="lt2"/>
                </a:solidFill>
                <a:latin typeface="Roboto"/>
                <a:ea typeface="Roboto"/>
                <a:cs typeface="Roboto"/>
                <a:sym typeface="Roboto"/>
              </a:defRPr>
            </a:lvl4pPr>
            <a:lvl5pPr lvl="4" rtl="0" algn="r">
              <a:buNone/>
              <a:defRPr sz="1000">
                <a:solidFill>
                  <a:schemeClr val="lt2"/>
                </a:solidFill>
                <a:latin typeface="Roboto"/>
                <a:ea typeface="Roboto"/>
                <a:cs typeface="Roboto"/>
                <a:sym typeface="Roboto"/>
              </a:defRPr>
            </a:lvl5pPr>
            <a:lvl6pPr lvl="5" rtl="0" algn="r">
              <a:buNone/>
              <a:defRPr sz="1000">
                <a:solidFill>
                  <a:schemeClr val="lt2"/>
                </a:solidFill>
                <a:latin typeface="Roboto"/>
                <a:ea typeface="Roboto"/>
                <a:cs typeface="Roboto"/>
                <a:sym typeface="Roboto"/>
              </a:defRPr>
            </a:lvl6pPr>
            <a:lvl7pPr lvl="6" rtl="0" algn="r">
              <a:buNone/>
              <a:defRPr sz="1000">
                <a:solidFill>
                  <a:schemeClr val="lt2"/>
                </a:solidFill>
                <a:latin typeface="Roboto"/>
                <a:ea typeface="Roboto"/>
                <a:cs typeface="Roboto"/>
                <a:sym typeface="Roboto"/>
              </a:defRPr>
            </a:lvl7pPr>
            <a:lvl8pPr lvl="7" rtl="0" algn="r">
              <a:buNone/>
              <a:defRPr sz="1000">
                <a:solidFill>
                  <a:schemeClr val="lt2"/>
                </a:solidFill>
                <a:latin typeface="Roboto"/>
                <a:ea typeface="Roboto"/>
                <a:cs typeface="Roboto"/>
                <a:sym typeface="Roboto"/>
              </a:defRPr>
            </a:lvl8pPr>
            <a:lvl9pPr lvl="8" rtl="0"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5.png"/><Relationship Id="rId9" Type="http://schemas.openxmlformats.org/officeDocument/2006/relationships/image" Target="../media/image1.png"/><Relationship Id="rId5" Type="http://schemas.openxmlformats.org/officeDocument/2006/relationships/image" Target="../media/image9.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66" name="Shape 66"/>
        <p:cNvGrpSpPr/>
        <p:nvPr/>
      </p:nvGrpSpPr>
      <p:grpSpPr>
        <a:xfrm>
          <a:off x="0" y="0"/>
          <a:ext cx="0" cy="0"/>
          <a:chOff x="0" y="0"/>
          <a:chExt cx="0" cy="0"/>
        </a:xfrm>
      </p:grpSpPr>
      <p:sp>
        <p:nvSpPr>
          <p:cNvPr id="67" name="Google Shape;67;p13"/>
          <p:cNvSpPr txBox="1"/>
          <p:nvPr>
            <p:ph type="title"/>
          </p:nvPr>
        </p:nvSpPr>
        <p:spPr>
          <a:xfrm>
            <a:off x="156150" y="3894150"/>
            <a:ext cx="8222100" cy="101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Duffie Cooley | @mauilion</a:t>
            </a:r>
            <a:endParaRPr/>
          </a:p>
          <a:p>
            <a:pPr indent="0" lvl="0" marL="0" rtl="0" algn="l">
              <a:spcBef>
                <a:spcPts val="0"/>
              </a:spcBef>
              <a:spcAft>
                <a:spcPts val="0"/>
              </a:spcAft>
              <a:buNone/>
            </a:pPr>
            <a:r>
              <a:rPr lang="en" sz="3000"/>
              <a:t>Field CTO Isovalent @ Cisco</a:t>
            </a:r>
            <a:endParaRPr sz="3000"/>
          </a:p>
        </p:txBody>
      </p:sp>
      <p:pic>
        <p:nvPicPr>
          <p:cNvPr id="68" name="Google Shape;68;p13"/>
          <p:cNvPicPr preferRelativeResize="0"/>
          <p:nvPr/>
        </p:nvPicPr>
        <p:blipFill rotWithShape="1">
          <a:blip r:embed="rId3">
            <a:alphaModFix/>
          </a:blip>
          <a:srcRect b="22707" l="0" r="0" t="16983"/>
          <a:stretch/>
        </p:blipFill>
        <p:spPr>
          <a:xfrm>
            <a:off x="302064" y="355833"/>
            <a:ext cx="2576153" cy="2071521"/>
          </a:xfrm>
          <a:prstGeom prst="rect">
            <a:avLst/>
          </a:prstGeom>
          <a:noFill/>
          <a:ln>
            <a:noFill/>
          </a:ln>
        </p:spPr>
      </p:pic>
      <p:sp>
        <p:nvSpPr>
          <p:cNvPr id="69" name="Google Shape;69;p13"/>
          <p:cNvSpPr txBox="1"/>
          <p:nvPr/>
        </p:nvSpPr>
        <p:spPr>
          <a:xfrm>
            <a:off x="3041415" y="921530"/>
            <a:ext cx="5936100" cy="1473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200">
                <a:solidFill>
                  <a:schemeClr val="lt1"/>
                </a:solidFill>
                <a:latin typeface="Roboto"/>
                <a:ea typeface="Roboto"/>
                <a:cs typeface="Roboto"/>
                <a:sym typeface="Roboto"/>
              </a:rPr>
              <a:t>How did that happen? </a:t>
            </a:r>
            <a:endParaRPr sz="4200">
              <a:solidFill>
                <a:schemeClr val="lt1"/>
              </a:solidFill>
              <a:latin typeface="Roboto"/>
              <a:ea typeface="Roboto"/>
              <a:cs typeface="Roboto"/>
              <a:sym typeface="Roboto"/>
            </a:endParaRPr>
          </a:p>
          <a:p>
            <a:pPr indent="0" lvl="0" marL="0" rtl="0" algn="l">
              <a:spcBef>
                <a:spcPts val="0"/>
              </a:spcBef>
              <a:spcAft>
                <a:spcPts val="0"/>
              </a:spcAft>
              <a:buNone/>
            </a:pPr>
            <a:r>
              <a:rPr lang="en" sz="4200">
                <a:solidFill>
                  <a:schemeClr val="lt1"/>
                </a:solidFill>
                <a:latin typeface="Roboto"/>
                <a:ea typeface="Roboto"/>
                <a:cs typeface="Roboto"/>
                <a:sym typeface="Roboto"/>
              </a:rPr>
              <a:t>is it a security problem</a:t>
            </a:r>
            <a:endParaRPr sz="4200">
              <a:solidFill>
                <a:schemeClr val="lt1"/>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pic>
        <p:nvPicPr>
          <p:cNvPr id="74" name="Google Shape;74;p14"/>
          <p:cNvPicPr preferRelativeResize="0"/>
          <p:nvPr/>
        </p:nvPicPr>
        <p:blipFill rotWithShape="1">
          <a:blip r:embed="rId3">
            <a:alphaModFix/>
          </a:blip>
          <a:srcRect b="0" l="3762" r="1009" t="-1153"/>
          <a:stretch/>
        </p:blipFill>
        <p:spPr>
          <a:xfrm>
            <a:off x="0" y="-59200"/>
            <a:ext cx="9143998" cy="5202699"/>
          </a:xfrm>
          <a:prstGeom prst="rect">
            <a:avLst/>
          </a:prstGeom>
          <a:noFill/>
          <a:ln>
            <a:noFill/>
          </a:ln>
        </p:spPr>
      </p:pic>
      <p:sp>
        <p:nvSpPr>
          <p:cNvPr id="75" name="Google Shape;75;p14"/>
          <p:cNvSpPr txBox="1"/>
          <p:nvPr>
            <p:ph type="ctrTitle"/>
          </p:nvPr>
        </p:nvSpPr>
        <p:spPr>
          <a:xfrm>
            <a:off x="460950" y="378508"/>
            <a:ext cx="8222100" cy="971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Perspective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79" name="Shape 79"/>
        <p:cNvGrpSpPr/>
        <p:nvPr/>
      </p:nvGrpSpPr>
      <p:grpSpPr>
        <a:xfrm>
          <a:off x="0" y="0"/>
          <a:ext cx="0" cy="0"/>
          <a:chOff x="0" y="0"/>
          <a:chExt cx="0" cy="0"/>
        </a:xfrm>
      </p:grpSpPr>
      <p:pic>
        <p:nvPicPr>
          <p:cNvPr id="80" name="Google Shape;80;p15"/>
          <p:cNvPicPr preferRelativeResize="0"/>
          <p:nvPr/>
        </p:nvPicPr>
        <p:blipFill rotWithShape="1">
          <a:blip r:embed="rId3">
            <a:alphaModFix/>
          </a:blip>
          <a:srcRect b="-250" l="-111" r="-1165" t="250"/>
          <a:stretch/>
        </p:blipFill>
        <p:spPr>
          <a:xfrm>
            <a:off x="702725" y="13000"/>
            <a:ext cx="7819725" cy="514342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84" name="Shape 84"/>
        <p:cNvGrpSpPr/>
        <p:nvPr/>
      </p:nvGrpSpPr>
      <p:grpSpPr>
        <a:xfrm>
          <a:off x="0" y="0"/>
          <a:ext cx="0" cy="0"/>
          <a:chOff x="0" y="0"/>
          <a:chExt cx="0" cy="0"/>
        </a:xfrm>
      </p:grpSpPr>
      <p:pic>
        <p:nvPicPr>
          <p:cNvPr id="85" name="Google Shape;85;p16"/>
          <p:cNvPicPr preferRelativeResize="0"/>
          <p:nvPr/>
        </p:nvPicPr>
        <p:blipFill rotWithShape="1">
          <a:blip r:embed="rId3">
            <a:alphaModFix/>
          </a:blip>
          <a:srcRect b="10818" l="0" r="715" t="0"/>
          <a:stretch/>
        </p:blipFill>
        <p:spPr>
          <a:xfrm>
            <a:off x="838200" y="0"/>
            <a:ext cx="7510349" cy="4587325"/>
          </a:xfrm>
          <a:prstGeom prst="rect">
            <a:avLst/>
          </a:prstGeom>
          <a:noFill/>
          <a:ln>
            <a:noFill/>
          </a:ln>
        </p:spPr>
      </p:pic>
      <p:sp>
        <p:nvSpPr>
          <p:cNvPr id="86" name="Google Shape;86;p16"/>
          <p:cNvSpPr txBox="1"/>
          <p:nvPr/>
        </p:nvSpPr>
        <p:spPr>
          <a:xfrm>
            <a:off x="685800" y="4495800"/>
            <a:ext cx="7721400" cy="67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chemeClr val="lt1"/>
                </a:solidFill>
              </a:rPr>
              <a:t>https://research.swtch.com/xz-timeline</a:t>
            </a:r>
            <a:endParaRPr b="1" sz="320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id="91" name="Google Shape;91;p17"/>
          <p:cNvPicPr preferRelativeResize="0"/>
          <p:nvPr/>
        </p:nvPicPr>
        <p:blipFill rotWithShape="1">
          <a:blip r:embed="rId3">
            <a:alphaModFix/>
          </a:blip>
          <a:srcRect b="15626" l="0" r="0" t="0"/>
          <a:stretch/>
        </p:blipFill>
        <p:spPr>
          <a:xfrm>
            <a:off x="-250" y="0"/>
            <a:ext cx="9144255" cy="5143500"/>
          </a:xfrm>
          <a:prstGeom prst="rect">
            <a:avLst/>
          </a:prstGeom>
          <a:noFill/>
          <a:ln>
            <a:noFill/>
          </a:ln>
        </p:spPr>
      </p:pic>
      <p:sp>
        <p:nvSpPr>
          <p:cNvPr id="92" name="Google Shape;92;p17"/>
          <p:cNvSpPr txBox="1"/>
          <p:nvPr>
            <p:ph type="title"/>
          </p:nvPr>
        </p:nvSpPr>
        <p:spPr>
          <a:xfrm>
            <a:off x="201689" y="-82436"/>
            <a:ext cx="6227100" cy="1326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4800"/>
              <a:t>be curious</a:t>
            </a:r>
            <a:endParaRPr sz="4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96" name="Shape 96"/>
        <p:cNvGrpSpPr/>
        <p:nvPr/>
      </p:nvGrpSpPr>
      <p:grpSpPr>
        <a:xfrm>
          <a:off x="0" y="0"/>
          <a:ext cx="0" cy="0"/>
          <a:chOff x="0" y="0"/>
          <a:chExt cx="0" cy="0"/>
        </a:xfrm>
      </p:grpSpPr>
      <p:pic>
        <p:nvPicPr>
          <p:cNvPr id="97" name="Google Shape;97;p18"/>
          <p:cNvPicPr preferRelativeResize="0"/>
          <p:nvPr/>
        </p:nvPicPr>
        <p:blipFill rotWithShape="1">
          <a:blip r:embed="rId3">
            <a:alphaModFix/>
          </a:blip>
          <a:srcRect b="0" l="0" r="0" t="12869"/>
          <a:stretch/>
        </p:blipFill>
        <p:spPr>
          <a:xfrm>
            <a:off x="0" y="0"/>
            <a:ext cx="9144003" cy="4622649"/>
          </a:xfrm>
          <a:prstGeom prst="rect">
            <a:avLst/>
          </a:prstGeom>
          <a:noFill/>
          <a:ln>
            <a:noFill/>
          </a:ln>
        </p:spPr>
      </p:pic>
      <p:sp>
        <p:nvSpPr>
          <p:cNvPr id="98" name="Google Shape;98;p18"/>
          <p:cNvSpPr txBox="1"/>
          <p:nvPr/>
        </p:nvSpPr>
        <p:spPr>
          <a:xfrm>
            <a:off x="3508948" y="4662940"/>
            <a:ext cx="5936100" cy="52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lt1"/>
                </a:solidFill>
                <a:latin typeface="Roboto"/>
                <a:ea typeface="Roboto"/>
                <a:cs typeface="Roboto"/>
                <a:sym typeface="Roboto"/>
              </a:rPr>
              <a:t>https://ebpf.io</a:t>
            </a:r>
            <a:endParaRPr b="1" sz="2200">
              <a:solidFill>
                <a:schemeClr val="lt1"/>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02" name="Shape 102"/>
        <p:cNvGrpSpPr/>
        <p:nvPr/>
      </p:nvGrpSpPr>
      <p:grpSpPr>
        <a:xfrm>
          <a:off x="0" y="0"/>
          <a:ext cx="0" cy="0"/>
          <a:chOff x="0" y="0"/>
          <a:chExt cx="0" cy="0"/>
        </a:xfrm>
      </p:grpSpPr>
      <p:pic>
        <p:nvPicPr>
          <p:cNvPr id="103" name="Google Shape;103;p19"/>
          <p:cNvPicPr preferRelativeResize="0"/>
          <p:nvPr/>
        </p:nvPicPr>
        <p:blipFill>
          <a:blip r:embed="rId3">
            <a:alphaModFix/>
          </a:blip>
          <a:stretch>
            <a:fillRect/>
          </a:stretch>
        </p:blipFill>
        <p:spPr>
          <a:xfrm>
            <a:off x="786689" y="6"/>
            <a:ext cx="7570626" cy="4532927"/>
          </a:xfrm>
          <a:prstGeom prst="rect">
            <a:avLst/>
          </a:prstGeom>
          <a:noFill/>
          <a:ln>
            <a:noFill/>
          </a:ln>
        </p:spPr>
      </p:pic>
      <p:sp>
        <p:nvSpPr>
          <p:cNvPr id="104" name="Google Shape;104;p19"/>
          <p:cNvSpPr txBox="1"/>
          <p:nvPr/>
        </p:nvSpPr>
        <p:spPr>
          <a:xfrm>
            <a:off x="1720526" y="4529818"/>
            <a:ext cx="6927900" cy="694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300">
                <a:solidFill>
                  <a:schemeClr val="lt1"/>
                </a:solidFill>
                <a:latin typeface="Roboto"/>
                <a:ea typeface="Roboto"/>
                <a:cs typeface="Roboto"/>
                <a:sym typeface="Roboto"/>
              </a:rPr>
              <a:t>https://github.com/iovisor/bcc</a:t>
            </a:r>
            <a:endParaRPr b="1" sz="3300">
              <a:solidFill>
                <a:schemeClr val="lt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p20"/>
          <p:cNvPicPr preferRelativeResize="0"/>
          <p:nvPr/>
        </p:nvPicPr>
        <p:blipFill>
          <a:blip r:embed="rId3">
            <a:alphaModFix/>
          </a:blip>
          <a:stretch>
            <a:fillRect/>
          </a:stretch>
        </p:blipFill>
        <p:spPr>
          <a:xfrm>
            <a:off x="6083122" y="358155"/>
            <a:ext cx="2598477" cy="3004676"/>
          </a:xfrm>
          <a:prstGeom prst="rect">
            <a:avLst/>
          </a:prstGeom>
          <a:noFill/>
          <a:ln>
            <a:noFill/>
          </a:ln>
        </p:spPr>
      </p:pic>
      <p:pic>
        <p:nvPicPr>
          <p:cNvPr id="110" name="Google Shape;110;p20"/>
          <p:cNvPicPr preferRelativeResize="0"/>
          <p:nvPr/>
        </p:nvPicPr>
        <p:blipFill>
          <a:blip r:embed="rId4">
            <a:alphaModFix/>
          </a:blip>
          <a:stretch>
            <a:fillRect/>
          </a:stretch>
        </p:blipFill>
        <p:spPr>
          <a:xfrm>
            <a:off x="344551" y="3010399"/>
            <a:ext cx="2718400" cy="2718400"/>
          </a:xfrm>
          <a:prstGeom prst="rect">
            <a:avLst/>
          </a:prstGeom>
          <a:noFill/>
          <a:ln>
            <a:noFill/>
          </a:ln>
        </p:spPr>
      </p:pic>
      <p:pic>
        <p:nvPicPr>
          <p:cNvPr id="111" name="Google Shape;111;p20"/>
          <p:cNvPicPr preferRelativeResize="0"/>
          <p:nvPr/>
        </p:nvPicPr>
        <p:blipFill>
          <a:blip r:embed="rId5">
            <a:alphaModFix/>
          </a:blip>
          <a:stretch>
            <a:fillRect/>
          </a:stretch>
        </p:blipFill>
        <p:spPr>
          <a:xfrm>
            <a:off x="4142695" y="3781031"/>
            <a:ext cx="3933825" cy="933450"/>
          </a:xfrm>
          <a:prstGeom prst="rect">
            <a:avLst/>
          </a:prstGeom>
          <a:noFill/>
          <a:ln>
            <a:noFill/>
          </a:ln>
        </p:spPr>
      </p:pic>
      <p:pic>
        <p:nvPicPr>
          <p:cNvPr id="112" name="Google Shape;112;p20"/>
          <p:cNvPicPr preferRelativeResize="0"/>
          <p:nvPr/>
        </p:nvPicPr>
        <p:blipFill>
          <a:blip r:embed="rId6">
            <a:alphaModFix/>
          </a:blip>
          <a:stretch>
            <a:fillRect/>
          </a:stretch>
        </p:blipFill>
        <p:spPr>
          <a:xfrm>
            <a:off x="349859" y="204724"/>
            <a:ext cx="2971976" cy="1552850"/>
          </a:xfrm>
          <a:prstGeom prst="rect">
            <a:avLst/>
          </a:prstGeom>
          <a:noFill/>
          <a:ln>
            <a:noFill/>
          </a:ln>
        </p:spPr>
      </p:pic>
      <p:pic>
        <p:nvPicPr>
          <p:cNvPr id="113" name="Google Shape;113;p20"/>
          <p:cNvPicPr preferRelativeResize="0"/>
          <p:nvPr/>
        </p:nvPicPr>
        <p:blipFill>
          <a:blip r:embed="rId7">
            <a:alphaModFix/>
          </a:blip>
          <a:stretch>
            <a:fillRect/>
          </a:stretch>
        </p:blipFill>
        <p:spPr>
          <a:xfrm>
            <a:off x="-379975" y="1467375"/>
            <a:ext cx="3847074" cy="1923524"/>
          </a:xfrm>
          <a:prstGeom prst="rect">
            <a:avLst/>
          </a:prstGeom>
          <a:noFill/>
          <a:ln>
            <a:noFill/>
          </a:ln>
        </p:spPr>
      </p:pic>
      <p:sp>
        <p:nvSpPr>
          <p:cNvPr id="114" name="Google Shape;114;p20"/>
          <p:cNvSpPr txBox="1"/>
          <p:nvPr/>
        </p:nvSpPr>
        <p:spPr>
          <a:xfrm>
            <a:off x="5256326" y="2765425"/>
            <a:ext cx="1464300" cy="46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Roboto"/>
                <a:ea typeface="Roboto"/>
                <a:cs typeface="Roboto"/>
                <a:sym typeface="Roboto"/>
              </a:rPr>
              <a:t>BPFTRACE</a:t>
            </a:r>
            <a:endParaRPr sz="1800">
              <a:latin typeface="Roboto"/>
              <a:ea typeface="Roboto"/>
              <a:cs typeface="Roboto"/>
              <a:sym typeface="Roboto"/>
            </a:endParaRPr>
          </a:p>
        </p:txBody>
      </p:sp>
      <p:pic>
        <p:nvPicPr>
          <p:cNvPr id="115" name="Google Shape;115;p20"/>
          <p:cNvPicPr preferRelativeResize="0"/>
          <p:nvPr/>
        </p:nvPicPr>
        <p:blipFill>
          <a:blip r:embed="rId8">
            <a:alphaModFix/>
          </a:blip>
          <a:stretch>
            <a:fillRect/>
          </a:stretch>
        </p:blipFill>
        <p:spPr>
          <a:xfrm>
            <a:off x="3571252" y="-18123"/>
            <a:ext cx="2718400" cy="1116926"/>
          </a:xfrm>
          <a:prstGeom prst="rect">
            <a:avLst/>
          </a:prstGeom>
          <a:noFill/>
          <a:ln>
            <a:noFill/>
          </a:ln>
        </p:spPr>
      </p:pic>
      <p:pic>
        <p:nvPicPr>
          <p:cNvPr id="116" name="Google Shape;116;p20"/>
          <p:cNvPicPr preferRelativeResize="0"/>
          <p:nvPr/>
        </p:nvPicPr>
        <p:blipFill rotWithShape="1">
          <a:blip r:embed="rId9">
            <a:alphaModFix/>
          </a:blip>
          <a:srcRect b="21646" l="34659" r="34312" t="17821"/>
          <a:stretch/>
        </p:blipFill>
        <p:spPr>
          <a:xfrm>
            <a:off x="3321825" y="1473841"/>
            <a:ext cx="1658739" cy="169075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20" name="Shape 120"/>
        <p:cNvGrpSpPr/>
        <p:nvPr/>
      </p:nvGrpSpPr>
      <p:grpSpPr>
        <a:xfrm>
          <a:off x="0" y="0"/>
          <a:ext cx="0" cy="0"/>
          <a:chOff x="0" y="0"/>
          <a:chExt cx="0" cy="0"/>
        </a:xfrm>
      </p:grpSpPr>
      <p:pic>
        <p:nvPicPr>
          <p:cNvPr id="121" name="Google Shape;121;p21"/>
          <p:cNvPicPr preferRelativeResize="0"/>
          <p:nvPr/>
        </p:nvPicPr>
        <p:blipFill>
          <a:blip r:embed="rId3">
            <a:alphaModFix/>
          </a:blip>
          <a:stretch>
            <a:fillRect/>
          </a:stretch>
        </p:blipFill>
        <p:spPr>
          <a:xfrm>
            <a:off x="1256664" y="0"/>
            <a:ext cx="6619181" cy="4686301"/>
          </a:xfrm>
          <a:prstGeom prst="rect">
            <a:avLst/>
          </a:prstGeom>
          <a:noFill/>
          <a:ln>
            <a:noFill/>
          </a:ln>
        </p:spPr>
      </p:pic>
      <p:sp>
        <p:nvSpPr>
          <p:cNvPr id="122" name="Google Shape;122;p21"/>
          <p:cNvSpPr txBox="1"/>
          <p:nvPr/>
        </p:nvSpPr>
        <p:spPr>
          <a:xfrm>
            <a:off x="3661348" y="4662940"/>
            <a:ext cx="5936100" cy="46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lt1"/>
                </a:solidFill>
                <a:latin typeface="Roboto"/>
                <a:ea typeface="Roboto"/>
                <a:cs typeface="Roboto"/>
                <a:sym typeface="Roboto"/>
              </a:rPr>
              <a:t>https://tetragon.io</a:t>
            </a:r>
            <a:endParaRPr b="1" sz="1800">
              <a:solidFill>
                <a:schemeClr val="lt1"/>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p22"/>
          <p:cNvPicPr preferRelativeResize="0"/>
          <p:nvPr/>
        </p:nvPicPr>
        <p:blipFill>
          <a:blip r:embed="rId3">
            <a:alphaModFix/>
          </a:blip>
          <a:stretch>
            <a:fillRect/>
          </a:stretch>
        </p:blipFill>
        <p:spPr>
          <a:xfrm>
            <a:off x="0" y="0"/>
            <a:ext cx="9668947" cy="51434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31" name="Shape 131"/>
        <p:cNvGrpSpPr/>
        <p:nvPr/>
      </p:nvGrpSpPr>
      <p:grpSpPr>
        <a:xfrm>
          <a:off x="0" y="0"/>
          <a:ext cx="0" cy="0"/>
          <a:chOff x="0" y="0"/>
          <a:chExt cx="0" cy="0"/>
        </a:xfrm>
      </p:grpSpPr>
      <p:pic>
        <p:nvPicPr>
          <p:cNvPr id="132" name="Google Shape;132;p23"/>
          <p:cNvPicPr preferRelativeResize="0"/>
          <p:nvPr/>
        </p:nvPicPr>
        <p:blipFill>
          <a:blip r:embed="rId3">
            <a:alphaModFix/>
          </a:blip>
          <a:stretch>
            <a:fillRect/>
          </a:stretch>
        </p:blipFill>
        <p:spPr>
          <a:xfrm>
            <a:off x="0" y="29864"/>
            <a:ext cx="9144001" cy="4580237"/>
          </a:xfrm>
          <a:prstGeom prst="rect">
            <a:avLst/>
          </a:prstGeom>
          <a:noFill/>
          <a:ln>
            <a:noFill/>
          </a:ln>
        </p:spPr>
      </p:pic>
      <p:sp>
        <p:nvSpPr>
          <p:cNvPr id="133" name="Google Shape;133;p23"/>
          <p:cNvSpPr txBox="1"/>
          <p:nvPr/>
        </p:nvSpPr>
        <p:spPr>
          <a:xfrm>
            <a:off x="762000" y="4674850"/>
            <a:ext cx="7859700" cy="4638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lt1"/>
                </a:solidFill>
              </a:rPr>
              <a:t>https://isovalent.com/blog/post/ebpf-tetragon-xz-utils-cve-policy/</a:t>
            </a:r>
            <a:endParaRPr b="1" sz="1800">
              <a:solidFill>
                <a:schemeClr val="l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id="138" name="Google Shape;138;p24"/>
          <p:cNvPicPr preferRelativeResize="0"/>
          <p:nvPr/>
        </p:nvPicPr>
        <p:blipFill rotWithShape="1">
          <a:blip r:embed="rId3">
            <a:alphaModFix/>
          </a:blip>
          <a:srcRect b="7970" l="-10" r="1449" t="9699"/>
          <a:stretch/>
        </p:blipFill>
        <p:spPr>
          <a:xfrm>
            <a:off x="0" y="9625"/>
            <a:ext cx="9236166" cy="5143500"/>
          </a:xfrm>
          <a:prstGeom prst="rect">
            <a:avLst/>
          </a:prstGeom>
          <a:noFill/>
          <a:ln>
            <a:noFill/>
          </a:ln>
        </p:spPr>
      </p:pic>
      <p:sp>
        <p:nvSpPr>
          <p:cNvPr id="139" name="Google Shape;139;p24"/>
          <p:cNvSpPr txBox="1"/>
          <p:nvPr>
            <p:ph type="title"/>
          </p:nvPr>
        </p:nvSpPr>
        <p:spPr>
          <a:xfrm>
            <a:off x="4038600" y="-22029"/>
            <a:ext cx="8222100" cy="805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t>Shared Perspective</a:t>
            </a:r>
            <a:endParaRPr b="1"/>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5"/>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900"/>
              <a:t>Resources</a:t>
            </a:r>
            <a:endParaRPr sz="3900"/>
          </a:p>
        </p:txBody>
      </p:sp>
      <p:sp>
        <p:nvSpPr>
          <p:cNvPr id="145" name="Google Shape;145;p25"/>
          <p:cNvSpPr txBox="1"/>
          <p:nvPr/>
        </p:nvSpPr>
        <p:spPr>
          <a:xfrm>
            <a:off x="205704" y="816106"/>
            <a:ext cx="8826600" cy="3551700"/>
          </a:xfrm>
          <a:prstGeom prst="rect">
            <a:avLst/>
          </a:prstGeom>
          <a:noFill/>
          <a:ln>
            <a:noFill/>
          </a:ln>
        </p:spPr>
        <p:txBody>
          <a:bodyPr anchorCtr="0" anchor="t" bIns="91425" lIns="91425" spcFirstLastPara="1" rIns="91425" wrap="square" tIns="91425">
            <a:spAutoFit/>
          </a:bodyPr>
          <a:lstStyle/>
          <a:p>
            <a:pPr indent="-508000" lvl="0" marL="457200" rtl="0" algn="l">
              <a:spcBef>
                <a:spcPts val="0"/>
              </a:spcBef>
              <a:spcAft>
                <a:spcPts val="0"/>
              </a:spcAft>
              <a:buClr>
                <a:schemeClr val="dk2"/>
              </a:buClr>
              <a:buSzPts val="4400"/>
              <a:buFont typeface="Roboto"/>
              <a:buChar char="●"/>
            </a:pPr>
            <a:r>
              <a:rPr lang="en" sz="4400">
                <a:solidFill>
                  <a:schemeClr val="dk2"/>
                </a:solidFill>
                <a:latin typeface="Roboto"/>
                <a:ea typeface="Roboto"/>
                <a:cs typeface="Roboto"/>
                <a:sym typeface="Roboto"/>
              </a:rPr>
              <a:t>ebpf.io</a:t>
            </a:r>
            <a:endParaRPr sz="4400">
              <a:solidFill>
                <a:schemeClr val="dk2"/>
              </a:solidFill>
              <a:latin typeface="Roboto"/>
              <a:ea typeface="Roboto"/>
              <a:cs typeface="Roboto"/>
              <a:sym typeface="Roboto"/>
            </a:endParaRPr>
          </a:p>
          <a:p>
            <a:pPr indent="-508000" lvl="0" marL="457200" rtl="0" algn="l">
              <a:spcBef>
                <a:spcPts val="0"/>
              </a:spcBef>
              <a:spcAft>
                <a:spcPts val="0"/>
              </a:spcAft>
              <a:buClr>
                <a:schemeClr val="dk2"/>
              </a:buClr>
              <a:buSzPts val="4400"/>
              <a:buFont typeface="Roboto"/>
              <a:buChar char="●"/>
            </a:pPr>
            <a:r>
              <a:rPr lang="en" sz="4400">
                <a:solidFill>
                  <a:schemeClr val="dk2"/>
                </a:solidFill>
                <a:latin typeface="Roboto"/>
                <a:ea typeface="Roboto"/>
                <a:cs typeface="Roboto"/>
                <a:sym typeface="Roboto"/>
              </a:rPr>
              <a:t>cilium.io/newsletter</a:t>
            </a:r>
            <a:endParaRPr sz="4400">
              <a:solidFill>
                <a:schemeClr val="dk2"/>
              </a:solidFill>
              <a:latin typeface="Roboto"/>
              <a:ea typeface="Roboto"/>
              <a:cs typeface="Roboto"/>
              <a:sym typeface="Roboto"/>
            </a:endParaRPr>
          </a:p>
          <a:p>
            <a:pPr indent="-508000" lvl="0" marL="457200" rtl="0" algn="l">
              <a:spcBef>
                <a:spcPts val="0"/>
              </a:spcBef>
              <a:spcAft>
                <a:spcPts val="0"/>
              </a:spcAft>
              <a:buClr>
                <a:schemeClr val="dk2"/>
              </a:buClr>
              <a:buSzPts val="4400"/>
              <a:buFont typeface="Roboto"/>
              <a:buChar char="●"/>
            </a:pPr>
            <a:r>
              <a:rPr lang="en" sz="4400">
                <a:solidFill>
                  <a:schemeClr val="dk2"/>
                </a:solidFill>
                <a:latin typeface="Roboto"/>
                <a:ea typeface="Roboto"/>
                <a:cs typeface="Roboto"/>
                <a:sym typeface="Roboto"/>
              </a:rPr>
              <a:t>isovalent.com/labs</a:t>
            </a:r>
            <a:endParaRPr sz="4400">
              <a:solidFill>
                <a:schemeClr val="dk2"/>
              </a:solidFill>
              <a:latin typeface="Roboto"/>
              <a:ea typeface="Roboto"/>
              <a:cs typeface="Roboto"/>
              <a:sym typeface="Roboto"/>
            </a:endParaRPr>
          </a:p>
          <a:p>
            <a:pPr indent="-508000" lvl="0" marL="457200" rtl="0" algn="l">
              <a:spcBef>
                <a:spcPts val="0"/>
              </a:spcBef>
              <a:spcAft>
                <a:spcPts val="0"/>
              </a:spcAft>
              <a:buClr>
                <a:schemeClr val="dk2"/>
              </a:buClr>
              <a:buSzPts val="4400"/>
              <a:buFont typeface="Roboto"/>
              <a:buChar char="●"/>
            </a:pPr>
            <a:r>
              <a:rPr lang="en" sz="4400">
                <a:solidFill>
                  <a:schemeClr val="dk2"/>
                </a:solidFill>
                <a:latin typeface="Roboto"/>
                <a:ea typeface="Roboto"/>
                <a:cs typeface="Roboto"/>
                <a:sym typeface="Roboto"/>
              </a:rPr>
              <a:t>github.com/cncf-tags</a:t>
            </a:r>
            <a:endParaRPr sz="4400">
              <a:solidFill>
                <a:schemeClr val="dk2"/>
              </a:solidFill>
              <a:latin typeface="Roboto"/>
              <a:ea typeface="Roboto"/>
              <a:cs typeface="Roboto"/>
              <a:sym typeface="Roboto"/>
            </a:endParaRPr>
          </a:p>
          <a:p>
            <a:pPr indent="-508000" lvl="0" marL="457200" rtl="0" algn="l">
              <a:spcBef>
                <a:spcPts val="0"/>
              </a:spcBef>
              <a:spcAft>
                <a:spcPts val="0"/>
              </a:spcAft>
              <a:buClr>
                <a:schemeClr val="dk2"/>
              </a:buClr>
              <a:buSzPts val="4400"/>
              <a:buFont typeface="Roboto"/>
              <a:buChar char="●"/>
            </a:pPr>
            <a:r>
              <a:rPr lang="en" sz="4400">
                <a:solidFill>
                  <a:schemeClr val="dk2"/>
                </a:solidFill>
                <a:latin typeface="Roboto"/>
                <a:ea typeface="Roboto"/>
                <a:cs typeface="Roboto"/>
                <a:sym typeface="Roboto"/>
              </a:rPr>
              <a:t>kubernetes.dev</a:t>
            </a:r>
            <a:endParaRPr sz="4400">
              <a:solidFill>
                <a:schemeClr val="dk2"/>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id="150" name="Google Shape;150;p26"/>
          <p:cNvPicPr preferRelativeResize="0"/>
          <p:nvPr/>
        </p:nvPicPr>
        <p:blipFill rotWithShape="1">
          <a:blip r:embed="rId3">
            <a:alphaModFix/>
          </a:blip>
          <a:srcRect b="10450" l="0" r="1351" t="0"/>
          <a:stretch/>
        </p:blipFill>
        <p:spPr>
          <a:xfrm>
            <a:off x="152400" y="152400"/>
            <a:ext cx="8835300" cy="4210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